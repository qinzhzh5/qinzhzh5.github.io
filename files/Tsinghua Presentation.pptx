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67651"/>
  </p:normalViewPr>
  <p:slideViewPr>
    <p:cSldViewPr snapToGrid="0">
      <p:cViewPr varScale="1">
        <p:scale>
          <a:sx n="77" d="100"/>
          <a:sy n="77" d="100"/>
        </p:scale>
        <p:origin x="208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4B57F1-3F41-7D44-A73E-3A7748206E7B}" type="datetimeFigureOut">
              <a:rPr lang="en-CN" smtClean="0"/>
              <a:t>2025/7/5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B5A071-26D1-7349-BDE2-A02EF9C8BDD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1208562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afternoon, everyone. Thank you to the faculty and to my college classmate, </a:t>
            </a:r>
            <a:r>
              <a:rPr lang="en-US" dirty="0" err="1"/>
              <a:t>Zhecheng</a:t>
            </a:r>
            <a:r>
              <a:rPr lang="en-US" dirty="0"/>
              <a:t> Hu, for hosting this talk. This is my first informal talk and also my first presentation at Tsinghua, so I really appreciate this opportunity.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First, I’d like to briefly introduce myself. My name is </a:t>
            </a:r>
            <a:r>
              <a:rPr lang="en-US" dirty="0" err="1"/>
              <a:t>Zhizhen</a:t>
            </a:r>
            <a:r>
              <a:rPr lang="en-US" dirty="0"/>
              <a:t> Qin. I recently completed my Master’s degree at Sun Yat-sen University under the supervision of Prof. Shang-Fei Liu. This autumn, I will be starting my PhD studies at the University of Hong Kong under the supervision of Prof. Man Hoi Lee.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The topic of today’s presentation is XXXXXXXXXX. This work </a:t>
            </a:r>
            <a:r>
              <a:rPr lang="en-US" altLang="zh-CN" dirty="0"/>
              <a:t>was</a:t>
            </a:r>
            <a:r>
              <a:rPr lang="en-US" dirty="0"/>
              <a:t> accepted</a:t>
            </a:r>
            <a:r>
              <a:rPr lang="zh-CN" altLang="en-US" dirty="0"/>
              <a:t> </a:t>
            </a:r>
            <a:r>
              <a:rPr lang="en-US" altLang="zh-CN" dirty="0"/>
              <a:t>by</a:t>
            </a:r>
            <a:r>
              <a:rPr lang="zh-CN" altLang="en-US" dirty="0"/>
              <a:t> </a:t>
            </a:r>
            <a:r>
              <a:rPr lang="en-US" altLang="zh-CN" dirty="0" err="1"/>
              <a:t>ApJ</a:t>
            </a:r>
            <a:r>
              <a:rPr lang="zh-CN" altLang="en-US" dirty="0"/>
              <a:t> </a:t>
            </a:r>
            <a:r>
              <a:rPr lang="en-US" altLang="zh-CN" dirty="0"/>
              <a:t>Letters</a:t>
            </a:r>
            <a:r>
              <a:rPr lang="en-US" dirty="0"/>
              <a:t> last week. If you have any questions, please feel free to interrupt me at any time.</a:t>
            </a:r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B5A071-26D1-7349-BDE2-A02EF9C8BDDE}" type="slidenum">
              <a:rPr lang="en-CN" smtClean="0"/>
              <a:t>1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395041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talk,</a:t>
            </a:r>
            <a:r>
              <a:rPr lang="zh-CN" altLang="en-US" dirty="0"/>
              <a:t> </a:t>
            </a:r>
            <a:r>
              <a:rPr lang="en-US" dirty="0"/>
              <a:t>I will present simulations of the potential </a:t>
            </a:r>
            <a:r>
              <a:rPr lang="en-US" dirty="0" err="1"/>
              <a:t>vZLK</a:t>
            </a:r>
            <a:r>
              <a:rPr lang="en-US" dirty="0"/>
              <a:t> signatures</a:t>
            </a:r>
            <a:r>
              <a:rPr lang="zh-CN" altLang="en-US" dirty="0"/>
              <a:t> </a:t>
            </a:r>
            <a:r>
              <a:rPr lang="en-US" dirty="0"/>
              <a:t>and discuss how these features may help break the mass–inclination degeneracy in radial velocity measurements, offering new insights into how dynamical evolution influences observables across </a:t>
            </a:r>
            <a:r>
              <a:rPr lang="en-US" altLang="zh-CN" dirty="0"/>
              <a:t>different</a:t>
            </a:r>
            <a:r>
              <a:rPr lang="zh-CN" altLang="en-US" dirty="0"/>
              <a:t> </a:t>
            </a:r>
            <a:r>
              <a:rPr lang="en-US" dirty="0"/>
              <a:t>timescales.</a:t>
            </a:r>
            <a:r>
              <a:rPr lang="zh-CN" altLang="en-US" dirty="0"/>
              <a:t> </a:t>
            </a:r>
            <a:r>
              <a:rPr lang="en-US" altLang="zh-CN" dirty="0"/>
              <a:t>I</a:t>
            </a:r>
            <a:r>
              <a:rPr lang="zh-CN" altLang="en-US" dirty="0"/>
              <a:t> </a:t>
            </a:r>
            <a:r>
              <a:rPr lang="en-US" altLang="zh-CN" dirty="0"/>
              <a:t>would</a:t>
            </a:r>
            <a:r>
              <a:rPr lang="zh-CN" altLang="en-US" dirty="0"/>
              <a:t> </a:t>
            </a:r>
            <a:r>
              <a:rPr lang="en-US" altLang="zh-CN" dirty="0"/>
              <a:t>introduce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background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planets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binary</a:t>
            </a:r>
            <a:r>
              <a:rPr lang="zh-CN" altLang="en-US" dirty="0"/>
              <a:t> </a:t>
            </a:r>
            <a:r>
              <a:rPr lang="en-US" altLang="zh-CN" dirty="0"/>
              <a:t>system</a:t>
            </a:r>
            <a:r>
              <a:rPr lang="zh-CN" altLang="en-US" dirty="0"/>
              <a:t> </a:t>
            </a:r>
            <a:r>
              <a:rPr lang="en-US" altLang="zh-CN" dirty="0"/>
              <a:t>as</a:t>
            </a:r>
            <a:r>
              <a:rPr lang="zh-CN" altLang="en-US" dirty="0"/>
              <a:t> </a:t>
            </a:r>
            <a:r>
              <a:rPr lang="en-US" altLang="zh-CN" dirty="0"/>
              <a:t>well</a:t>
            </a:r>
            <a:r>
              <a:rPr lang="zh-CN" altLang="en-US" dirty="0"/>
              <a:t> </a:t>
            </a:r>
            <a:r>
              <a:rPr lang="en-US" altLang="zh-CN" dirty="0"/>
              <a:t>as</a:t>
            </a:r>
            <a:r>
              <a:rPr lang="zh-CN" altLang="en-US" dirty="0"/>
              <a:t> </a:t>
            </a:r>
            <a:r>
              <a:rPr lang="en-US" altLang="zh-CN" dirty="0"/>
              <a:t>the </a:t>
            </a:r>
            <a:r>
              <a:rPr lang="en-US" altLang="zh-CN" dirty="0" err="1"/>
              <a:t>vZLK</a:t>
            </a:r>
            <a:r>
              <a:rPr lang="zh-CN" altLang="en-US" dirty="0"/>
              <a:t> </a:t>
            </a:r>
            <a:r>
              <a:rPr lang="en-US" altLang="zh-CN" dirty="0"/>
              <a:t>mechanism.</a:t>
            </a:r>
          </a:p>
          <a:p>
            <a:endParaRPr lang="en-US" dirty="0"/>
          </a:p>
          <a:p>
            <a:r>
              <a:rPr lang="en-US" altLang="zh-CN" dirty="0"/>
              <a:t>Then</a:t>
            </a:r>
            <a:r>
              <a:rPr lang="zh-CN" altLang="en-US" dirty="0"/>
              <a:t> </a:t>
            </a:r>
            <a:r>
              <a:rPr lang="en-US" altLang="zh-CN" dirty="0"/>
              <a:t>I</a:t>
            </a:r>
            <a:r>
              <a:rPr lang="zh-CN" altLang="en-US" dirty="0"/>
              <a:t> </a:t>
            </a:r>
            <a:r>
              <a:rPr lang="en-US" altLang="zh-CN" dirty="0"/>
              <a:t>would</a:t>
            </a:r>
            <a:r>
              <a:rPr lang="zh-CN" altLang="en-US" dirty="0"/>
              <a:t> </a:t>
            </a:r>
            <a:r>
              <a:rPr lang="en-US" altLang="zh-CN" dirty="0"/>
              <a:t>discuss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implications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certain</a:t>
            </a:r>
            <a:r>
              <a:rPr lang="zh-CN" altLang="en-US" dirty="0"/>
              <a:t> </a:t>
            </a:r>
            <a:r>
              <a:rPr lang="en-US" altLang="zh-CN" dirty="0"/>
              <a:t>system,</a:t>
            </a:r>
            <a:r>
              <a:rPr lang="zh-CN" altLang="en-US" dirty="0"/>
              <a:t> </a:t>
            </a:r>
            <a:r>
              <a:rPr lang="en-US" altLang="zh-CN" dirty="0"/>
              <a:t>HD</a:t>
            </a:r>
            <a:r>
              <a:rPr lang="zh-CN" altLang="en-US" dirty="0"/>
              <a:t> </a:t>
            </a:r>
            <a:r>
              <a:rPr lang="en-US" altLang="zh-CN" dirty="0"/>
              <a:t>41004,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show</a:t>
            </a:r>
            <a:r>
              <a:rPr lang="zh-CN" altLang="en-US" dirty="0"/>
              <a:t> </a:t>
            </a:r>
            <a:r>
              <a:rPr lang="en-US" altLang="zh-CN" dirty="0"/>
              <a:t>how</a:t>
            </a:r>
            <a:r>
              <a:rPr lang="zh-CN" altLang="en-US" dirty="0"/>
              <a:t> </a:t>
            </a:r>
            <a:r>
              <a:rPr lang="en-US" altLang="zh-CN" dirty="0"/>
              <a:t>the </a:t>
            </a:r>
            <a:r>
              <a:rPr lang="en-US" altLang="zh-CN" dirty="0" err="1"/>
              <a:t>vZLK</a:t>
            </a:r>
            <a:r>
              <a:rPr lang="zh-CN" altLang="en-US" dirty="0"/>
              <a:t> </a:t>
            </a:r>
            <a:r>
              <a:rPr lang="en-US" altLang="zh-CN" dirty="0"/>
              <a:t>mechanism</a:t>
            </a:r>
            <a:r>
              <a:rPr lang="zh-CN" altLang="en-US" dirty="0"/>
              <a:t> </a:t>
            </a:r>
            <a:r>
              <a:rPr lang="en-US" altLang="zh-CN" dirty="0"/>
              <a:t>would</a:t>
            </a:r>
            <a:r>
              <a:rPr lang="zh-CN" altLang="en-US" dirty="0"/>
              <a:t> </a:t>
            </a:r>
            <a:r>
              <a:rPr lang="en-US" altLang="zh-CN" dirty="0"/>
              <a:t>influence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planetary</a:t>
            </a:r>
            <a:r>
              <a:rPr lang="zh-CN" altLang="en-US" dirty="0"/>
              <a:t> </a:t>
            </a:r>
            <a:r>
              <a:rPr lang="en-US" altLang="zh-CN" dirty="0"/>
              <a:t>RV</a:t>
            </a:r>
            <a:r>
              <a:rPr lang="zh-CN" altLang="en-US" dirty="0"/>
              <a:t> </a:t>
            </a:r>
            <a:r>
              <a:rPr lang="en-US" altLang="zh-CN" dirty="0"/>
              <a:t>signals.</a:t>
            </a:r>
            <a:r>
              <a:rPr lang="zh-CN" altLang="en-US" dirty="0"/>
              <a:t> </a:t>
            </a:r>
            <a:r>
              <a:rPr lang="en-US" altLang="zh-CN" dirty="0"/>
              <a:t>Finally,</a:t>
            </a:r>
            <a:r>
              <a:rPr lang="zh-CN" altLang="en-US" dirty="0"/>
              <a:t> </a:t>
            </a:r>
            <a:r>
              <a:rPr lang="en-US" altLang="zh-CN" dirty="0"/>
              <a:t>I</a:t>
            </a:r>
            <a:r>
              <a:rPr lang="zh-CN" altLang="en-US" dirty="0"/>
              <a:t> </a:t>
            </a:r>
            <a:r>
              <a:rPr lang="en-US" altLang="zh-CN" dirty="0"/>
              <a:t>would</a:t>
            </a:r>
            <a:r>
              <a:rPr lang="zh-CN" altLang="en-US" dirty="0"/>
              <a:t> </a:t>
            </a:r>
            <a:r>
              <a:rPr lang="en-US" altLang="zh-CN" dirty="0"/>
              <a:t>show</a:t>
            </a:r>
            <a:r>
              <a:rPr lang="zh-CN" altLang="en-US" dirty="0"/>
              <a:t> </a:t>
            </a:r>
            <a:r>
              <a:rPr lang="en-US" altLang="zh-CN" dirty="0"/>
              <a:t>our</a:t>
            </a:r>
            <a:r>
              <a:rPr lang="zh-CN" altLang="en-US" dirty="0"/>
              <a:t> </a:t>
            </a:r>
            <a:r>
              <a:rPr lang="en-US" altLang="zh-CN" dirty="0"/>
              <a:t>results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conclusions.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B5A071-26D1-7349-BDE2-A02EF9C8BDDE}" type="slidenum">
              <a:rPr lang="en-CN" smtClean="0"/>
              <a:t>2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085629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Although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significant</a:t>
            </a:r>
            <a:r>
              <a:rPr lang="zh-CN" altLang="en-US" dirty="0"/>
              <a:t> </a:t>
            </a:r>
            <a:r>
              <a:rPr lang="en-US" altLang="zh-CN" dirty="0"/>
              <a:t>fraction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stars</a:t>
            </a:r>
            <a:r>
              <a:rPr lang="zh-CN" altLang="en-US" dirty="0"/>
              <a:t> </a:t>
            </a:r>
            <a:r>
              <a:rPr lang="en-US" altLang="zh-CN" dirty="0"/>
              <a:t>are</a:t>
            </a:r>
            <a:r>
              <a:rPr lang="zh-CN" altLang="en-US" dirty="0"/>
              <a:t> </a:t>
            </a:r>
            <a:r>
              <a:rPr lang="en-US" altLang="zh-CN" dirty="0"/>
              <a:t>expected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reside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binary</a:t>
            </a:r>
            <a:r>
              <a:rPr lang="zh-CN" altLang="en-US" dirty="0"/>
              <a:t> </a:t>
            </a:r>
            <a:r>
              <a:rPr lang="en-US" altLang="zh-CN" dirty="0"/>
              <a:t>systems,</a:t>
            </a:r>
            <a:r>
              <a:rPr lang="zh-CN" altLang="en-US" dirty="0"/>
              <a:t> </a:t>
            </a:r>
            <a:r>
              <a:rPr lang="en-US" altLang="zh-CN" dirty="0"/>
              <a:t>according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famous</a:t>
            </a:r>
            <a:r>
              <a:rPr lang="zh-CN" altLang="en-US" dirty="0"/>
              <a:t> </a:t>
            </a:r>
            <a:r>
              <a:rPr lang="en-US" altLang="zh-CN" dirty="0"/>
              <a:t>work</a:t>
            </a:r>
            <a:r>
              <a:rPr lang="zh-CN" altLang="en-US" dirty="0"/>
              <a:t> </a:t>
            </a:r>
            <a:r>
              <a:rPr lang="en-US" altLang="zh-CN" dirty="0"/>
              <a:t>done</a:t>
            </a:r>
            <a:r>
              <a:rPr lang="zh-CN" altLang="en-US" dirty="0"/>
              <a:t> </a:t>
            </a:r>
            <a:r>
              <a:rPr lang="en-US" altLang="zh-CN" dirty="0"/>
              <a:t>by</a:t>
            </a:r>
            <a:r>
              <a:rPr lang="zh-CN" altLang="en-US" dirty="0"/>
              <a:t> </a:t>
            </a:r>
            <a:r>
              <a:rPr lang="en-US" altLang="zh-CN" dirty="0" err="1"/>
              <a:t>Duquennoy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Mayor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1991,</a:t>
            </a:r>
            <a:r>
              <a:rPr lang="zh-CN" altLang="en-US" dirty="0"/>
              <a:t> </a:t>
            </a:r>
            <a:r>
              <a:rPr lang="en-US" altLang="zh-CN" dirty="0"/>
              <a:t>only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small</a:t>
            </a:r>
            <a:r>
              <a:rPr lang="zh-CN" altLang="en-US" dirty="0"/>
              <a:t> </a:t>
            </a:r>
            <a:r>
              <a:rPr lang="en-US" altLang="zh-CN" dirty="0"/>
              <a:t>number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planets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such</a:t>
            </a:r>
            <a:r>
              <a:rPr lang="zh-CN" altLang="en-US" dirty="0"/>
              <a:t> </a:t>
            </a:r>
            <a:r>
              <a:rPr lang="en-US" altLang="zh-CN" dirty="0"/>
              <a:t>systems</a:t>
            </a:r>
            <a:r>
              <a:rPr lang="zh-CN" altLang="en-US" dirty="0"/>
              <a:t> </a:t>
            </a:r>
            <a:r>
              <a:rPr lang="en-US" altLang="zh-CN" dirty="0"/>
              <a:t>have been</a:t>
            </a:r>
            <a:r>
              <a:rPr lang="zh-CN" altLang="en-US" dirty="0"/>
              <a:t> </a:t>
            </a:r>
            <a:r>
              <a:rPr lang="en-US" altLang="zh-CN" dirty="0"/>
              <a:t>discovered</a:t>
            </a:r>
            <a:r>
              <a:rPr lang="zh-CN" altLang="en-US" dirty="0"/>
              <a:t> </a:t>
            </a:r>
            <a:r>
              <a:rPr lang="en-US" altLang="zh-CN" dirty="0"/>
              <a:t>so far.</a:t>
            </a:r>
            <a:r>
              <a:rPr lang="zh-CN" altLang="en-US" dirty="0"/>
              <a:t> </a:t>
            </a:r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disparity</a:t>
            </a:r>
            <a:r>
              <a:rPr lang="zh-CN" altLang="en-US" dirty="0"/>
              <a:t> </a:t>
            </a:r>
            <a:r>
              <a:rPr lang="en-US" altLang="zh-CN" dirty="0"/>
              <a:t>reflects</a:t>
            </a:r>
            <a:r>
              <a:rPr lang="zh-CN" altLang="en-US" dirty="0"/>
              <a:t> </a:t>
            </a:r>
            <a:r>
              <a:rPr lang="en-US" altLang="zh-CN" dirty="0"/>
              <a:t>both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observational</a:t>
            </a:r>
            <a:r>
              <a:rPr lang="zh-CN" altLang="en-US" dirty="0"/>
              <a:t> </a:t>
            </a:r>
            <a:r>
              <a:rPr lang="en-US" altLang="zh-CN" dirty="0"/>
              <a:t>limits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dynamical</a:t>
            </a:r>
            <a:r>
              <a:rPr lang="zh-CN" altLang="en-US" dirty="0"/>
              <a:t> </a:t>
            </a:r>
            <a:r>
              <a:rPr lang="en-US" altLang="zh-CN" dirty="0"/>
              <a:t>instability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binary</a:t>
            </a:r>
            <a:r>
              <a:rPr lang="zh-CN" altLang="en-US" dirty="0"/>
              <a:t> </a:t>
            </a:r>
            <a:r>
              <a:rPr lang="en-US" altLang="zh-CN" dirty="0"/>
              <a:t>environments.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Usually,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planets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binary</a:t>
            </a:r>
            <a:r>
              <a:rPr lang="zh-CN" altLang="en-US" dirty="0"/>
              <a:t> </a:t>
            </a:r>
            <a:r>
              <a:rPr lang="en-US" altLang="zh-CN" dirty="0"/>
              <a:t>systems</a:t>
            </a:r>
            <a:r>
              <a:rPr lang="zh-CN" altLang="en-US" dirty="0"/>
              <a:t> </a:t>
            </a:r>
            <a:r>
              <a:rPr lang="en-US" altLang="zh-CN" dirty="0"/>
              <a:t>are</a:t>
            </a:r>
            <a:r>
              <a:rPr lang="zh-CN" altLang="en-US" dirty="0"/>
              <a:t> </a:t>
            </a:r>
            <a:r>
              <a:rPr lang="en-US" altLang="zh-CN" dirty="0"/>
              <a:t>divided</a:t>
            </a:r>
            <a:r>
              <a:rPr lang="zh-CN" altLang="en-US" dirty="0"/>
              <a:t> </a:t>
            </a:r>
            <a:r>
              <a:rPr lang="en-US" altLang="zh-CN" dirty="0"/>
              <a:t>into</a:t>
            </a:r>
            <a:r>
              <a:rPr lang="zh-CN" altLang="en-US" dirty="0"/>
              <a:t> </a:t>
            </a:r>
            <a:r>
              <a:rPr lang="en-US" altLang="zh-CN" dirty="0"/>
              <a:t>two</a:t>
            </a:r>
            <a:r>
              <a:rPr lang="zh-CN" altLang="en-US" dirty="0"/>
              <a:t> </a:t>
            </a:r>
            <a:r>
              <a:rPr lang="en-US" altLang="zh-CN" dirty="0"/>
              <a:t>types,</a:t>
            </a:r>
            <a:r>
              <a:rPr lang="zh-CN" altLang="en-US" dirty="0"/>
              <a:t> </a:t>
            </a:r>
            <a:r>
              <a:rPr lang="en-US" altLang="zh-CN" dirty="0"/>
              <a:t>as</a:t>
            </a:r>
            <a:r>
              <a:rPr lang="zh-CN" altLang="en-US" dirty="0"/>
              <a:t> </a:t>
            </a:r>
            <a:r>
              <a:rPr lang="en-US" altLang="zh-CN" dirty="0"/>
              <a:t>shown</a:t>
            </a:r>
            <a:r>
              <a:rPr lang="zh-CN" altLang="en-US" dirty="0"/>
              <a:t> </a:t>
            </a:r>
            <a:r>
              <a:rPr lang="en-US" altLang="zh-CN" dirty="0"/>
              <a:t>on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left</a:t>
            </a:r>
            <a:r>
              <a:rPr lang="zh-CN" altLang="en-US" dirty="0"/>
              <a:t> </a:t>
            </a:r>
            <a:r>
              <a:rPr lang="en-US" altLang="zh-CN" dirty="0"/>
              <a:t>figure:</a:t>
            </a:r>
            <a:r>
              <a:rPr lang="zh-CN" altLang="en-US" dirty="0"/>
              <a:t> </a:t>
            </a:r>
            <a:r>
              <a:rPr lang="en-US" altLang="zh-CN" dirty="0"/>
              <a:t>S-type</a:t>
            </a:r>
            <a:r>
              <a:rPr lang="zh-CN" altLang="en-US" dirty="0"/>
              <a:t> </a:t>
            </a:r>
            <a:r>
              <a:rPr lang="en-US" altLang="zh-CN" dirty="0"/>
              <a:t>(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planets</a:t>
            </a:r>
            <a:r>
              <a:rPr lang="zh-CN" altLang="en-US" dirty="0"/>
              <a:t> </a:t>
            </a:r>
            <a:r>
              <a:rPr lang="en-US" altLang="zh-CN" dirty="0"/>
              <a:t>orbit</a:t>
            </a:r>
            <a:r>
              <a:rPr lang="zh-CN" altLang="en-US" dirty="0"/>
              <a:t> </a:t>
            </a:r>
            <a:r>
              <a:rPr lang="en-US" altLang="zh-CN" dirty="0"/>
              <a:t>one</a:t>
            </a:r>
            <a:r>
              <a:rPr lang="zh-CN" altLang="en-US" dirty="0"/>
              <a:t> </a:t>
            </a:r>
            <a:r>
              <a:rPr lang="en-US" altLang="zh-CN" dirty="0"/>
              <a:t>star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a binary system)</a:t>
            </a:r>
            <a:r>
              <a:rPr lang="zh-CN" altLang="en-US" dirty="0"/>
              <a:t> </a:t>
            </a:r>
            <a:r>
              <a:rPr lang="en-US" altLang="zh-CN" dirty="0"/>
              <a:t>or</a:t>
            </a:r>
            <a:r>
              <a:rPr lang="zh-CN" altLang="en-US" dirty="0"/>
              <a:t> </a:t>
            </a:r>
            <a:r>
              <a:rPr lang="en-US" altLang="zh-CN" dirty="0"/>
              <a:t>P-type</a:t>
            </a:r>
            <a:r>
              <a:rPr lang="zh-CN" altLang="en-US" dirty="0"/>
              <a:t> </a:t>
            </a:r>
            <a:r>
              <a:rPr lang="en-US" altLang="zh-CN" dirty="0"/>
              <a:t>(the</a:t>
            </a:r>
            <a:r>
              <a:rPr lang="zh-CN" altLang="en-US" dirty="0"/>
              <a:t> </a:t>
            </a:r>
            <a:r>
              <a:rPr lang="en-US" altLang="zh-CN" dirty="0"/>
              <a:t>planets</a:t>
            </a:r>
            <a:r>
              <a:rPr lang="zh-CN" altLang="en-US" dirty="0"/>
              <a:t> </a:t>
            </a:r>
            <a:r>
              <a:rPr lang="en-US" altLang="zh-CN" dirty="0"/>
              <a:t>orbit</a:t>
            </a:r>
            <a:r>
              <a:rPr lang="zh-CN" altLang="en-US" dirty="0"/>
              <a:t> </a:t>
            </a:r>
            <a:r>
              <a:rPr lang="en-US" altLang="zh-CN" dirty="0"/>
              <a:t>both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stars).</a:t>
            </a:r>
            <a:r>
              <a:rPr lang="zh-CN" altLang="en-US" dirty="0"/>
              <a:t> </a:t>
            </a:r>
            <a:r>
              <a:rPr lang="en-US" altLang="zh-CN" dirty="0"/>
              <a:t>Many</a:t>
            </a:r>
            <a:r>
              <a:rPr lang="zh-CN" altLang="en-US" dirty="0"/>
              <a:t> </a:t>
            </a:r>
            <a:r>
              <a:rPr lang="en-US" altLang="zh-CN" dirty="0"/>
              <a:t>works</a:t>
            </a:r>
            <a:r>
              <a:rPr lang="zh-CN" altLang="en-US" dirty="0"/>
              <a:t> </a:t>
            </a:r>
            <a:r>
              <a:rPr lang="en-US" altLang="zh-CN" dirty="0"/>
              <a:t>have</a:t>
            </a:r>
            <a:r>
              <a:rPr lang="zh-CN" altLang="en-US" dirty="0"/>
              <a:t> </a:t>
            </a:r>
            <a:r>
              <a:rPr lang="en-US" altLang="zh-CN" dirty="0"/>
              <a:t>been</a:t>
            </a:r>
            <a:r>
              <a:rPr lang="zh-CN" altLang="en-US" dirty="0"/>
              <a:t> </a:t>
            </a:r>
            <a:r>
              <a:rPr lang="en-US" altLang="zh-CN" dirty="0"/>
              <a:t>done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investigate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stability,</a:t>
            </a:r>
            <a:r>
              <a:rPr lang="zh-CN" altLang="en-US" dirty="0"/>
              <a:t> </a:t>
            </a:r>
            <a:r>
              <a:rPr lang="en-US" altLang="zh-CN" dirty="0"/>
              <a:t>habitability</a:t>
            </a:r>
            <a:r>
              <a:rPr lang="zh-CN" altLang="en-US" dirty="0"/>
              <a:t> </a:t>
            </a:r>
            <a:r>
              <a:rPr lang="en-US" altLang="zh-CN" dirty="0"/>
              <a:t>(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first</a:t>
            </a:r>
            <a:r>
              <a:rPr lang="zh-CN" altLang="en-US" dirty="0"/>
              <a:t> </a:t>
            </a:r>
            <a:r>
              <a:rPr lang="en-US" altLang="zh-CN" dirty="0"/>
              <a:t>planet</a:t>
            </a:r>
            <a:r>
              <a:rPr lang="zh-CN" altLang="en-US" dirty="0"/>
              <a:t> </a:t>
            </a:r>
            <a:r>
              <a:rPr lang="en-US" altLang="zh-CN" dirty="0"/>
              <a:t>discovered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a binary</a:t>
            </a:r>
            <a:r>
              <a:rPr lang="zh-CN" altLang="en-US" dirty="0"/>
              <a:t> </a:t>
            </a:r>
            <a:r>
              <a:rPr lang="en-US" altLang="zh-CN" dirty="0"/>
              <a:t>system),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evolution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such</a:t>
            </a:r>
            <a:r>
              <a:rPr lang="zh-CN" altLang="en-US" dirty="0"/>
              <a:t> </a:t>
            </a:r>
            <a:r>
              <a:rPr lang="en-US" altLang="zh-CN" dirty="0"/>
              <a:t>systems.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middle</a:t>
            </a:r>
            <a:r>
              <a:rPr lang="zh-CN" altLang="en-US" dirty="0"/>
              <a:t> </a:t>
            </a:r>
            <a:r>
              <a:rPr lang="en-US" altLang="zh-CN" dirty="0"/>
              <a:t>figure</a:t>
            </a:r>
            <a:r>
              <a:rPr lang="zh-CN" altLang="en-US" dirty="0"/>
              <a:t> </a:t>
            </a:r>
            <a:r>
              <a:rPr lang="en-US" altLang="zh-CN" dirty="0"/>
              <a:t>shows</a:t>
            </a:r>
            <a:r>
              <a:rPr lang="zh-CN" altLang="en-US" dirty="0"/>
              <a:t> </a:t>
            </a:r>
            <a:r>
              <a:rPr lang="en-US" altLang="zh-CN" dirty="0"/>
              <a:t>some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compact</a:t>
            </a:r>
            <a:r>
              <a:rPr lang="zh-CN" altLang="en-US" dirty="0"/>
              <a:t> </a:t>
            </a:r>
            <a:r>
              <a:rPr lang="en-US" altLang="zh-CN" dirty="0"/>
              <a:t>binary</a:t>
            </a:r>
            <a:r>
              <a:rPr lang="zh-CN" altLang="en-US" dirty="0"/>
              <a:t> </a:t>
            </a:r>
            <a:r>
              <a:rPr lang="en-US" altLang="zh-CN" dirty="0"/>
              <a:t>systems</a:t>
            </a:r>
            <a:r>
              <a:rPr lang="zh-CN" altLang="en-US" dirty="0"/>
              <a:t> </a:t>
            </a:r>
            <a:r>
              <a:rPr lang="en-US" altLang="zh-CN" dirty="0"/>
              <a:t>with</a:t>
            </a:r>
            <a:r>
              <a:rPr lang="zh-CN" altLang="en-US" dirty="0"/>
              <a:t> </a:t>
            </a:r>
            <a:r>
              <a:rPr lang="en-US" altLang="zh-CN" dirty="0"/>
              <a:t>S-type</a:t>
            </a:r>
            <a:r>
              <a:rPr lang="zh-CN" altLang="en-US" dirty="0"/>
              <a:t> </a:t>
            </a:r>
            <a:r>
              <a:rPr lang="en-US" altLang="zh-CN" dirty="0"/>
              <a:t>planets.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formation</a:t>
            </a:r>
            <a:r>
              <a:rPr lang="zh-CN" altLang="en-US" dirty="0"/>
              <a:t> </a:t>
            </a:r>
            <a:r>
              <a:rPr lang="en-US" altLang="zh-CN" dirty="0"/>
              <a:t>mechanism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those</a:t>
            </a:r>
            <a:r>
              <a:rPr lang="zh-CN" altLang="en-US" dirty="0"/>
              <a:t> </a:t>
            </a:r>
            <a:r>
              <a:rPr lang="en-US" altLang="zh-CN" dirty="0"/>
              <a:t>planets</a:t>
            </a:r>
            <a:r>
              <a:rPr lang="zh-CN" altLang="en-US" dirty="0"/>
              <a:t> </a:t>
            </a:r>
            <a:r>
              <a:rPr lang="en-US" altLang="zh-CN" dirty="0"/>
              <a:t>remains</a:t>
            </a:r>
            <a:r>
              <a:rPr lang="zh-CN" altLang="en-US" dirty="0"/>
              <a:t> </a:t>
            </a:r>
            <a:r>
              <a:rPr lang="en-US" altLang="zh-CN" dirty="0"/>
              <a:t>an</a:t>
            </a:r>
            <a:r>
              <a:rPr lang="zh-CN" altLang="en-US" dirty="0"/>
              <a:t> </a:t>
            </a:r>
            <a:r>
              <a:rPr lang="en-US" altLang="zh-CN" dirty="0"/>
              <a:t>open</a:t>
            </a:r>
            <a:r>
              <a:rPr lang="zh-CN" altLang="en-US" dirty="0"/>
              <a:t> </a:t>
            </a:r>
            <a:r>
              <a:rPr lang="en-US" altLang="zh-CN" dirty="0"/>
              <a:t>question.</a:t>
            </a:r>
            <a:r>
              <a:rPr lang="zh-CN" altLang="en-US" dirty="0"/>
              <a:t> </a:t>
            </a:r>
            <a:r>
              <a:rPr lang="en-US" altLang="zh-CN" dirty="0"/>
              <a:t>Like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planet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famous</a:t>
            </a:r>
            <a:r>
              <a:rPr lang="zh-CN" altLang="en-US" dirty="0"/>
              <a:t> </a:t>
            </a:r>
            <a:r>
              <a:rPr lang="en-US" altLang="zh-CN" dirty="0"/>
              <a:t>binary-planet</a:t>
            </a:r>
            <a:r>
              <a:rPr lang="zh-CN" altLang="en-US" dirty="0"/>
              <a:t> </a:t>
            </a:r>
            <a:r>
              <a:rPr lang="en-US" altLang="zh-CN" dirty="0"/>
              <a:t>system,</a:t>
            </a:r>
            <a:r>
              <a:rPr lang="zh-CN" altLang="en-US" dirty="0"/>
              <a:t> </a:t>
            </a:r>
            <a:r>
              <a:rPr lang="en-US" altLang="zh-CN" dirty="0"/>
              <a:t>gamma</a:t>
            </a:r>
            <a:r>
              <a:rPr lang="zh-CN" altLang="en-US" dirty="0"/>
              <a:t> </a:t>
            </a:r>
            <a:r>
              <a:rPr lang="en-US" altLang="zh-CN" dirty="0"/>
              <a:t>Cephei</a:t>
            </a:r>
            <a:r>
              <a:rPr lang="zh-CN" altLang="en-US" dirty="0"/>
              <a:t> </a:t>
            </a:r>
            <a:r>
              <a:rPr lang="en-US" altLang="zh-CN" dirty="0"/>
              <a:t>(</a:t>
            </a:r>
            <a:r>
              <a:rPr lang="zh-CN" altLang="en-US" dirty="0"/>
              <a:t>仙王座 </a:t>
            </a:r>
            <a:r>
              <a:rPr lang="en-CN" altLang="zh-CN" dirty="0"/>
              <a:t>gamma</a:t>
            </a:r>
            <a:r>
              <a:rPr lang="en-US" altLang="zh-CN" dirty="0"/>
              <a:t>),</a:t>
            </a:r>
            <a:r>
              <a:rPr lang="zh-CN" altLang="en-US" dirty="0"/>
              <a:t> </a:t>
            </a:r>
            <a:r>
              <a:rPr lang="en-US" altLang="zh-CN" dirty="0"/>
              <a:t>most</a:t>
            </a:r>
            <a:r>
              <a:rPr lang="zh-CN" altLang="en-US" dirty="0"/>
              <a:t> </a:t>
            </a:r>
            <a:r>
              <a:rPr lang="en-US" altLang="zh-CN" dirty="0"/>
              <a:t>S-type</a:t>
            </a:r>
            <a:r>
              <a:rPr lang="zh-CN" altLang="en-US" dirty="0"/>
              <a:t> </a:t>
            </a:r>
            <a:r>
              <a:rPr lang="en-US" altLang="zh-CN" dirty="0"/>
              <a:t>planets</a:t>
            </a:r>
            <a:r>
              <a:rPr lang="zh-CN" altLang="en-US" dirty="0"/>
              <a:t> </a:t>
            </a:r>
            <a:r>
              <a:rPr lang="en-US" altLang="zh-CN" dirty="0"/>
              <a:t>are</a:t>
            </a:r>
            <a:r>
              <a:rPr lang="zh-CN" altLang="en-US" dirty="0"/>
              <a:t> </a:t>
            </a:r>
            <a:r>
              <a:rPr lang="en-US" altLang="zh-CN" dirty="0"/>
              <a:t>discovered</a:t>
            </a:r>
            <a:r>
              <a:rPr lang="zh-CN" altLang="en-US" dirty="0"/>
              <a:t> </a:t>
            </a:r>
            <a:r>
              <a:rPr lang="en-US" altLang="zh-CN" dirty="0"/>
              <a:t>by</a:t>
            </a:r>
            <a:r>
              <a:rPr lang="zh-CN" altLang="en-US" dirty="0"/>
              <a:t> </a:t>
            </a:r>
            <a:r>
              <a:rPr lang="en-US" altLang="zh-CN" dirty="0"/>
              <a:t>radial</a:t>
            </a:r>
            <a:r>
              <a:rPr lang="zh-CN" altLang="en-US" dirty="0"/>
              <a:t> </a:t>
            </a:r>
            <a:r>
              <a:rPr lang="en-US" altLang="zh-CN" dirty="0"/>
              <a:t>velocity</a:t>
            </a:r>
            <a:r>
              <a:rPr lang="zh-CN" altLang="en-US" dirty="0"/>
              <a:t> </a:t>
            </a:r>
            <a:r>
              <a:rPr lang="en-US" altLang="zh-CN" dirty="0"/>
              <a:t>measurements,</a:t>
            </a:r>
            <a:r>
              <a:rPr lang="zh-CN" altLang="en-US" dirty="0"/>
              <a:t> </a:t>
            </a:r>
            <a:r>
              <a:rPr lang="en-US" altLang="zh-CN" dirty="0"/>
              <a:t>as</a:t>
            </a:r>
            <a:r>
              <a:rPr lang="zh-CN" altLang="en-US" dirty="0"/>
              <a:t> </a:t>
            </a:r>
            <a:r>
              <a:rPr lang="en-US" altLang="zh-CN" dirty="0"/>
              <a:t>shown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right</a:t>
            </a:r>
            <a:r>
              <a:rPr lang="zh-CN" altLang="en-US" dirty="0"/>
              <a:t> </a:t>
            </a:r>
            <a:r>
              <a:rPr lang="en-US" altLang="zh-CN" dirty="0"/>
              <a:t>figure.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red</a:t>
            </a:r>
            <a:r>
              <a:rPr lang="zh-CN" altLang="en-US" dirty="0"/>
              <a:t> </a:t>
            </a:r>
            <a:r>
              <a:rPr lang="en-US" altLang="zh-CN" dirty="0"/>
              <a:t>dwarf</a:t>
            </a:r>
            <a:r>
              <a:rPr lang="zh-CN" altLang="en-US" dirty="0"/>
              <a:t> </a:t>
            </a:r>
            <a:r>
              <a:rPr lang="en-US" altLang="zh-CN" dirty="0"/>
              <a:t>companion</a:t>
            </a:r>
            <a:r>
              <a:rPr lang="zh-CN" altLang="en-US" dirty="0"/>
              <a:t> </a:t>
            </a:r>
            <a:r>
              <a:rPr lang="en-US" altLang="zh-CN" dirty="0"/>
              <a:t>causes</a:t>
            </a:r>
            <a:r>
              <a:rPr lang="zh-CN" altLang="en-US" dirty="0"/>
              <a:t> </a:t>
            </a:r>
            <a:r>
              <a:rPr lang="en-US" altLang="zh-CN" dirty="0"/>
              <a:t>the RV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star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kilometers.</a:t>
            </a:r>
            <a:r>
              <a:rPr lang="zh-CN" altLang="en-US" dirty="0"/>
              <a:t> </a:t>
            </a:r>
            <a:r>
              <a:rPr lang="en-US" altLang="zh-CN" dirty="0"/>
              <a:t>But</a:t>
            </a:r>
            <a:r>
              <a:rPr lang="zh-CN" altLang="en-US" dirty="0"/>
              <a:t> </a:t>
            </a:r>
            <a:r>
              <a:rPr lang="en-US" altLang="zh-CN" dirty="0"/>
              <a:t>you</a:t>
            </a:r>
            <a:r>
              <a:rPr lang="zh-CN" altLang="en-US" dirty="0"/>
              <a:t> </a:t>
            </a:r>
            <a:r>
              <a:rPr lang="en-US" altLang="zh-CN" dirty="0"/>
              <a:t>can</a:t>
            </a:r>
            <a:r>
              <a:rPr lang="zh-CN" altLang="en-US" dirty="0"/>
              <a:t> </a:t>
            </a:r>
            <a:r>
              <a:rPr lang="en-US" altLang="zh-CN" dirty="0"/>
              <a:t>see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O-C</a:t>
            </a:r>
            <a:r>
              <a:rPr lang="zh-CN" altLang="en-US" dirty="0"/>
              <a:t> </a:t>
            </a:r>
            <a:r>
              <a:rPr lang="en-US" altLang="zh-CN" dirty="0"/>
              <a:t>figure,</a:t>
            </a:r>
            <a:r>
              <a:rPr lang="zh-CN" altLang="en-US" dirty="0"/>
              <a:t> </a:t>
            </a:r>
            <a:r>
              <a:rPr lang="en-US" altLang="zh-CN" dirty="0"/>
              <a:t>there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a small</a:t>
            </a:r>
            <a:r>
              <a:rPr lang="zh-CN" altLang="en-US" dirty="0"/>
              <a:t> </a:t>
            </a:r>
            <a:r>
              <a:rPr lang="en-US" altLang="zh-CN" dirty="0"/>
              <a:t>amplitude</a:t>
            </a:r>
            <a:r>
              <a:rPr lang="zh-CN" altLang="en-US" dirty="0"/>
              <a:t> </a:t>
            </a:r>
            <a:r>
              <a:rPr lang="en-US" altLang="zh-CN" dirty="0"/>
              <a:t>oscillation,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recognized</a:t>
            </a:r>
            <a:r>
              <a:rPr lang="zh-CN" altLang="en-US" dirty="0"/>
              <a:t> </a:t>
            </a:r>
            <a:r>
              <a:rPr lang="en-US" altLang="zh-CN" dirty="0"/>
              <a:t>as</a:t>
            </a:r>
            <a:r>
              <a:rPr lang="zh-CN" altLang="en-US" dirty="0"/>
              <a:t> </a:t>
            </a:r>
            <a:r>
              <a:rPr lang="en-US" altLang="zh-CN" dirty="0"/>
              <a:t>a planetary</a:t>
            </a:r>
            <a:r>
              <a:rPr lang="zh-CN" altLang="en-US" dirty="0"/>
              <a:t> </a:t>
            </a:r>
            <a:r>
              <a:rPr lang="en-US" altLang="zh-CN" dirty="0"/>
              <a:t>signal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later</a:t>
            </a:r>
            <a:r>
              <a:rPr lang="zh-CN" altLang="en-US" dirty="0"/>
              <a:t> </a:t>
            </a:r>
            <a:r>
              <a:rPr lang="en-US" altLang="zh-CN" dirty="0"/>
              <a:t>confirmation.</a:t>
            </a:r>
            <a:r>
              <a:rPr lang="zh-CN" altLang="en-US" dirty="0"/>
              <a:t> </a:t>
            </a:r>
            <a:r>
              <a:rPr lang="en-US" altLang="zh-CN" dirty="0"/>
              <a:t>With</a:t>
            </a:r>
            <a:r>
              <a:rPr lang="zh-CN" altLang="en-US" dirty="0"/>
              <a:t> </a:t>
            </a:r>
            <a:r>
              <a:rPr lang="en-US" altLang="zh-CN" dirty="0"/>
              <a:t>longer</a:t>
            </a:r>
            <a:r>
              <a:rPr lang="zh-CN" altLang="en-US" dirty="0"/>
              <a:t> </a:t>
            </a:r>
            <a:r>
              <a:rPr lang="en-US" altLang="zh-CN" dirty="0"/>
              <a:t>observational</a:t>
            </a:r>
            <a:r>
              <a:rPr lang="zh-CN" altLang="en-US" dirty="0"/>
              <a:t> </a:t>
            </a:r>
            <a:r>
              <a:rPr lang="en-US" altLang="zh-CN" dirty="0"/>
              <a:t>baselines,</a:t>
            </a:r>
            <a:r>
              <a:rPr lang="zh-CN" altLang="en-US" dirty="0"/>
              <a:t> </a:t>
            </a:r>
            <a:r>
              <a:rPr lang="en-US" altLang="zh-CN" dirty="0"/>
              <a:t>more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more</a:t>
            </a:r>
            <a:r>
              <a:rPr lang="zh-CN" altLang="en-US" dirty="0"/>
              <a:t> </a:t>
            </a:r>
            <a:r>
              <a:rPr lang="en-US" altLang="zh-CN" dirty="0"/>
              <a:t>similar</a:t>
            </a:r>
            <a:r>
              <a:rPr lang="zh-CN" altLang="en-US" dirty="0"/>
              <a:t> </a:t>
            </a:r>
            <a:r>
              <a:rPr lang="en-US" altLang="zh-CN" dirty="0"/>
              <a:t>planets</a:t>
            </a:r>
            <a:r>
              <a:rPr lang="zh-CN" altLang="en-US" dirty="0"/>
              <a:t> </a:t>
            </a:r>
            <a:r>
              <a:rPr lang="en-US" altLang="zh-CN" dirty="0"/>
              <a:t>are</a:t>
            </a:r>
            <a:r>
              <a:rPr lang="zh-CN" altLang="en-US" dirty="0"/>
              <a:t> </a:t>
            </a:r>
            <a:r>
              <a:rPr lang="en-US" altLang="zh-CN" dirty="0"/>
              <a:t>discovered.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B5A071-26D1-7349-BDE2-A02EF9C8BDDE}" type="slidenum">
              <a:rPr lang="en-CN" smtClean="0"/>
              <a:t>3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121600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Also,</a:t>
            </a:r>
            <a:r>
              <a:rPr lang="zh-CN" altLang="en-US" dirty="0"/>
              <a:t> </a:t>
            </a:r>
            <a:r>
              <a:rPr lang="en-US" altLang="zh-CN" dirty="0"/>
              <a:t>some</a:t>
            </a:r>
            <a:r>
              <a:rPr lang="zh-CN" altLang="en-US" dirty="0"/>
              <a:t> </a:t>
            </a:r>
            <a:r>
              <a:rPr lang="en-US" altLang="zh-CN" dirty="0"/>
              <a:t>planets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hierarchical</a:t>
            </a:r>
            <a:r>
              <a:rPr lang="zh-CN" altLang="en-US" dirty="0"/>
              <a:t> </a:t>
            </a:r>
            <a:r>
              <a:rPr lang="en-US" altLang="zh-CN" dirty="0"/>
              <a:t>systems</a:t>
            </a:r>
            <a:r>
              <a:rPr lang="zh-CN" altLang="en-US" dirty="0"/>
              <a:t> </a:t>
            </a:r>
            <a:r>
              <a:rPr lang="en-US" altLang="zh-CN" dirty="0"/>
              <a:t>show</a:t>
            </a:r>
            <a:r>
              <a:rPr lang="zh-CN" altLang="en-US" dirty="0"/>
              <a:t> </a:t>
            </a:r>
            <a:r>
              <a:rPr lang="en-US" altLang="zh-CN" dirty="0"/>
              <a:t>misalignment,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inclined</a:t>
            </a:r>
            <a:r>
              <a:rPr lang="zh-CN" altLang="en-US" dirty="0"/>
              <a:t> </a:t>
            </a:r>
            <a:r>
              <a:rPr lang="en-US" altLang="zh-CN" dirty="0"/>
              <a:t>or</a:t>
            </a:r>
            <a:r>
              <a:rPr lang="zh-CN" altLang="en-US" dirty="0"/>
              <a:t> </a:t>
            </a:r>
            <a:r>
              <a:rPr lang="en-US" altLang="zh-CN" dirty="0"/>
              <a:t>retrograde</a:t>
            </a:r>
            <a:r>
              <a:rPr lang="zh-CN" altLang="en-US" dirty="0"/>
              <a:t> </a:t>
            </a:r>
            <a:r>
              <a:rPr lang="en-US" altLang="zh-CN" dirty="0"/>
              <a:t>orbits</a:t>
            </a:r>
            <a:r>
              <a:rPr lang="zh-CN" altLang="en-US" dirty="0"/>
              <a:t> </a:t>
            </a:r>
            <a:r>
              <a:rPr lang="en-US" altLang="zh-CN" dirty="0"/>
              <a:t>with</a:t>
            </a:r>
            <a:r>
              <a:rPr lang="zh-CN" altLang="en-US" dirty="0"/>
              <a:t> </a:t>
            </a:r>
            <a:r>
              <a:rPr lang="en-US" altLang="zh-CN" dirty="0"/>
              <a:t>eccentricities.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example,</a:t>
            </a:r>
            <a:r>
              <a:rPr lang="zh-CN" altLang="en-US" dirty="0"/>
              <a:t> </a:t>
            </a:r>
            <a:r>
              <a:rPr lang="en-US" altLang="zh-CN" dirty="0"/>
              <a:t>Kepler-56</a:t>
            </a:r>
            <a:r>
              <a:rPr lang="zh-CN" altLang="en-US" dirty="0"/>
              <a:t> </a:t>
            </a:r>
            <a:r>
              <a:rPr lang="en-US" altLang="zh-CN" dirty="0"/>
              <a:t>has</a:t>
            </a:r>
            <a:r>
              <a:rPr lang="zh-CN" altLang="en-US" dirty="0"/>
              <a:t> </a:t>
            </a:r>
            <a:r>
              <a:rPr lang="en-US" altLang="zh-CN" dirty="0"/>
              <a:t>been</a:t>
            </a:r>
            <a:r>
              <a:rPr lang="zh-CN" altLang="en-US" dirty="0"/>
              <a:t> </a:t>
            </a:r>
            <a:r>
              <a:rPr lang="en-US" altLang="zh-CN" dirty="0"/>
              <a:t>discussed</a:t>
            </a:r>
            <a:r>
              <a:rPr lang="zh-CN" altLang="en-US" dirty="0"/>
              <a:t> </a:t>
            </a:r>
            <a:r>
              <a:rPr lang="en-US" altLang="zh-CN" dirty="0"/>
              <a:t>as</a:t>
            </a:r>
            <a:r>
              <a:rPr lang="zh-CN" altLang="en-US" dirty="0"/>
              <a:t> </a:t>
            </a:r>
            <a:r>
              <a:rPr lang="en-US" altLang="zh-CN" dirty="0"/>
              <a:t>an</a:t>
            </a:r>
            <a:r>
              <a:rPr lang="zh-CN" altLang="en-US" dirty="0"/>
              <a:t> </a:t>
            </a:r>
            <a:r>
              <a:rPr lang="en-US" altLang="zh-CN" dirty="0"/>
              <a:t>inclined</a:t>
            </a:r>
            <a:r>
              <a:rPr lang="zh-CN" altLang="en-US" dirty="0"/>
              <a:t> </a:t>
            </a:r>
            <a:r>
              <a:rPr lang="en-US" altLang="zh-CN" dirty="0"/>
              <a:t>system,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recently</a:t>
            </a:r>
            <a:r>
              <a:rPr lang="zh-CN" altLang="en-US" dirty="0"/>
              <a:t> </a:t>
            </a:r>
            <a:r>
              <a:rPr lang="en-US" altLang="zh-CN" dirty="0"/>
              <a:t>Professor</a:t>
            </a:r>
            <a:r>
              <a:rPr lang="zh-CN" altLang="en-US" dirty="0"/>
              <a:t> </a:t>
            </a:r>
            <a:r>
              <a:rPr lang="en-US" altLang="zh-CN" dirty="0"/>
              <a:t>Lee</a:t>
            </a:r>
            <a:r>
              <a:rPr lang="zh-CN" altLang="en-US" dirty="0"/>
              <a:t> </a:t>
            </a:r>
            <a:r>
              <a:rPr lang="en-US" altLang="zh-CN" dirty="0"/>
              <a:t>found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system</a:t>
            </a:r>
            <a:r>
              <a:rPr lang="zh-CN" altLang="en-US" dirty="0"/>
              <a:t> </a:t>
            </a:r>
            <a:r>
              <a:rPr lang="en-US" altLang="zh-CN" dirty="0"/>
              <a:t>with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retrograde</a:t>
            </a:r>
            <a:r>
              <a:rPr lang="zh-CN" altLang="en-US" dirty="0"/>
              <a:t> </a:t>
            </a:r>
            <a:r>
              <a:rPr lang="en-US" altLang="zh-CN" dirty="0"/>
              <a:t>planet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close</a:t>
            </a:r>
            <a:r>
              <a:rPr lang="zh-CN" altLang="en-US" dirty="0"/>
              <a:t> </a:t>
            </a:r>
            <a:r>
              <a:rPr lang="en-US" altLang="zh-CN" dirty="0"/>
              <a:t>eccentric</a:t>
            </a:r>
            <a:r>
              <a:rPr lang="zh-CN" altLang="en-US" dirty="0"/>
              <a:t> </a:t>
            </a:r>
            <a:r>
              <a:rPr lang="en-US" altLang="zh-CN" dirty="0"/>
              <a:t>binaries,</a:t>
            </a:r>
            <a:r>
              <a:rPr lang="zh-CN" altLang="en-US" dirty="0"/>
              <a:t> </a:t>
            </a:r>
            <a:r>
              <a:rPr lang="en-US" altLang="zh-CN" dirty="0"/>
              <a:t>as</a:t>
            </a:r>
            <a:r>
              <a:rPr lang="zh-CN" altLang="en-US" dirty="0"/>
              <a:t> </a:t>
            </a:r>
            <a:r>
              <a:rPr lang="en-US" altLang="zh-CN" dirty="0"/>
              <a:t>I</a:t>
            </a:r>
            <a:r>
              <a:rPr lang="zh-CN" altLang="en-US" dirty="0"/>
              <a:t> </a:t>
            </a:r>
            <a:r>
              <a:rPr lang="en-US" altLang="zh-CN" dirty="0"/>
              <a:t>show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middle</a:t>
            </a:r>
            <a:r>
              <a:rPr lang="zh-CN" altLang="en-US" dirty="0"/>
              <a:t> </a:t>
            </a:r>
            <a:r>
              <a:rPr lang="en-US" altLang="zh-CN" dirty="0"/>
              <a:t>figure.</a:t>
            </a:r>
            <a:r>
              <a:rPr lang="zh-CN" altLang="en-US" dirty="0"/>
              <a:t> </a:t>
            </a:r>
            <a:r>
              <a:rPr lang="en-US" altLang="zh-CN" dirty="0"/>
              <a:t>Also,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famous</a:t>
            </a:r>
            <a:r>
              <a:rPr lang="zh-CN" altLang="en-US" dirty="0"/>
              <a:t> </a:t>
            </a:r>
            <a:r>
              <a:rPr lang="en-US" altLang="zh-CN" dirty="0"/>
              <a:t>system,</a:t>
            </a:r>
            <a:r>
              <a:rPr lang="zh-CN" altLang="en-US" dirty="0"/>
              <a:t> </a:t>
            </a:r>
            <a:r>
              <a:rPr lang="en-US" altLang="zh-CN" dirty="0"/>
              <a:t>HD</a:t>
            </a:r>
            <a:r>
              <a:rPr lang="zh-CN" altLang="en-US" dirty="0"/>
              <a:t> </a:t>
            </a:r>
            <a:r>
              <a:rPr lang="en-US" altLang="zh-CN" dirty="0"/>
              <a:t>80606,</a:t>
            </a:r>
            <a:r>
              <a:rPr lang="zh-CN" altLang="en-US" dirty="0"/>
              <a:t> </a:t>
            </a:r>
            <a:r>
              <a:rPr lang="en-US" altLang="zh-CN" dirty="0"/>
              <a:t>has</a:t>
            </a:r>
            <a:r>
              <a:rPr lang="zh-CN" altLang="en-US" dirty="0"/>
              <a:t> </a:t>
            </a:r>
            <a:r>
              <a:rPr lang="en-US" altLang="zh-CN" dirty="0"/>
              <a:t>been</a:t>
            </a:r>
            <a:r>
              <a:rPr lang="zh-CN" altLang="en-US" dirty="0"/>
              <a:t> </a:t>
            </a:r>
            <a:r>
              <a:rPr lang="en-US" altLang="zh-CN" dirty="0"/>
              <a:t>proposed</a:t>
            </a:r>
            <a:r>
              <a:rPr lang="zh-CN" altLang="en-US" dirty="0"/>
              <a:t> </a:t>
            </a:r>
            <a:r>
              <a:rPr lang="en-US" altLang="zh-CN" dirty="0"/>
              <a:t>as</a:t>
            </a:r>
            <a:r>
              <a:rPr lang="zh-CN" altLang="en-US" dirty="0"/>
              <a:t> </a:t>
            </a:r>
            <a:r>
              <a:rPr lang="en-US" altLang="zh-CN" dirty="0"/>
              <a:t>misaligned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its</a:t>
            </a:r>
            <a:r>
              <a:rPr lang="zh-CN" altLang="en-US" dirty="0"/>
              <a:t> </a:t>
            </a:r>
            <a:r>
              <a:rPr lang="en-US" altLang="zh-CN" dirty="0"/>
              <a:t>evolution.</a:t>
            </a:r>
            <a:r>
              <a:rPr lang="zh-CN" altLang="en-US" dirty="0"/>
              <a:t> 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When</a:t>
            </a:r>
            <a:r>
              <a:rPr lang="zh-CN" altLang="en-US" dirty="0"/>
              <a:t> </a:t>
            </a:r>
            <a:r>
              <a:rPr lang="en-US" altLang="zh-CN" dirty="0"/>
              <a:t>it</a:t>
            </a:r>
            <a:r>
              <a:rPr lang="zh-CN" altLang="en-US" dirty="0"/>
              <a:t> </a:t>
            </a:r>
            <a:r>
              <a:rPr lang="en-US" altLang="zh-CN" dirty="0"/>
              <a:t>comes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inclined</a:t>
            </a:r>
            <a:r>
              <a:rPr lang="zh-CN" altLang="en-US" dirty="0"/>
              <a:t> </a:t>
            </a:r>
            <a:r>
              <a:rPr lang="en-US" altLang="zh-CN" dirty="0"/>
              <a:t>hierarchical</a:t>
            </a:r>
            <a:r>
              <a:rPr lang="zh-CN" altLang="en-US" dirty="0"/>
              <a:t> </a:t>
            </a:r>
            <a:r>
              <a:rPr lang="en-US" altLang="zh-CN" dirty="0"/>
              <a:t>systems,</a:t>
            </a:r>
            <a:r>
              <a:rPr lang="zh-CN" altLang="en-US" dirty="0"/>
              <a:t> </a:t>
            </a:r>
            <a:r>
              <a:rPr lang="en-US" altLang="zh-CN" dirty="0"/>
              <a:t>usually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von</a:t>
            </a:r>
            <a:r>
              <a:rPr lang="zh-CN" altLang="en-US" dirty="0"/>
              <a:t> </a:t>
            </a:r>
            <a:r>
              <a:rPr lang="en-US" altLang="zh-CN" dirty="0" err="1"/>
              <a:t>Zeipel-Lidov-Kozai</a:t>
            </a:r>
            <a:r>
              <a:rPr lang="zh-CN" altLang="en-US" dirty="0"/>
              <a:t> </a:t>
            </a:r>
            <a:r>
              <a:rPr lang="en-US" altLang="zh-CN" dirty="0"/>
              <a:t>mechanism</a:t>
            </a:r>
            <a:r>
              <a:rPr lang="zh-CN" altLang="en-US" dirty="0"/>
              <a:t> </a:t>
            </a:r>
            <a:r>
              <a:rPr lang="en-US" altLang="zh-CN" dirty="0"/>
              <a:t>governs</a:t>
            </a:r>
            <a:r>
              <a:rPr lang="zh-CN" altLang="en-US" dirty="0"/>
              <a:t> </a:t>
            </a:r>
            <a:r>
              <a:rPr lang="en-US" altLang="zh-CN" dirty="0"/>
              <a:t>their</a:t>
            </a:r>
            <a:r>
              <a:rPr lang="zh-CN" altLang="en-US" dirty="0"/>
              <a:t> </a:t>
            </a:r>
            <a:r>
              <a:rPr lang="en-US" altLang="zh-CN" dirty="0"/>
              <a:t>evolution.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right</a:t>
            </a:r>
            <a:r>
              <a:rPr lang="zh-CN" altLang="en-US" dirty="0"/>
              <a:t> </a:t>
            </a:r>
            <a:r>
              <a:rPr lang="en-US" altLang="zh-CN" dirty="0"/>
              <a:t>figure,</a:t>
            </a:r>
            <a:r>
              <a:rPr lang="zh-CN" altLang="en-US" dirty="0"/>
              <a:t> </a:t>
            </a:r>
            <a:r>
              <a:rPr lang="en-US" altLang="zh-CN" dirty="0"/>
              <a:t>when</a:t>
            </a:r>
            <a:r>
              <a:rPr lang="zh-CN" altLang="en-US" dirty="0"/>
              <a:t> </a:t>
            </a:r>
            <a:r>
              <a:rPr lang="en-US" altLang="zh-CN" dirty="0"/>
              <a:t>there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central</a:t>
            </a:r>
            <a:r>
              <a:rPr lang="zh-CN" altLang="en-US" dirty="0"/>
              <a:t> </a:t>
            </a:r>
            <a:r>
              <a:rPr lang="en-US" altLang="zh-CN" dirty="0"/>
              <a:t>star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an</a:t>
            </a:r>
            <a:r>
              <a:rPr lang="zh-CN" altLang="en-US" dirty="0"/>
              <a:t> </a:t>
            </a:r>
            <a:r>
              <a:rPr lang="en-US" altLang="zh-CN" dirty="0"/>
              <a:t>outer</a:t>
            </a:r>
            <a:r>
              <a:rPr lang="zh-CN" altLang="en-US" dirty="0"/>
              <a:t> </a:t>
            </a:r>
            <a:r>
              <a:rPr lang="en-US" altLang="zh-CN" dirty="0"/>
              <a:t>companion</a:t>
            </a:r>
            <a:r>
              <a:rPr lang="zh-CN" altLang="en-US" dirty="0"/>
              <a:t> </a:t>
            </a:r>
            <a:r>
              <a:rPr lang="en-US" altLang="zh-CN" dirty="0"/>
              <a:t>body,</a:t>
            </a:r>
            <a:r>
              <a:rPr lang="zh-CN" altLang="en-US" dirty="0"/>
              <a:t> </a:t>
            </a:r>
            <a:r>
              <a:rPr lang="en-US" altLang="zh-CN" dirty="0"/>
              <a:t>if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inner</a:t>
            </a:r>
            <a:r>
              <a:rPr lang="zh-CN" altLang="en-US" dirty="0"/>
              <a:t> </a:t>
            </a:r>
            <a:r>
              <a:rPr lang="en-US" altLang="zh-CN" dirty="0"/>
              <a:t>body</a:t>
            </a:r>
            <a:r>
              <a:rPr lang="zh-CN" altLang="en-US" dirty="0"/>
              <a:t> </a:t>
            </a:r>
            <a:r>
              <a:rPr lang="en-US" altLang="zh-CN" dirty="0"/>
              <a:t>around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central</a:t>
            </a:r>
            <a:r>
              <a:rPr lang="zh-CN" altLang="en-US" dirty="0"/>
              <a:t> </a:t>
            </a:r>
            <a:r>
              <a:rPr lang="en-US" altLang="zh-CN" dirty="0"/>
              <a:t>star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inclined</a:t>
            </a:r>
            <a:r>
              <a:rPr lang="zh-CN" altLang="en-US" dirty="0"/>
              <a:t> </a:t>
            </a:r>
            <a:r>
              <a:rPr lang="en-US" altLang="zh-CN" dirty="0"/>
              <a:t>with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outer</a:t>
            </a:r>
            <a:r>
              <a:rPr lang="zh-CN" altLang="en-US" dirty="0"/>
              <a:t> </a:t>
            </a:r>
            <a:r>
              <a:rPr lang="en-US" altLang="zh-CN" dirty="0"/>
              <a:t>body</a:t>
            </a:r>
            <a:r>
              <a:rPr lang="zh-CN" altLang="en-US" dirty="0"/>
              <a:t> </a:t>
            </a:r>
            <a:r>
              <a:rPr lang="en-US" altLang="zh-CN" dirty="0"/>
              <a:t>(for</a:t>
            </a:r>
            <a:r>
              <a:rPr lang="zh-CN" altLang="en-US" dirty="0"/>
              <a:t> </a:t>
            </a:r>
            <a:r>
              <a:rPr lang="en-US" altLang="zh-CN" dirty="0"/>
              <a:t>example,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blue</a:t>
            </a:r>
            <a:r>
              <a:rPr lang="zh-CN" altLang="en-US" dirty="0"/>
              <a:t> </a:t>
            </a:r>
            <a:r>
              <a:rPr lang="en-US" altLang="zh-CN" dirty="0"/>
              <a:t>vector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not</a:t>
            </a:r>
            <a:r>
              <a:rPr lang="zh-CN" altLang="en-US" dirty="0"/>
              <a:t> </a:t>
            </a:r>
            <a:r>
              <a:rPr lang="en-US" altLang="zh-CN" dirty="0"/>
              <a:t>towards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green</a:t>
            </a:r>
            <a:r>
              <a:rPr lang="zh-CN" altLang="en-US" dirty="0"/>
              <a:t> </a:t>
            </a:r>
            <a:r>
              <a:rPr lang="en-US" altLang="zh-CN" dirty="0"/>
              <a:t>vector),</a:t>
            </a:r>
            <a:r>
              <a:rPr lang="zh-CN" altLang="en-US" dirty="0"/>
              <a:t> </a:t>
            </a:r>
            <a:r>
              <a:rPr lang="en-US" altLang="zh-CN" dirty="0"/>
              <a:t>these</a:t>
            </a:r>
            <a:r>
              <a:rPr lang="zh-CN" altLang="en-US" dirty="0"/>
              <a:t> </a:t>
            </a:r>
            <a:r>
              <a:rPr lang="en-US" altLang="zh-CN" dirty="0"/>
              <a:t>systems</a:t>
            </a:r>
            <a:r>
              <a:rPr lang="zh-CN" altLang="en-US" dirty="0"/>
              <a:t> </a:t>
            </a:r>
            <a:r>
              <a:rPr lang="en-US" altLang="zh-CN" dirty="0"/>
              <a:t>would</a:t>
            </a:r>
            <a:r>
              <a:rPr lang="zh-CN" altLang="en-US" dirty="0"/>
              <a:t> </a:t>
            </a:r>
            <a:r>
              <a:rPr lang="en-US" altLang="zh-CN" dirty="0"/>
              <a:t>experience</a:t>
            </a:r>
            <a:r>
              <a:rPr lang="zh-CN" altLang="en-US" dirty="0"/>
              <a:t> </a:t>
            </a:r>
            <a:r>
              <a:rPr lang="en-US" altLang="zh-CN" dirty="0"/>
              <a:t>oscillations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eccentricity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inclination.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B5A071-26D1-7349-BDE2-A02EF9C8BDDE}" type="slidenum">
              <a:rPr lang="en-CN" smtClean="0"/>
              <a:t>4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645249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As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figure</a:t>
            </a:r>
            <a:r>
              <a:rPr lang="zh-CN" altLang="en-US" dirty="0"/>
              <a:t> </a:t>
            </a:r>
            <a:r>
              <a:rPr lang="en-US" altLang="zh-CN" dirty="0"/>
              <a:t>shows,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 err="1"/>
              <a:t>vZLK</a:t>
            </a:r>
            <a:r>
              <a:rPr lang="zh-CN" altLang="en-US" dirty="0"/>
              <a:t> </a:t>
            </a:r>
            <a:r>
              <a:rPr lang="en-US" altLang="zh-CN" dirty="0"/>
              <a:t>mechanism</a:t>
            </a:r>
            <a:r>
              <a:rPr lang="zh-CN" altLang="en-US" dirty="0"/>
              <a:t> </a:t>
            </a:r>
            <a:r>
              <a:rPr lang="en-US" altLang="zh-CN" dirty="0"/>
              <a:t>was</a:t>
            </a:r>
            <a:r>
              <a:rPr lang="zh-CN" altLang="en-US" dirty="0"/>
              <a:t> </a:t>
            </a:r>
            <a:r>
              <a:rPr lang="en-US" altLang="zh-CN" dirty="0"/>
              <a:t>established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explain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asteroid's</a:t>
            </a:r>
            <a:r>
              <a:rPr lang="zh-CN" altLang="en-US" dirty="0"/>
              <a:t> </a:t>
            </a:r>
            <a:r>
              <a:rPr lang="en-US" altLang="zh-CN" dirty="0"/>
              <a:t>secular</a:t>
            </a:r>
            <a:r>
              <a:rPr lang="zh-CN" altLang="en-US" dirty="0"/>
              <a:t> </a:t>
            </a:r>
            <a:r>
              <a:rPr lang="en-US" altLang="zh-CN" dirty="0"/>
              <a:t>evolution</a:t>
            </a:r>
            <a:r>
              <a:rPr lang="zh-CN" altLang="en-US" dirty="0"/>
              <a:t> </a:t>
            </a:r>
            <a:r>
              <a:rPr lang="en-US" altLang="zh-CN" dirty="0"/>
              <a:t>under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perturbation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Jupiter</a:t>
            </a:r>
            <a:r>
              <a:rPr lang="zh-CN" altLang="en-US" dirty="0"/>
              <a:t> </a:t>
            </a:r>
            <a:r>
              <a:rPr lang="en-US" altLang="zh-CN" dirty="0"/>
              <a:t>as</a:t>
            </a:r>
            <a:r>
              <a:rPr lang="zh-CN" altLang="en-US" dirty="0"/>
              <a:t> </a:t>
            </a:r>
            <a:r>
              <a:rPr lang="en-US" altLang="zh-CN" dirty="0"/>
              <a:t>well</a:t>
            </a:r>
            <a:r>
              <a:rPr lang="zh-CN" altLang="en-US" dirty="0"/>
              <a:t> </a:t>
            </a:r>
            <a:r>
              <a:rPr lang="en-US" altLang="zh-CN" dirty="0"/>
              <a:t>as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satellite's</a:t>
            </a:r>
            <a:r>
              <a:rPr lang="zh-CN" altLang="en-US" dirty="0"/>
              <a:t> </a:t>
            </a:r>
            <a:r>
              <a:rPr lang="en-US" altLang="zh-CN" dirty="0"/>
              <a:t>orbit</a:t>
            </a:r>
            <a:r>
              <a:rPr lang="zh-CN" altLang="en-US" dirty="0"/>
              <a:t> </a:t>
            </a:r>
            <a:r>
              <a:rPr lang="en-US" altLang="zh-CN" dirty="0"/>
              <a:t>variation</a:t>
            </a:r>
            <a:r>
              <a:rPr lang="zh-CN" altLang="en-US" dirty="0"/>
              <a:t> </a:t>
            </a:r>
            <a:r>
              <a:rPr lang="en-US" altLang="zh-CN" dirty="0"/>
              <a:t>under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influence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Moon.</a:t>
            </a:r>
          </a:p>
          <a:p>
            <a:endParaRPr lang="en-US" altLang="zh-CN" dirty="0"/>
          </a:p>
          <a:p>
            <a:r>
              <a:rPr lang="en-US" altLang="zh-CN" dirty="0"/>
              <a:t>When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inclination</a:t>
            </a:r>
            <a:r>
              <a:rPr lang="zh-CN" altLang="en-US" dirty="0"/>
              <a:t> </a:t>
            </a:r>
            <a:r>
              <a:rPr lang="en-US" altLang="zh-CN" dirty="0"/>
              <a:t>between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inner</a:t>
            </a:r>
            <a:r>
              <a:rPr lang="zh-CN" altLang="en-US" dirty="0"/>
              <a:t> </a:t>
            </a:r>
            <a:r>
              <a:rPr lang="en-US" altLang="zh-CN" dirty="0"/>
              <a:t>body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outer</a:t>
            </a:r>
            <a:r>
              <a:rPr lang="zh-CN" altLang="en-US" dirty="0"/>
              <a:t> </a:t>
            </a:r>
            <a:r>
              <a:rPr lang="en-US" altLang="zh-CN" dirty="0"/>
              <a:t>body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beyond</a:t>
            </a:r>
            <a:r>
              <a:rPr lang="zh-CN" altLang="en-US" dirty="0"/>
              <a:t> </a:t>
            </a:r>
            <a:r>
              <a:rPr lang="en-US" altLang="zh-CN" dirty="0"/>
              <a:t>approximately</a:t>
            </a:r>
            <a:r>
              <a:rPr lang="zh-CN" altLang="en-US" dirty="0"/>
              <a:t> </a:t>
            </a:r>
            <a:r>
              <a:rPr lang="en-US" altLang="zh-CN" dirty="0"/>
              <a:t>40</a:t>
            </a:r>
            <a:r>
              <a:rPr lang="zh-CN" altLang="en-US" dirty="0"/>
              <a:t> </a:t>
            </a:r>
            <a:r>
              <a:rPr lang="en-US" altLang="zh-CN" dirty="0"/>
              <a:t>degrees,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inner</a:t>
            </a:r>
            <a:r>
              <a:rPr lang="zh-CN" altLang="en-US" dirty="0"/>
              <a:t> </a:t>
            </a:r>
            <a:r>
              <a:rPr lang="en-US" altLang="zh-CN" dirty="0"/>
              <a:t>orbit</a:t>
            </a:r>
            <a:r>
              <a:rPr lang="zh-CN" altLang="en-US" dirty="0"/>
              <a:t> </a:t>
            </a:r>
            <a:r>
              <a:rPr lang="en-US" altLang="zh-CN" dirty="0"/>
              <a:t>would</a:t>
            </a:r>
            <a:r>
              <a:rPr lang="zh-CN" altLang="en-US" dirty="0"/>
              <a:t> </a:t>
            </a:r>
            <a:r>
              <a:rPr lang="en-US" altLang="zh-CN" dirty="0"/>
              <a:t>oscillate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eccentricity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inclination</a:t>
            </a:r>
            <a:r>
              <a:rPr lang="zh-CN" altLang="en-US" dirty="0"/>
              <a:t> </a:t>
            </a:r>
            <a:r>
              <a:rPr lang="en-US" altLang="zh-CN" dirty="0"/>
              <a:t>due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angular</a:t>
            </a:r>
            <a:r>
              <a:rPr lang="zh-CN" altLang="en-US" dirty="0"/>
              <a:t> </a:t>
            </a:r>
            <a:r>
              <a:rPr lang="en-US" altLang="zh-CN" dirty="0"/>
              <a:t>momentum</a:t>
            </a:r>
            <a:r>
              <a:rPr lang="zh-CN" altLang="en-US" dirty="0"/>
              <a:t> </a:t>
            </a:r>
            <a:r>
              <a:rPr lang="en-US" altLang="zh-CN" dirty="0"/>
              <a:t>exchange.</a:t>
            </a:r>
            <a:r>
              <a:rPr lang="zh-CN" altLang="en-US" dirty="0"/>
              <a:t> </a:t>
            </a:r>
            <a:endParaRPr lang="en-US" altLang="zh-CN" dirty="0"/>
          </a:p>
          <a:p>
            <a:endParaRPr lang="en-US" dirty="0"/>
          </a:p>
          <a:p>
            <a:r>
              <a:rPr lang="en-US" altLang="zh-CN" dirty="0"/>
              <a:t>As</a:t>
            </a:r>
            <a:r>
              <a:rPr lang="zh-CN" altLang="en-US" dirty="0"/>
              <a:t> </a:t>
            </a:r>
            <a:r>
              <a:rPr lang="en-US" altLang="zh-CN" dirty="0"/>
              <a:t>I</a:t>
            </a:r>
            <a:r>
              <a:rPr lang="zh-CN" altLang="en-US" dirty="0"/>
              <a:t> </a:t>
            </a:r>
            <a:r>
              <a:rPr lang="en-US" altLang="zh-CN" dirty="0"/>
              <a:t>show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left</a:t>
            </a:r>
            <a:r>
              <a:rPr lang="zh-CN" altLang="en-US" dirty="0"/>
              <a:t> </a:t>
            </a:r>
            <a:r>
              <a:rPr lang="en-US" altLang="zh-CN" dirty="0"/>
              <a:t>figure,</a:t>
            </a:r>
            <a:r>
              <a:rPr lang="zh-CN" altLang="en-US" dirty="0"/>
              <a:t> </a:t>
            </a:r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oscillation</a:t>
            </a:r>
            <a:r>
              <a:rPr lang="zh-CN" altLang="en-US" dirty="0"/>
              <a:t> </a:t>
            </a:r>
            <a:r>
              <a:rPr lang="en-US" altLang="zh-CN" dirty="0"/>
              <a:t>timescale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also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oscillation</a:t>
            </a:r>
            <a:r>
              <a:rPr lang="zh-CN" altLang="en-US" dirty="0"/>
              <a:t> </a:t>
            </a:r>
            <a:r>
              <a:rPr lang="en-US" altLang="zh-CN" dirty="0"/>
              <a:t>range</a:t>
            </a:r>
            <a:r>
              <a:rPr lang="zh-CN" altLang="en-US" dirty="0"/>
              <a:t> </a:t>
            </a:r>
            <a:r>
              <a:rPr lang="en-US" altLang="zh-CN" dirty="0"/>
              <a:t>could</a:t>
            </a:r>
            <a:r>
              <a:rPr lang="zh-CN" altLang="en-US" dirty="0"/>
              <a:t> </a:t>
            </a:r>
            <a:r>
              <a:rPr lang="en-US" altLang="zh-CN" dirty="0"/>
              <a:t>be</a:t>
            </a:r>
            <a:r>
              <a:rPr lang="zh-CN" altLang="en-US" dirty="0"/>
              <a:t> </a:t>
            </a:r>
            <a:r>
              <a:rPr lang="en-US" altLang="zh-CN" dirty="0"/>
              <a:t>derived</a:t>
            </a:r>
            <a:r>
              <a:rPr lang="zh-CN" altLang="en-US" dirty="0"/>
              <a:t> </a:t>
            </a:r>
            <a:r>
              <a:rPr lang="en-US" altLang="zh-CN" dirty="0"/>
              <a:t>from</a:t>
            </a:r>
            <a:r>
              <a:rPr lang="zh-CN" altLang="en-US" dirty="0"/>
              <a:t> </a:t>
            </a:r>
            <a:r>
              <a:rPr lang="en-US" altLang="zh-CN" dirty="0"/>
              <a:t>simulations.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video</a:t>
            </a:r>
            <a:r>
              <a:rPr lang="zh-CN" altLang="en-US" dirty="0"/>
              <a:t> </a:t>
            </a:r>
            <a:r>
              <a:rPr lang="en-US" altLang="zh-CN" dirty="0"/>
              <a:t>shows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changes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eccentricity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inclination,</a:t>
            </a:r>
            <a:r>
              <a:rPr lang="zh-CN" altLang="en-US" dirty="0"/>
              <a:t> </a:t>
            </a:r>
            <a:r>
              <a:rPr lang="en-US" altLang="zh-CN" dirty="0"/>
              <a:t>as</a:t>
            </a:r>
            <a:r>
              <a:rPr lang="zh-CN" altLang="en-US" dirty="0"/>
              <a:t> </a:t>
            </a:r>
            <a:r>
              <a:rPr lang="en-US" altLang="zh-CN" dirty="0"/>
              <a:t>well</a:t>
            </a:r>
            <a:r>
              <a:rPr lang="zh-CN" altLang="en-US" dirty="0"/>
              <a:t> </a:t>
            </a:r>
            <a:r>
              <a:rPr lang="en-US" altLang="zh-CN" dirty="0"/>
              <a:t>as</a:t>
            </a:r>
            <a:r>
              <a:rPr lang="zh-CN" altLang="en-US" dirty="0"/>
              <a:t> </a:t>
            </a:r>
            <a:r>
              <a:rPr lang="en-US" altLang="zh-CN" dirty="0"/>
              <a:t>changes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angular</a:t>
            </a:r>
            <a:r>
              <a:rPr lang="zh-CN" altLang="en-US" dirty="0"/>
              <a:t> </a:t>
            </a:r>
            <a:r>
              <a:rPr lang="en-US" altLang="zh-CN" dirty="0"/>
              <a:t>momentum</a:t>
            </a:r>
            <a:r>
              <a:rPr lang="zh-CN" altLang="en-US" dirty="0"/>
              <a:t> </a:t>
            </a:r>
            <a:r>
              <a:rPr lang="en-US" altLang="zh-CN" dirty="0"/>
              <a:t>vector's</a:t>
            </a:r>
            <a:r>
              <a:rPr lang="zh-CN" altLang="en-US" dirty="0"/>
              <a:t> </a:t>
            </a:r>
            <a:r>
              <a:rPr lang="en-US" altLang="zh-CN" dirty="0"/>
              <a:t>direction.</a:t>
            </a:r>
          </a:p>
          <a:p>
            <a:endParaRPr lang="en-US" dirty="0"/>
          </a:p>
          <a:p>
            <a:r>
              <a:rPr lang="en-US" altLang="zh-CN" dirty="0"/>
              <a:t>Then</a:t>
            </a:r>
            <a:r>
              <a:rPr lang="zh-CN" altLang="en-US" dirty="0"/>
              <a:t> </a:t>
            </a:r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figure</a:t>
            </a:r>
            <a:r>
              <a:rPr lang="zh-CN" altLang="en-US" dirty="0"/>
              <a:t> </a:t>
            </a:r>
            <a:r>
              <a:rPr lang="en-US" altLang="zh-CN" dirty="0"/>
              <a:t>on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left</a:t>
            </a:r>
            <a:r>
              <a:rPr lang="zh-CN" altLang="en-US" dirty="0"/>
              <a:t> </a:t>
            </a:r>
            <a:r>
              <a:rPr lang="en-US" altLang="zh-CN" dirty="0"/>
              <a:t>shows</a:t>
            </a:r>
            <a:r>
              <a:rPr lang="zh-CN" altLang="en-US" dirty="0"/>
              <a:t> </a:t>
            </a:r>
            <a:r>
              <a:rPr lang="en-US" altLang="zh-CN" dirty="0"/>
              <a:t>that when</a:t>
            </a:r>
            <a:r>
              <a:rPr lang="zh-CN" altLang="en-US" dirty="0"/>
              <a:t> </a:t>
            </a:r>
            <a:r>
              <a:rPr lang="en-US" altLang="zh-CN" dirty="0"/>
              <a:t>the planet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 err="1"/>
              <a:t>vZLK</a:t>
            </a:r>
            <a:r>
              <a:rPr lang="zh-CN" altLang="en-US" dirty="0"/>
              <a:t> </a:t>
            </a:r>
            <a:r>
              <a:rPr lang="en-US" altLang="zh-CN" dirty="0"/>
              <a:t>oscillation,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argument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periastron</a:t>
            </a:r>
            <a:r>
              <a:rPr lang="zh-CN" altLang="en-US" dirty="0"/>
              <a:t> </a:t>
            </a:r>
            <a:r>
              <a:rPr lang="en-US" altLang="zh-CN" dirty="0"/>
              <a:t>would</a:t>
            </a:r>
            <a:r>
              <a:rPr lang="zh-CN" altLang="en-US" dirty="0"/>
              <a:t> </a:t>
            </a:r>
            <a:r>
              <a:rPr lang="en-US" altLang="zh-CN" dirty="0"/>
              <a:t>be</a:t>
            </a:r>
            <a:r>
              <a:rPr lang="zh-CN" altLang="en-US" dirty="0"/>
              <a:t> </a:t>
            </a:r>
            <a:r>
              <a:rPr lang="en-US" altLang="zh-CN" dirty="0"/>
              <a:t>locked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 err="1"/>
              <a:t>libration</a:t>
            </a:r>
            <a:r>
              <a:rPr lang="zh-CN" altLang="en-US" dirty="0"/>
              <a:t> </a:t>
            </a:r>
            <a:r>
              <a:rPr lang="en-US" altLang="zh-CN" dirty="0"/>
              <a:t>with</a:t>
            </a:r>
            <a:r>
              <a:rPr lang="zh-CN" altLang="en-US" dirty="0"/>
              <a:t> </a:t>
            </a:r>
            <a:r>
              <a:rPr lang="en-US" altLang="zh-CN" dirty="0"/>
              <a:t>precession</a:t>
            </a:r>
            <a:r>
              <a:rPr lang="zh-CN" altLang="en-US" dirty="0"/>
              <a:t> </a:t>
            </a:r>
            <a:r>
              <a:rPr lang="en-US" altLang="zh-CN" dirty="0"/>
              <a:t>(around</a:t>
            </a:r>
            <a:r>
              <a:rPr lang="zh-CN" altLang="en-US" dirty="0"/>
              <a:t> </a:t>
            </a:r>
            <a:r>
              <a:rPr lang="en-US" altLang="zh-CN" dirty="0"/>
              <a:t>90</a:t>
            </a:r>
            <a:r>
              <a:rPr lang="zh-CN" altLang="en-US" dirty="0"/>
              <a:t> </a:t>
            </a:r>
            <a:r>
              <a:rPr lang="en-US" altLang="zh-CN" dirty="0"/>
              <a:t>or</a:t>
            </a:r>
            <a:r>
              <a:rPr lang="zh-CN" altLang="en-US" dirty="0"/>
              <a:t> </a:t>
            </a:r>
            <a:r>
              <a:rPr lang="en-US" altLang="zh-CN" dirty="0"/>
              <a:t>270</a:t>
            </a:r>
            <a:r>
              <a:rPr lang="zh-CN" altLang="en-US" dirty="0"/>
              <a:t> </a:t>
            </a:r>
            <a:r>
              <a:rPr lang="en-US" altLang="zh-CN" dirty="0"/>
              <a:t>degrees),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same</a:t>
            </a:r>
            <a:r>
              <a:rPr lang="zh-CN" altLang="en-US" dirty="0"/>
              <a:t> </a:t>
            </a:r>
            <a:r>
              <a:rPr lang="en-US" altLang="zh-CN" dirty="0"/>
              <a:t>as</a:t>
            </a:r>
            <a:r>
              <a:rPr lang="zh-CN" altLang="en-US" dirty="0"/>
              <a:t> </a:t>
            </a:r>
            <a:r>
              <a:rPr lang="en-US" altLang="zh-CN" dirty="0"/>
              <a:t>MMR.</a:t>
            </a:r>
          </a:p>
          <a:p>
            <a:endParaRPr lang="en-US" dirty="0"/>
          </a:p>
          <a:p>
            <a:r>
              <a:rPr lang="en-US" altLang="zh-CN" dirty="0"/>
              <a:t>When</a:t>
            </a:r>
            <a:r>
              <a:rPr lang="zh-CN" altLang="en-US" dirty="0"/>
              <a:t> </a:t>
            </a:r>
            <a:r>
              <a:rPr lang="en-US" altLang="zh-CN" dirty="0"/>
              <a:t>it</a:t>
            </a:r>
            <a:r>
              <a:rPr lang="zh-CN" altLang="en-US" dirty="0"/>
              <a:t> </a:t>
            </a:r>
            <a:r>
              <a:rPr lang="en-US" altLang="zh-CN" dirty="0"/>
              <a:t>comes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timescale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 err="1"/>
              <a:t>vZLK</a:t>
            </a:r>
            <a:r>
              <a:rPr lang="zh-CN" altLang="en-US" dirty="0"/>
              <a:t> </a:t>
            </a:r>
            <a:r>
              <a:rPr lang="en-US" altLang="zh-CN" dirty="0"/>
              <a:t>mechanism,</a:t>
            </a:r>
            <a:r>
              <a:rPr lang="zh-CN" altLang="en-US" dirty="0"/>
              <a:t> </a:t>
            </a:r>
            <a:r>
              <a:rPr lang="en-US" altLang="zh-CN" dirty="0"/>
              <a:t>it</a:t>
            </a:r>
            <a:r>
              <a:rPr lang="zh-CN" altLang="en-US" dirty="0"/>
              <a:t> </a:t>
            </a:r>
            <a:r>
              <a:rPr lang="en-US" altLang="zh-CN" dirty="0"/>
              <a:t>depends</a:t>
            </a:r>
            <a:r>
              <a:rPr lang="zh-CN" altLang="en-US" dirty="0"/>
              <a:t> </a:t>
            </a:r>
            <a:r>
              <a:rPr lang="en-US" altLang="zh-CN" dirty="0"/>
              <a:t>strongly</a:t>
            </a:r>
            <a:r>
              <a:rPr lang="zh-CN" altLang="en-US" dirty="0"/>
              <a:t> </a:t>
            </a:r>
            <a:r>
              <a:rPr lang="en-US" altLang="zh-CN" dirty="0"/>
              <a:t>on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outer</a:t>
            </a:r>
            <a:r>
              <a:rPr lang="zh-CN" altLang="en-US" dirty="0"/>
              <a:t> </a:t>
            </a:r>
            <a:r>
              <a:rPr lang="en-US" altLang="zh-CN" dirty="0"/>
              <a:t>body‘s</a:t>
            </a:r>
            <a:r>
              <a:rPr lang="zh-CN" altLang="en-US" dirty="0"/>
              <a:t> </a:t>
            </a:r>
            <a:r>
              <a:rPr lang="en-US" altLang="zh-CN" dirty="0"/>
              <a:t>period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eccentricity,</a:t>
            </a:r>
            <a:r>
              <a:rPr lang="zh-CN" altLang="en-US" dirty="0"/>
              <a:t> </a:t>
            </a:r>
            <a:r>
              <a:rPr lang="en-US" altLang="zh-CN" dirty="0"/>
              <a:t>as</a:t>
            </a:r>
            <a:r>
              <a:rPr lang="zh-CN" altLang="en-US" dirty="0"/>
              <a:t> </a:t>
            </a:r>
            <a:r>
              <a:rPr lang="en-US" altLang="zh-CN" dirty="0"/>
              <a:t>the inner</a:t>
            </a:r>
            <a:r>
              <a:rPr lang="zh-CN" altLang="en-US" dirty="0"/>
              <a:t> </a:t>
            </a:r>
            <a:r>
              <a:rPr lang="en-US" altLang="zh-CN" dirty="0"/>
              <a:t>body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usually</a:t>
            </a:r>
            <a:r>
              <a:rPr lang="zh-CN" altLang="en-US" dirty="0"/>
              <a:t> </a:t>
            </a:r>
            <a:r>
              <a:rPr lang="en-US" altLang="zh-CN" dirty="0"/>
              <a:t>recognized</a:t>
            </a:r>
            <a:r>
              <a:rPr lang="zh-CN" altLang="en-US" dirty="0"/>
              <a:t> </a:t>
            </a:r>
            <a:r>
              <a:rPr lang="en-US" altLang="zh-CN" dirty="0"/>
              <a:t>as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test particle.</a:t>
            </a:r>
            <a:r>
              <a:rPr lang="zh-CN" altLang="en-US" dirty="0"/>
              <a:t> </a:t>
            </a:r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secular</a:t>
            </a:r>
            <a:r>
              <a:rPr lang="zh-CN" altLang="en-US" dirty="0"/>
              <a:t> </a:t>
            </a:r>
            <a:r>
              <a:rPr lang="en-US" altLang="zh-CN" dirty="0"/>
              <a:t>timescale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usually</a:t>
            </a:r>
            <a:r>
              <a:rPr lang="zh-CN" altLang="en-US" dirty="0"/>
              <a:t> </a:t>
            </a:r>
            <a:r>
              <a:rPr lang="en-US" altLang="zh-CN" dirty="0"/>
              <a:t>much</a:t>
            </a:r>
            <a:r>
              <a:rPr lang="zh-CN" altLang="en-US" dirty="0"/>
              <a:t> </a:t>
            </a:r>
            <a:r>
              <a:rPr lang="en-US" altLang="zh-CN" dirty="0"/>
              <a:t>longer</a:t>
            </a:r>
            <a:r>
              <a:rPr lang="zh-CN" altLang="en-US" dirty="0"/>
              <a:t> </a:t>
            </a:r>
            <a:r>
              <a:rPr lang="en-US" altLang="zh-CN" dirty="0"/>
              <a:t>than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inner</a:t>
            </a:r>
            <a:r>
              <a:rPr lang="zh-CN" altLang="en-US" dirty="0"/>
              <a:t> </a:t>
            </a:r>
            <a:r>
              <a:rPr lang="en-US" altLang="zh-CN" dirty="0"/>
              <a:t>body’s</a:t>
            </a:r>
            <a:r>
              <a:rPr lang="zh-CN" altLang="en-US" dirty="0"/>
              <a:t> </a:t>
            </a:r>
            <a:r>
              <a:rPr lang="en-US" altLang="zh-CN" dirty="0"/>
              <a:t>period,</a:t>
            </a:r>
            <a:r>
              <a:rPr lang="zh-CN" altLang="en-US" dirty="0"/>
              <a:t> </a:t>
            </a:r>
            <a:r>
              <a:rPr lang="en-US" altLang="zh-CN" dirty="0"/>
              <a:t>from</a:t>
            </a:r>
            <a:r>
              <a:rPr lang="zh-CN" altLang="en-US" dirty="0"/>
              <a:t> </a:t>
            </a:r>
            <a:r>
              <a:rPr lang="en-US" altLang="zh-CN" dirty="0"/>
              <a:t>thousands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millions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years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different</a:t>
            </a:r>
            <a:r>
              <a:rPr lang="zh-CN" altLang="en-US" dirty="0"/>
              <a:t> </a:t>
            </a:r>
            <a:r>
              <a:rPr lang="en-US" altLang="zh-CN" dirty="0"/>
              <a:t>system</a:t>
            </a:r>
            <a:r>
              <a:rPr lang="zh-CN" altLang="en-US" dirty="0"/>
              <a:t> </a:t>
            </a:r>
            <a:r>
              <a:rPr lang="en-US" altLang="zh-CN" dirty="0"/>
              <a:t>configurations.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B5A071-26D1-7349-BDE2-A02EF9C8BDDE}" type="slidenum">
              <a:rPr lang="en-CN" smtClean="0"/>
              <a:t>5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5706585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After</a:t>
            </a:r>
            <a:r>
              <a:rPr lang="zh-CN" altLang="en-US" dirty="0"/>
              <a:t> </a:t>
            </a:r>
            <a:r>
              <a:rPr lang="en-US" altLang="zh-CN" dirty="0"/>
              <a:t>introducing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background,</a:t>
            </a:r>
            <a:r>
              <a:rPr lang="zh-CN" altLang="en-US" dirty="0"/>
              <a:t> </a:t>
            </a:r>
            <a:r>
              <a:rPr lang="en-US" altLang="zh-CN" dirty="0"/>
              <a:t>I</a:t>
            </a:r>
            <a:r>
              <a:rPr lang="zh-CN" altLang="en-US" dirty="0"/>
              <a:t> </a:t>
            </a:r>
            <a:r>
              <a:rPr lang="en-US" altLang="zh-CN" dirty="0"/>
              <a:t>would</a:t>
            </a:r>
            <a:r>
              <a:rPr lang="zh-CN" altLang="en-US" dirty="0"/>
              <a:t> </a:t>
            </a:r>
            <a:r>
              <a:rPr lang="en-US" altLang="zh-CN" dirty="0"/>
              <a:t>show</a:t>
            </a:r>
            <a:r>
              <a:rPr lang="zh-CN" altLang="en-US" dirty="0"/>
              <a:t> </a:t>
            </a:r>
            <a:r>
              <a:rPr lang="en-US" altLang="zh-CN" dirty="0"/>
              <a:t>some</a:t>
            </a:r>
            <a:r>
              <a:rPr lang="zh-CN" altLang="en-US" dirty="0"/>
              <a:t> </a:t>
            </a:r>
            <a:r>
              <a:rPr lang="en-US" altLang="zh-CN" dirty="0"/>
              <a:t>implications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system</a:t>
            </a:r>
            <a:r>
              <a:rPr lang="zh-CN" altLang="en-US" dirty="0"/>
              <a:t> </a:t>
            </a:r>
            <a:r>
              <a:rPr lang="en-US" altLang="zh-CN" dirty="0"/>
              <a:t>HD</a:t>
            </a:r>
            <a:r>
              <a:rPr lang="zh-CN" altLang="en-US" dirty="0"/>
              <a:t> </a:t>
            </a:r>
            <a:r>
              <a:rPr lang="en-US" altLang="zh-CN" dirty="0"/>
              <a:t>41004.</a:t>
            </a:r>
          </a:p>
          <a:p>
            <a:endParaRPr lang="en-US" dirty="0"/>
          </a:p>
          <a:p>
            <a:r>
              <a:rPr lang="en-US" dirty="0"/>
              <a:t>The HD</a:t>
            </a:r>
            <a:r>
              <a:rPr lang="zh-CN" altLang="en-US" dirty="0"/>
              <a:t> </a:t>
            </a:r>
            <a:r>
              <a:rPr lang="en-US" altLang="zh-CN" dirty="0"/>
              <a:t>41004</a:t>
            </a:r>
            <a:r>
              <a:rPr lang="zh-CN" altLang="en-US" dirty="0"/>
              <a:t> </a:t>
            </a:r>
            <a:r>
              <a:rPr lang="en-US" altLang="zh-CN" dirty="0"/>
              <a:t>system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hierarchical</a:t>
            </a:r>
            <a:r>
              <a:rPr lang="zh-CN" altLang="en-US" dirty="0"/>
              <a:t> </a:t>
            </a:r>
            <a:r>
              <a:rPr lang="en-US" altLang="zh-CN" dirty="0"/>
              <a:t>four-body</a:t>
            </a:r>
            <a:r>
              <a:rPr lang="zh-CN" altLang="en-US" dirty="0"/>
              <a:t> </a:t>
            </a:r>
            <a:r>
              <a:rPr lang="en-US" altLang="zh-CN" dirty="0"/>
              <a:t>system</a:t>
            </a:r>
            <a:r>
              <a:rPr lang="zh-CN" altLang="en-US" dirty="0"/>
              <a:t> </a:t>
            </a:r>
            <a:r>
              <a:rPr lang="en-US" altLang="zh-CN" dirty="0"/>
              <a:t>with</a:t>
            </a:r>
            <a:r>
              <a:rPr lang="zh-CN" altLang="en-US" dirty="0"/>
              <a:t> </a:t>
            </a:r>
            <a:r>
              <a:rPr lang="en-US" altLang="zh-CN" dirty="0"/>
              <a:t>both</a:t>
            </a:r>
            <a:r>
              <a:rPr lang="zh-CN" altLang="en-US" dirty="0"/>
              <a:t> </a:t>
            </a:r>
            <a:r>
              <a:rPr lang="en-US" altLang="zh-CN" dirty="0"/>
              <a:t>planets</a:t>
            </a:r>
            <a:r>
              <a:rPr lang="zh-CN" altLang="en-US" dirty="0"/>
              <a:t> </a:t>
            </a:r>
            <a:r>
              <a:rPr lang="en-US" altLang="zh-CN" dirty="0"/>
              <a:t>orbiting</a:t>
            </a:r>
            <a:r>
              <a:rPr lang="zh-CN" altLang="en-US" dirty="0"/>
              <a:t> </a:t>
            </a:r>
            <a:r>
              <a:rPr lang="en-US" altLang="zh-CN" dirty="0"/>
              <a:t>both</a:t>
            </a:r>
            <a:r>
              <a:rPr lang="zh-CN" altLang="en-US" dirty="0"/>
              <a:t> </a:t>
            </a:r>
            <a:r>
              <a:rPr lang="en-US" altLang="zh-CN" dirty="0"/>
              <a:t>stars.</a:t>
            </a:r>
            <a:r>
              <a:rPr lang="zh-CN" altLang="en-US" dirty="0"/>
              <a:t> </a:t>
            </a:r>
            <a:endParaRPr lang="en-US" altLang="zh-CN" dirty="0"/>
          </a:p>
          <a:p>
            <a:endParaRPr lang="en-US" dirty="0"/>
          </a:p>
          <a:p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left</a:t>
            </a:r>
            <a:r>
              <a:rPr lang="zh-CN" altLang="en-US" dirty="0"/>
              <a:t> </a:t>
            </a:r>
            <a:r>
              <a:rPr lang="en-US" altLang="zh-CN" dirty="0"/>
              <a:t>figure,</a:t>
            </a:r>
            <a:r>
              <a:rPr lang="zh-CN" altLang="en-US" dirty="0"/>
              <a:t> </a:t>
            </a:r>
            <a:r>
              <a:rPr lang="en-US" altLang="zh-CN" dirty="0"/>
              <a:t>I</a:t>
            </a:r>
            <a:r>
              <a:rPr lang="zh-CN" altLang="en-US" dirty="0"/>
              <a:t> </a:t>
            </a:r>
            <a:r>
              <a:rPr lang="en-US" altLang="zh-CN" dirty="0"/>
              <a:t>show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orbital</a:t>
            </a:r>
            <a:r>
              <a:rPr lang="zh-CN" altLang="en-US" dirty="0"/>
              <a:t> </a:t>
            </a:r>
            <a:r>
              <a:rPr lang="en-US" altLang="zh-CN" dirty="0"/>
              <a:t>architecture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system,</a:t>
            </a:r>
            <a:r>
              <a:rPr lang="zh-CN" altLang="en-US" dirty="0"/>
              <a:t> </a:t>
            </a:r>
            <a:r>
              <a:rPr lang="en-US" altLang="zh-CN" dirty="0"/>
              <a:t>as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red</a:t>
            </a:r>
            <a:r>
              <a:rPr lang="zh-CN" altLang="en-US" dirty="0"/>
              <a:t> </a:t>
            </a:r>
            <a:r>
              <a:rPr lang="en-US" altLang="zh-CN" dirty="0"/>
              <a:t>orbit</a:t>
            </a:r>
            <a:r>
              <a:rPr lang="zh-CN" altLang="en-US" dirty="0"/>
              <a:t> </a:t>
            </a:r>
            <a:r>
              <a:rPr lang="en-US" altLang="zh-CN" dirty="0"/>
              <a:t>denotes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companion‘s</a:t>
            </a:r>
            <a:r>
              <a:rPr lang="zh-CN" altLang="en-US" dirty="0"/>
              <a:t> </a:t>
            </a:r>
            <a:r>
              <a:rPr lang="en-US" altLang="zh-CN" dirty="0"/>
              <a:t>orbit.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blue</a:t>
            </a:r>
            <a:r>
              <a:rPr lang="zh-CN" altLang="en-US" dirty="0"/>
              <a:t> </a:t>
            </a:r>
            <a:r>
              <a:rPr lang="en-US" altLang="zh-CN" dirty="0"/>
              <a:t>orbit</a:t>
            </a:r>
            <a:r>
              <a:rPr lang="zh-CN" altLang="en-US" dirty="0"/>
              <a:t> </a:t>
            </a:r>
            <a:r>
              <a:rPr lang="en-US" altLang="zh-CN" dirty="0"/>
              <a:t>denotes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planetary</a:t>
            </a:r>
            <a:r>
              <a:rPr lang="zh-CN" altLang="en-US" dirty="0"/>
              <a:t> </a:t>
            </a:r>
            <a:r>
              <a:rPr lang="en-US" altLang="zh-CN" dirty="0"/>
              <a:t>orbit.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angle</a:t>
            </a:r>
            <a:r>
              <a:rPr lang="zh-CN" altLang="en-US" dirty="0"/>
              <a:t> </a:t>
            </a:r>
            <a:r>
              <a:rPr lang="en-US" altLang="zh-CN" dirty="0"/>
              <a:t>between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orbital</a:t>
            </a:r>
            <a:r>
              <a:rPr lang="zh-CN" altLang="en-US" dirty="0"/>
              <a:t> </a:t>
            </a:r>
            <a:r>
              <a:rPr lang="en-US" altLang="zh-CN" dirty="0"/>
              <a:t>momentum</a:t>
            </a:r>
            <a:r>
              <a:rPr lang="zh-CN" altLang="en-US" dirty="0"/>
              <a:t> </a:t>
            </a:r>
            <a:r>
              <a:rPr lang="en-US" altLang="zh-CN" dirty="0"/>
              <a:t>vector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system’s</a:t>
            </a:r>
            <a:r>
              <a:rPr lang="zh-CN" altLang="en-US" dirty="0"/>
              <a:t> </a:t>
            </a:r>
            <a:r>
              <a:rPr lang="en-US" altLang="zh-CN" dirty="0"/>
              <a:t>mutual</a:t>
            </a:r>
            <a:r>
              <a:rPr lang="zh-CN" altLang="en-US" dirty="0"/>
              <a:t> </a:t>
            </a:r>
            <a:r>
              <a:rPr lang="en-US" altLang="zh-CN" dirty="0"/>
              <a:t>inclination,</a:t>
            </a:r>
            <a:r>
              <a:rPr lang="zh-CN" altLang="en-US" dirty="0"/>
              <a:t> </a:t>
            </a:r>
            <a:r>
              <a:rPr lang="en-US" altLang="zh-CN" dirty="0" err="1"/>
              <a:t>i_initial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an</a:t>
            </a:r>
            <a:r>
              <a:rPr lang="zh-CN" altLang="en-US" dirty="0"/>
              <a:t> </a:t>
            </a:r>
            <a:r>
              <a:rPr lang="en-US" altLang="zh-CN" dirty="0"/>
              <a:t>intrinsic</a:t>
            </a:r>
            <a:r>
              <a:rPr lang="zh-CN" altLang="en-US" dirty="0"/>
              <a:t> </a:t>
            </a:r>
            <a:r>
              <a:rPr lang="en-US" altLang="zh-CN" dirty="0"/>
              <a:t>configuration.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radial</a:t>
            </a:r>
            <a:r>
              <a:rPr lang="zh-CN" altLang="en-US" dirty="0"/>
              <a:t> </a:t>
            </a:r>
            <a:r>
              <a:rPr lang="en-US" altLang="zh-CN" dirty="0"/>
              <a:t>velocity</a:t>
            </a:r>
            <a:r>
              <a:rPr lang="zh-CN" altLang="en-US" dirty="0"/>
              <a:t> </a:t>
            </a:r>
            <a:r>
              <a:rPr lang="en-US" altLang="zh-CN" dirty="0"/>
              <a:t>measurements,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observational</a:t>
            </a:r>
            <a:r>
              <a:rPr lang="zh-CN" altLang="en-US" dirty="0"/>
              <a:t> </a:t>
            </a:r>
            <a:r>
              <a:rPr lang="en-US" altLang="zh-CN" dirty="0"/>
              <a:t>inclinations</a:t>
            </a:r>
            <a:r>
              <a:rPr lang="zh-CN" altLang="en-US" dirty="0"/>
              <a:t> </a:t>
            </a:r>
            <a:r>
              <a:rPr lang="en-US" altLang="zh-CN" dirty="0"/>
              <a:t>are</a:t>
            </a:r>
            <a:r>
              <a:rPr lang="zh-CN" altLang="en-US" dirty="0"/>
              <a:t> </a:t>
            </a:r>
            <a:r>
              <a:rPr lang="en-US" altLang="zh-CN" dirty="0"/>
              <a:t>I_1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I_2,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their</a:t>
            </a:r>
            <a:r>
              <a:rPr lang="zh-CN" altLang="en-US" dirty="0"/>
              <a:t> </a:t>
            </a:r>
            <a:r>
              <a:rPr lang="en-US" altLang="zh-CN" dirty="0"/>
              <a:t>relation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bottom</a:t>
            </a:r>
            <a:r>
              <a:rPr lang="zh-CN" altLang="en-US" dirty="0"/>
              <a:t> </a:t>
            </a:r>
            <a:r>
              <a:rPr lang="en-US" altLang="zh-CN" dirty="0"/>
              <a:t>line.</a:t>
            </a:r>
          </a:p>
          <a:p>
            <a:endParaRPr lang="en-US" altLang="zh-CN" dirty="0"/>
          </a:p>
          <a:p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left</a:t>
            </a:r>
            <a:r>
              <a:rPr lang="zh-CN" altLang="en-US" dirty="0"/>
              <a:t> </a:t>
            </a:r>
            <a:r>
              <a:rPr lang="en-US" altLang="zh-CN" dirty="0"/>
              <a:t>figure,</a:t>
            </a:r>
            <a:r>
              <a:rPr lang="zh-CN" altLang="en-US" dirty="0"/>
              <a:t> </a:t>
            </a:r>
            <a:r>
              <a:rPr lang="en-US" altLang="zh-CN" dirty="0"/>
              <a:t>I</a:t>
            </a:r>
            <a:r>
              <a:rPr lang="zh-CN" altLang="en-US" dirty="0"/>
              <a:t> </a:t>
            </a:r>
            <a:r>
              <a:rPr lang="en-US" altLang="zh-CN" dirty="0"/>
              <a:t>show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system</a:t>
            </a:r>
            <a:r>
              <a:rPr lang="zh-CN" altLang="en-US" dirty="0"/>
              <a:t> </a:t>
            </a:r>
            <a:r>
              <a:rPr lang="en-US" altLang="zh-CN" dirty="0"/>
              <a:t>parameters</a:t>
            </a:r>
            <a:r>
              <a:rPr lang="zh-CN" altLang="en-US" dirty="0"/>
              <a:t> </a:t>
            </a:r>
            <a:r>
              <a:rPr lang="en-US" altLang="zh-CN" dirty="0"/>
              <a:t>from</a:t>
            </a:r>
            <a:r>
              <a:rPr lang="zh-CN" altLang="en-US" dirty="0"/>
              <a:t> </a:t>
            </a:r>
            <a:r>
              <a:rPr lang="en-US" altLang="zh-CN" dirty="0"/>
              <a:t>previous</a:t>
            </a:r>
            <a:r>
              <a:rPr lang="zh-CN" altLang="en-US" dirty="0"/>
              <a:t> </a:t>
            </a:r>
            <a:r>
              <a:rPr lang="en-US" altLang="zh-CN" dirty="0"/>
              <a:t>RV</a:t>
            </a:r>
            <a:r>
              <a:rPr lang="zh-CN" altLang="en-US" dirty="0"/>
              <a:t> </a:t>
            </a:r>
            <a:r>
              <a:rPr lang="en-US" altLang="zh-CN" dirty="0"/>
              <a:t>observations.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star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about</a:t>
            </a:r>
            <a:r>
              <a:rPr lang="zh-CN" altLang="en-US" dirty="0"/>
              <a:t> </a:t>
            </a:r>
            <a:r>
              <a:rPr lang="en-US" altLang="zh-CN" dirty="0"/>
              <a:t>0.7</a:t>
            </a:r>
            <a:r>
              <a:rPr lang="zh-CN" altLang="en-US" dirty="0"/>
              <a:t> </a:t>
            </a:r>
            <a:r>
              <a:rPr lang="en-US" altLang="zh-CN" dirty="0"/>
              <a:t>solar</a:t>
            </a:r>
            <a:r>
              <a:rPr lang="zh-CN" altLang="en-US" dirty="0"/>
              <a:t> </a:t>
            </a:r>
            <a:r>
              <a:rPr lang="en-US" altLang="zh-CN" dirty="0"/>
              <a:t>mass,</a:t>
            </a:r>
            <a:r>
              <a:rPr lang="zh-CN" altLang="en-US" dirty="0"/>
              <a:t> </a:t>
            </a:r>
            <a:r>
              <a:rPr lang="en-US" altLang="zh-CN" dirty="0"/>
              <a:t>with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planet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2.6M_J's</a:t>
            </a:r>
            <a:r>
              <a:rPr lang="zh-CN" altLang="en-US" dirty="0"/>
              <a:t> </a:t>
            </a:r>
            <a:r>
              <a:rPr lang="en-US" altLang="zh-CN" dirty="0"/>
              <a:t>minimum</a:t>
            </a:r>
            <a:r>
              <a:rPr lang="zh-CN" altLang="en-US" dirty="0"/>
              <a:t> </a:t>
            </a:r>
            <a:r>
              <a:rPr lang="en-US" altLang="zh-CN" dirty="0"/>
              <a:t>mass.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planet</a:t>
            </a:r>
            <a:r>
              <a:rPr lang="zh-CN" altLang="en-US" dirty="0"/>
              <a:t> </a:t>
            </a:r>
            <a:r>
              <a:rPr lang="en-US" altLang="zh-CN" dirty="0"/>
              <a:t>orbits</a:t>
            </a:r>
            <a:r>
              <a:rPr lang="zh-CN" altLang="en-US" dirty="0"/>
              <a:t> </a:t>
            </a:r>
            <a:r>
              <a:rPr lang="en-US" altLang="zh-CN" dirty="0"/>
              <a:t>Star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1.7</a:t>
            </a:r>
            <a:r>
              <a:rPr lang="zh-CN" altLang="en-US" dirty="0"/>
              <a:t> </a:t>
            </a:r>
            <a:r>
              <a:rPr lang="en-US" altLang="zh-CN" dirty="0"/>
              <a:t>AU</a:t>
            </a:r>
            <a:r>
              <a:rPr lang="zh-CN" altLang="en-US" dirty="0"/>
              <a:t> </a:t>
            </a:r>
            <a:r>
              <a:rPr lang="en-US" altLang="zh-CN" dirty="0"/>
              <a:t>with</a:t>
            </a:r>
            <a:r>
              <a:rPr lang="zh-CN" altLang="en-US" dirty="0"/>
              <a:t> </a:t>
            </a:r>
            <a:r>
              <a:rPr lang="en-US" altLang="zh-CN" dirty="0"/>
              <a:t>0.74</a:t>
            </a:r>
            <a:r>
              <a:rPr lang="zh-CN" altLang="en-US" dirty="0"/>
              <a:t> </a:t>
            </a:r>
            <a:r>
              <a:rPr lang="en-US" altLang="zh-CN" dirty="0"/>
              <a:t>eccentricity,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binary</a:t>
            </a:r>
            <a:r>
              <a:rPr lang="zh-CN" altLang="en-US" dirty="0"/>
              <a:t> </a:t>
            </a:r>
            <a:r>
              <a:rPr lang="en-US" altLang="zh-CN" dirty="0"/>
              <a:t>companion,</a:t>
            </a:r>
            <a:r>
              <a:rPr lang="zh-CN" altLang="en-US" dirty="0"/>
              <a:t> </a:t>
            </a:r>
            <a:r>
              <a:rPr lang="en-US" altLang="zh-CN" dirty="0"/>
              <a:t>0.4</a:t>
            </a:r>
            <a:r>
              <a:rPr lang="zh-CN" altLang="en-US" dirty="0"/>
              <a:t> </a:t>
            </a:r>
            <a:r>
              <a:rPr lang="en-US" altLang="zh-CN" dirty="0"/>
              <a:t>solar</a:t>
            </a:r>
            <a:r>
              <a:rPr lang="zh-CN" altLang="en-US" dirty="0"/>
              <a:t> </a:t>
            </a:r>
            <a:r>
              <a:rPr lang="en-US" altLang="zh-CN" dirty="0"/>
              <a:t>mass,</a:t>
            </a:r>
            <a:r>
              <a:rPr lang="zh-CN" altLang="en-US" dirty="0"/>
              <a:t> 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at</a:t>
            </a:r>
            <a:r>
              <a:rPr lang="zh-CN" altLang="en-US" dirty="0"/>
              <a:t> </a:t>
            </a:r>
            <a:r>
              <a:rPr lang="en-US" altLang="zh-CN" dirty="0"/>
              <a:t>approximately</a:t>
            </a:r>
            <a:r>
              <a:rPr lang="zh-CN" altLang="en-US" dirty="0"/>
              <a:t> </a:t>
            </a:r>
            <a:r>
              <a:rPr lang="en-US" altLang="zh-CN" dirty="0"/>
              <a:t>22</a:t>
            </a:r>
            <a:r>
              <a:rPr lang="zh-CN" altLang="en-US" dirty="0"/>
              <a:t> </a:t>
            </a:r>
            <a:r>
              <a:rPr lang="en-US" altLang="zh-CN" dirty="0"/>
              <a:t>AU's</a:t>
            </a:r>
            <a:r>
              <a:rPr lang="zh-CN" altLang="en-US" dirty="0"/>
              <a:t> </a:t>
            </a:r>
            <a:r>
              <a:rPr lang="en-US" altLang="zh-CN" dirty="0"/>
              <a:t>projected</a:t>
            </a:r>
            <a:r>
              <a:rPr lang="zh-CN" altLang="en-US" dirty="0"/>
              <a:t> </a:t>
            </a:r>
            <a:r>
              <a:rPr lang="en-US" altLang="zh-CN" dirty="0"/>
              <a:t>separation.</a:t>
            </a:r>
            <a:r>
              <a:rPr lang="zh-CN" altLang="en-US" dirty="0"/>
              <a:t> 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our</a:t>
            </a:r>
            <a:r>
              <a:rPr lang="zh-CN" altLang="en-US" dirty="0"/>
              <a:t> </a:t>
            </a:r>
            <a:r>
              <a:rPr lang="en-US" altLang="zh-CN" dirty="0"/>
              <a:t>simulations,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simplify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B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Bb</a:t>
            </a:r>
            <a:r>
              <a:rPr lang="zh-CN" altLang="en-US" dirty="0"/>
              <a:t> </a:t>
            </a:r>
            <a:r>
              <a:rPr lang="en-US" altLang="zh-CN" dirty="0"/>
              <a:t>into</a:t>
            </a:r>
            <a:r>
              <a:rPr lang="zh-CN" altLang="en-US" dirty="0"/>
              <a:t> </a:t>
            </a:r>
            <a:r>
              <a:rPr lang="en-US" altLang="zh-CN" dirty="0"/>
              <a:t>one</a:t>
            </a:r>
            <a:r>
              <a:rPr lang="zh-CN" altLang="en-US" dirty="0"/>
              <a:t> </a:t>
            </a:r>
            <a:r>
              <a:rPr lang="en-US" altLang="zh-CN" dirty="0"/>
              <a:t>body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use</a:t>
            </a:r>
            <a:r>
              <a:rPr lang="zh-CN" altLang="en-US" dirty="0"/>
              <a:t> </a:t>
            </a:r>
            <a:r>
              <a:rPr lang="en-US" altLang="zh-CN" dirty="0"/>
              <a:t>unrestricted</a:t>
            </a:r>
            <a:r>
              <a:rPr lang="zh-CN" altLang="en-US" dirty="0"/>
              <a:t> </a:t>
            </a:r>
            <a:r>
              <a:rPr lang="en-US" altLang="zh-CN" dirty="0"/>
              <a:t>three-body</a:t>
            </a:r>
            <a:r>
              <a:rPr lang="zh-CN" altLang="en-US" dirty="0"/>
              <a:t> </a:t>
            </a:r>
            <a:r>
              <a:rPr lang="en-US" altLang="zh-CN" dirty="0"/>
              <a:t>simulations</a:t>
            </a:r>
            <a:r>
              <a:rPr lang="zh-CN" altLang="en-US" dirty="0"/>
              <a:t> </a:t>
            </a:r>
            <a:r>
              <a:rPr lang="en-US" altLang="zh-CN" dirty="0"/>
              <a:t>with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mass-inclination</a:t>
            </a:r>
            <a:r>
              <a:rPr lang="zh-CN" altLang="en-US" dirty="0"/>
              <a:t> </a:t>
            </a:r>
            <a:r>
              <a:rPr lang="en-US" altLang="zh-CN" dirty="0"/>
              <a:t>degeneracy</a:t>
            </a:r>
            <a:r>
              <a:rPr lang="zh-CN" altLang="en-US" dirty="0"/>
              <a:t> </a:t>
            </a:r>
            <a:r>
              <a:rPr lang="en-US" altLang="zh-CN" dirty="0"/>
              <a:t>inherent</a:t>
            </a:r>
            <a:r>
              <a:rPr lang="zh-CN" altLang="en-US" dirty="0"/>
              <a:t> </a:t>
            </a:r>
            <a:r>
              <a:rPr lang="en-US" altLang="zh-CN" dirty="0"/>
              <a:t>RV</a:t>
            </a:r>
            <a:r>
              <a:rPr lang="zh-CN" altLang="en-US" dirty="0"/>
              <a:t> </a:t>
            </a:r>
            <a:r>
              <a:rPr lang="en-US" altLang="zh-CN" dirty="0"/>
              <a:t>measurements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assess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orbital</a:t>
            </a:r>
            <a:r>
              <a:rPr lang="zh-CN" altLang="en-US" dirty="0"/>
              <a:t> </a:t>
            </a:r>
            <a:r>
              <a:rPr lang="en-US" altLang="zh-CN" dirty="0"/>
              <a:t>stability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different</a:t>
            </a:r>
            <a:r>
              <a:rPr lang="zh-CN" altLang="en-US" dirty="0"/>
              <a:t> </a:t>
            </a:r>
            <a:r>
              <a:rPr lang="en-US" altLang="zh-CN" dirty="0"/>
              <a:t>system</a:t>
            </a:r>
            <a:r>
              <a:rPr lang="zh-CN" altLang="en-US" dirty="0"/>
              <a:t> </a:t>
            </a:r>
            <a:r>
              <a:rPr lang="en-US" altLang="zh-CN" dirty="0"/>
              <a:t>configurations.</a:t>
            </a:r>
            <a:r>
              <a:rPr lang="zh-CN" altLang="en-US" dirty="0"/>
              <a:t> </a:t>
            </a:r>
            <a:endParaRPr lang="en-US" altLang="zh-CN" dirty="0"/>
          </a:p>
          <a:p>
            <a:endParaRPr lang="en-US" dirty="0"/>
          </a:p>
          <a:p>
            <a:r>
              <a:rPr lang="en-US" altLang="zh-CN" dirty="0"/>
              <a:t>Because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short</a:t>
            </a:r>
            <a:r>
              <a:rPr lang="zh-CN" altLang="en-US" dirty="0"/>
              <a:t> </a:t>
            </a:r>
            <a:r>
              <a:rPr lang="en-US" altLang="zh-CN" dirty="0"/>
              <a:t>observational</a:t>
            </a:r>
            <a:r>
              <a:rPr lang="zh-CN" altLang="en-US" dirty="0"/>
              <a:t> </a:t>
            </a:r>
            <a:r>
              <a:rPr lang="en-US" altLang="zh-CN" dirty="0"/>
              <a:t>baseline,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orbit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star</a:t>
            </a:r>
            <a:r>
              <a:rPr lang="zh-CN" altLang="en-US" dirty="0"/>
              <a:t> </a:t>
            </a:r>
            <a:r>
              <a:rPr lang="en-US" altLang="zh-CN" dirty="0"/>
              <a:t>B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poorly</a:t>
            </a:r>
            <a:r>
              <a:rPr lang="zh-CN" altLang="en-US" dirty="0"/>
              <a:t> </a:t>
            </a:r>
            <a:r>
              <a:rPr lang="en-US" altLang="zh-CN" dirty="0"/>
              <a:t>constrained.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better</a:t>
            </a:r>
            <a:r>
              <a:rPr lang="zh-CN" altLang="en-US" dirty="0"/>
              <a:t> </a:t>
            </a:r>
            <a:r>
              <a:rPr lang="en-US" altLang="zh-CN" dirty="0"/>
              <a:t>characterize</a:t>
            </a:r>
            <a:r>
              <a:rPr lang="zh-CN" altLang="en-US" dirty="0"/>
              <a:t> </a:t>
            </a:r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system,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vary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observational</a:t>
            </a:r>
            <a:r>
              <a:rPr lang="zh-CN" altLang="en-US" dirty="0"/>
              <a:t> </a:t>
            </a:r>
            <a:r>
              <a:rPr lang="en-US" altLang="zh-CN" dirty="0"/>
              <a:t>inclination</a:t>
            </a:r>
            <a:r>
              <a:rPr lang="zh-CN" altLang="en-US" dirty="0"/>
              <a:t> </a:t>
            </a:r>
            <a:r>
              <a:rPr lang="en-US" altLang="zh-CN" dirty="0"/>
              <a:t>I_2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three</a:t>
            </a:r>
            <a:r>
              <a:rPr lang="zh-CN" altLang="en-US" dirty="0"/>
              <a:t> </a:t>
            </a:r>
            <a:r>
              <a:rPr lang="en-US" altLang="zh-CN" dirty="0"/>
              <a:t>representative</a:t>
            </a:r>
            <a:r>
              <a:rPr lang="zh-CN" altLang="en-US" dirty="0"/>
              <a:t> </a:t>
            </a:r>
            <a:r>
              <a:rPr lang="en-US" altLang="zh-CN" dirty="0"/>
              <a:t>values,</a:t>
            </a:r>
            <a:r>
              <a:rPr lang="zh-CN" altLang="en-US" dirty="0"/>
              <a:t> </a:t>
            </a:r>
            <a:r>
              <a:rPr lang="en-US" altLang="zh-CN" dirty="0"/>
              <a:t>0,</a:t>
            </a:r>
            <a:r>
              <a:rPr lang="zh-CN" altLang="en-US" dirty="0"/>
              <a:t> </a:t>
            </a:r>
            <a:r>
              <a:rPr lang="en-US" altLang="zh-CN" dirty="0"/>
              <a:t>45,</a:t>
            </a:r>
            <a:r>
              <a:rPr lang="zh-CN" altLang="en-US" dirty="0"/>
              <a:t> </a:t>
            </a:r>
            <a:r>
              <a:rPr lang="en-US" altLang="zh-CN" dirty="0"/>
              <a:t>and 90</a:t>
            </a:r>
            <a:r>
              <a:rPr lang="zh-CN" altLang="en-US" dirty="0"/>
              <a:t> </a:t>
            </a:r>
            <a:r>
              <a:rPr lang="en-US" altLang="zh-CN" dirty="0"/>
              <a:t>degrees,</a:t>
            </a:r>
            <a:r>
              <a:rPr lang="zh-CN" altLang="en-US" dirty="0"/>
              <a:t> </a:t>
            </a:r>
            <a:r>
              <a:rPr lang="en-US" altLang="zh-CN" dirty="0"/>
              <a:t>from</a:t>
            </a:r>
            <a:r>
              <a:rPr lang="zh-CN" altLang="en-US" dirty="0"/>
              <a:t> </a:t>
            </a:r>
            <a:r>
              <a:rPr lang="en-US" altLang="zh-CN" dirty="0"/>
              <a:t>edge-on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face-on,</a:t>
            </a:r>
            <a:r>
              <a:rPr lang="zh-CN" altLang="en-US" dirty="0"/>
              <a:t> </a:t>
            </a:r>
            <a:r>
              <a:rPr lang="en-US" altLang="zh-CN" dirty="0"/>
              <a:t>and also</a:t>
            </a:r>
            <a:r>
              <a:rPr lang="zh-CN" altLang="en-US" dirty="0"/>
              <a:t> </a:t>
            </a:r>
            <a:r>
              <a:rPr lang="en-US" altLang="zh-CN" dirty="0"/>
              <a:t>vary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eccentricity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B</a:t>
            </a:r>
            <a:r>
              <a:rPr lang="zh-CN" altLang="en-US" dirty="0"/>
              <a:t> </a:t>
            </a:r>
            <a:r>
              <a:rPr lang="en-US" altLang="zh-CN" dirty="0"/>
              <a:t>(e_2)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run</a:t>
            </a:r>
            <a:r>
              <a:rPr lang="zh-CN" altLang="en-US" dirty="0"/>
              <a:t> </a:t>
            </a:r>
            <a:r>
              <a:rPr lang="en-US" altLang="zh-CN" dirty="0"/>
              <a:t>stability</a:t>
            </a:r>
            <a:r>
              <a:rPr lang="zh-CN" altLang="en-US" dirty="0"/>
              <a:t> </a:t>
            </a:r>
            <a:r>
              <a:rPr lang="en-US" altLang="zh-CN" dirty="0"/>
              <a:t>tests.</a:t>
            </a:r>
            <a:r>
              <a:rPr lang="zh-CN" altLang="en-US" dirty="0"/>
              <a:t> </a:t>
            </a:r>
            <a:r>
              <a:rPr lang="en-US" altLang="zh-CN" dirty="0"/>
              <a:t>Because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planet</a:t>
            </a:r>
            <a:r>
              <a:rPr lang="zh-CN" altLang="en-US" dirty="0"/>
              <a:t> </a:t>
            </a:r>
            <a:r>
              <a:rPr lang="en-US" altLang="zh-CN" dirty="0"/>
              <a:t>must</a:t>
            </a:r>
            <a:r>
              <a:rPr lang="zh-CN" altLang="en-US" dirty="0"/>
              <a:t> </a:t>
            </a:r>
            <a:r>
              <a:rPr lang="en-US" altLang="zh-CN" dirty="0"/>
              <a:t>be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stable</a:t>
            </a:r>
            <a:r>
              <a:rPr lang="zh-CN" altLang="en-US" dirty="0"/>
              <a:t> </a:t>
            </a:r>
            <a:r>
              <a:rPr lang="en-US" altLang="zh-CN" dirty="0"/>
              <a:t>orbits</a:t>
            </a:r>
            <a:r>
              <a:rPr lang="zh-CN" altLang="en-US" dirty="0"/>
              <a:t> </a:t>
            </a:r>
            <a:r>
              <a:rPr lang="en-US" altLang="zh-CN" dirty="0"/>
              <a:t>even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inclined</a:t>
            </a:r>
            <a:r>
              <a:rPr lang="zh-CN" altLang="en-US" dirty="0"/>
              <a:t> </a:t>
            </a:r>
            <a:r>
              <a:rPr lang="en-US" altLang="zh-CN" dirty="0"/>
              <a:t>configurations</a:t>
            </a:r>
            <a:r>
              <a:rPr lang="zh-CN" altLang="en-US" dirty="0"/>
              <a:t> </a:t>
            </a:r>
            <a:r>
              <a:rPr lang="en-US" altLang="zh-CN" dirty="0"/>
              <a:t>at</a:t>
            </a:r>
            <a:r>
              <a:rPr lang="zh-CN" altLang="en-US" dirty="0"/>
              <a:t> </a:t>
            </a:r>
            <a:r>
              <a:rPr lang="en-US" altLang="zh-CN" dirty="0"/>
              <a:t>first.</a:t>
            </a:r>
            <a:r>
              <a:rPr lang="zh-CN" altLang="en-US" dirty="0"/>
              <a:t>  </a:t>
            </a:r>
            <a:r>
              <a:rPr lang="en-US" altLang="zh-CN" dirty="0"/>
              <a:t>As</a:t>
            </a:r>
            <a:r>
              <a:rPr lang="zh-CN" altLang="en-US" dirty="0"/>
              <a:t> </a:t>
            </a:r>
            <a:r>
              <a:rPr lang="en-US" altLang="zh-CN" dirty="0"/>
              <a:t>I</a:t>
            </a:r>
            <a:r>
              <a:rPr lang="zh-CN" altLang="en-US" dirty="0"/>
              <a:t> </a:t>
            </a:r>
            <a:r>
              <a:rPr lang="en-US" altLang="zh-CN" dirty="0"/>
              <a:t>show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right</a:t>
            </a:r>
            <a:r>
              <a:rPr lang="zh-CN" altLang="en-US" dirty="0"/>
              <a:t> </a:t>
            </a:r>
            <a:r>
              <a:rPr lang="en-US" altLang="zh-CN" dirty="0"/>
              <a:t>figure,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consider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varied</a:t>
            </a:r>
            <a:r>
              <a:rPr lang="zh-CN" altLang="en-US" dirty="0"/>
              <a:t> </a:t>
            </a:r>
            <a:r>
              <a:rPr lang="en-US" altLang="zh-CN" dirty="0"/>
              <a:t>range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possible</a:t>
            </a:r>
            <a:r>
              <a:rPr lang="zh-CN" altLang="en-US" dirty="0"/>
              <a:t> </a:t>
            </a:r>
            <a:r>
              <a:rPr lang="en-US" altLang="zh-CN" dirty="0"/>
              <a:t>orbits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B,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full</a:t>
            </a:r>
            <a:r>
              <a:rPr lang="zh-CN" altLang="en-US" dirty="0"/>
              <a:t> </a:t>
            </a:r>
            <a:r>
              <a:rPr lang="en-US" altLang="zh-CN" dirty="0"/>
              <a:t>set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stability</a:t>
            </a:r>
            <a:r>
              <a:rPr lang="zh-CN" altLang="en-US" dirty="0"/>
              <a:t> </a:t>
            </a:r>
            <a:r>
              <a:rPr lang="en-US" altLang="zh-CN" dirty="0"/>
              <a:t>simulations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right</a:t>
            </a:r>
            <a:r>
              <a:rPr lang="zh-CN" altLang="en-US" dirty="0"/>
              <a:t> </a:t>
            </a:r>
            <a:r>
              <a:rPr lang="en-US" altLang="zh-CN" dirty="0"/>
              <a:t>table.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B5A071-26D1-7349-BDE2-A02EF9C8BDDE}" type="slidenum">
              <a:rPr lang="en-CN" smtClean="0"/>
              <a:t>6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497608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So</a:t>
            </a:r>
            <a:r>
              <a:rPr lang="zh-CN" altLang="en-US" dirty="0"/>
              <a:t> </a:t>
            </a:r>
            <a:r>
              <a:rPr lang="en-US" altLang="zh-CN" dirty="0"/>
              <a:t>our</a:t>
            </a:r>
            <a:r>
              <a:rPr lang="zh-CN" altLang="en-US" dirty="0"/>
              <a:t> </a:t>
            </a:r>
            <a:r>
              <a:rPr lang="en-US" altLang="zh-CN" dirty="0"/>
              <a:t>primary</a:t>
            </a:r>
            <a:r>
              <a:rPr lang="zh-CN" altLang="en-US" dirty="0"/>
              <a:t> </a:t>
            </a:r>
            <a:r>
              <a:rPr lang="en-US" altLang="zh-CN" dirty="0"/>
              <a:t>question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whether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 err="1"/>
              <a:t>vZLK</a:t>
            </a:r>
            <a:r>
              <a:rPr lang="zh-CN" altLang="en-US" dirty="0"/>
              <a:t> </a:t>
            </a:r>
            <a:r>
              <a:rPr lang="en-US" altLang="zh-CN" dirty="0"/>
              <a:t>mechanism</a:t>
            </a:r>
            <a:r>
              <a:rPr lang="zh-CN" altLang="en-US" dirty="0"/>
              <a:t> </a:t>
            </a:r>
            <a:r>
              <a:rPr lang="en-US" altLang="zh-CN" dirty="0"/>
              <a:t>could</a:t>
            </a:r>
            <a:r>
              <a:rPr lang="zh-CN" altLang="en-US" dirty="0"/>
              <a:t> </a:t>
            </a:r>
            <a:r>
              <a:rPr lang="en-US" altLang="zh-CN" dirty="0"/>
              <a:t>be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real</a:t>
            </a:r>
            <a:r>
              <a:rPr lang="zh-CN" altLang="en-US" dirty="0"/>
              <a:t> </a:t>
            </a:r>
            <a:r>
              <a:rPr lang="en-US" altLang="zh-CN" dirty="0"/>
              <a:t>planetary</a:t>
            </a:r>
            <a:r>
              <a:rPr lang="zh-CN" altLang="en-US" dirty="0"/>
              <a:t> </a:t>
            </a:r>
            <a:r>
              <a:rPr lang="en-US" altLang="zh-CN" dirty="0"/>
              <a:t>systems,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how</a:t>
            </a:r>
            <a:r>
              <a:rPr lang="zh-CN" altLang="en-US" dirty="0"/>
              <a:t> </a:t>
            </a:r>
            <a:r>
              <a:rPr lang="en-US" altLang="zh-CN" dirty="0"/>
              <a:t>it</a:t>
            </a:r>
            <a:r>
              <a:rPr lang="zh-CN" altLang="en-US" dirty="0"/>
              <a:t> </a:t>
            </a:r>
            <a:r>
              <a:rPr lang="en-US" altLang="zh-CN" dirty="0"/>
              <a:t>would</a:t>
            </a:r>
            <a:r>
              <a:rPr lang="zh-CN" altLang="en-US" dirty="0"/>
              <a:t> </a:t>
            </a:r>
            <a:r>
              <a:rPr lang="en-US" altLang="zh-CN" dirty="0"/>
              <a:t>affect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radial</a:t>
            </a:r>
            <a:r>
              <a:rPr lang="zh-CN" altLang="en-US" dirty="0"/>
              <a:t> </a:t>
            </a:r>
            <a:r>
              <a:rPr lang="en-US" altLang="zh-CN" dirty="0"/>
              <a:t>velocity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planet.</a:t>
            </a:r>
            <a:r>
              <a:rPr lang="zh-CN" altLang="en-US" dirty="0"/>
              <a:t> </a:t>
            </a:r>
            <a:r>
              <a:rPr lang="en-US" altLang="zh-CN" dirty="0"/>
              <a:t>Then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following</a:t>
            </a:r>
            <a:r>
              <a:rPr lang="zh-CN" altLang="en-US" dirty="0"/>
              <a:t> </a:t>
            </a:r>
            <a:r>
              <a:rPr lang="en-US" altLang="zh-CN" dirty="0"/>
              <a:t>question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/>
              <a:t>can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system</a:t>
            </a:r>
            <a:r>
              <a:rPr lang="zh-CN" altLang="en-US" dirty="0"/>
              <a:t> </a:t>
            </a:r>
            <a:r>
              <a:rPr lang="en-US" altLang="zh-CN" dirty="0"/>
              <a:t>be</a:t>
            </a:r>
            <a:r>
              <a:rPr lang="zh-CN" altLang="en-US" dirty="0"/>
              <a:t> </a:t>
            </a:r>
            <a:r>
              <a:rPr lang="en-US" altLang="zh-CN" dirty="0"/>
              <a:t>misaligned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stable?</a:t>
            </a:r>
          </a:p>
          <a:p>
            <a:endParaRPr lang="en-US" altLang="zh-CN" dirty="0"/>
          </a:p>
          <a:p>
            <a:r>
              <a:rPr lang="en-US" altLang="zh-CN" dirty="0"/>
              <a:t>Following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parameters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derived,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use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MEGNO</a:t>
            </a:r>
            <a:r>
              <a:rPr lang="zh-CN" altLang="en-US" dirty="0"/>
              <a:t> </a:t>
            </a:r>
            <a:r>
              <a:rPr lang="en-US" altLang="zh-CN" dirty="0"/>
              <a:t>chaos</a:t>
            </a:r>
            <a:r>
              <a:rPr lang="zh-CN" altLang="en-US" dirty="0"/>
              <a:t> </a:t>
            </a:r>
            <a:r>
              <a:rPr lang="en-US" altLang="zh-CN" dirty="0"/>
              <a:t>indicator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identify</a:t>
            </a:r>
            <a:r>
              <a:rPr lang="zh-CN" altLang="en-US" dirty="0"/>
              <a:t> </a:t>
            </a:r>
            <a:r>
              <a:rPr lang="en-US" altLang="zh-CN" dirty="0"/>
              <a:t>unstable</a:t>
            </a:r>
            <a:r>
              <a:rPr lang="zh-CN" altLang="en-US" dirty="0"/>
              <a:t> </a:t>
            </a:r>
            <a:r>
              <a:rPr lang="en-US" altLang="zh-CN" dirty="0"/>
              <a:t>regions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different</a:t>
            </a:r>
            <a:r>
              <a:rPr lang="zh-CN" altLang="en-US" dirty="0"/>
              <a:t> </a:t>
            </a:r>
            <a:r>
              <a:rPr lang="en-US" altLang="zh-CN" dirty="0"/>
              <a:t>observational</a:t>
            </a:r>
            <a:r>
              <a:rPr lang="zh-CN" altLang="en-US" dirty="0"/>
              <a:t> </a:t>
            </a:r>
            <a:r>
              <a:rPr lang="en-US" altLang="zh-CN" dirty="0"/>
              <a:t>inclination</a:t>
            </a:r>
            <a:r>
              <a:rPr lang="zh-CN" altLang="en-US" dirty="0"/>
              <a:t> </a:t>
            </a:r>
            <a:r>
              <a:rPr lang="en-US" altLang="zh-CN" dirty="0"/>
              <a:t>I_2,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binary’s</a:t>
            </a:r>
            <a:r>
              <a:rPr lang="zh-CN" altLang="en-US" dirty="0"/>
              <a:t> </a:t>
            </a:r>
            <a:r>
              <a:rPr lang="en-US" altLang="zh-CN" dirty="0"/>
              <a:t>eccentricity</a:t>
            </a:r>
            <a:r>
              <a:rPr lang="zh-CN" altLang="en-US" dirty="0"/>
              <a:t> </a:t>
            </a:r>
            <a:r>
              <a:rPr lang="en-US" altLang="zh-CN" dirty="0"/>
              <a:t>e_2,</a:t>
            </a:r>
            <a:r>
              <a:rPr lang="zh-CN" altLang="en-US" dirty="0"/>
              <a:t> </a:t>
            </a:r>
            <a:r>
              <a:rPr lang="en-US" altLang="zh-CN" dirty="0"/>
              <a:t>varying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mutual</a:t>
            </a:r>
            <a:r>
              <a:rPr lang="zh-CN" altLang="en-US" dirty="0"/>
              <a:t> </a:t>
            </a:r>
            <a:r>
              <a:rPr lang="en-US" altLang="zh-CN" dirty="0"/>
              <a:t>inclination</a:t>
            </a:r>
            <a:r>
              <a:rPr lang="zh-CN" altLang="en-US" dirty="0"/>
              <a:t> </a:t>
            </a:r>
            <a:r>
              <a:rPr lang="en-US" altLang="zh-CN" dirty="0" err="1"/>
              <a:t>i_initial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the binary’s</a:t>
            </a:r>
            <a:r>
              <a:rPr lang="zh-CN" altLang="en-US" dirty="0"/>
              <a:t> </a:t>
            </a:r>
            <a:r>
              <a:rPr lang="en-US" altLang="zh-CN" dirty="0"/>
              <a:t>semi-major</a:t>
            </a:r>
            <a:r>
              <a:rPr lang="zh-CN" altLang="en-US" dirty="0"/>
              <a:t> </a:t>
            </a:r>
            <a:r>
              <a:rPr lang="en-US" altLang="zh-CN" dirty="0"/>
              <a:t>axis</a:t>
            </a:r>
            <a:r>
              <a:rPr lang="zh-CN" altLang="en-US" dirty="0"/>
              <a:t> </a:t>
            </a:r>
            <a:r>
              <a:rPr lang="en-US" altLang="zh-CN" dirty="0"/>
              <a:t>a_2.</a:t>
            </a:r>
            <a:r>
              <a:rPr lang="zh-CN" altLang="en-US" dirty="0"/>
              <a:t> </a:t>
            </a:r>
            <a:r>
              <a:rPr lang="en-US" altLang="zh-CN" dirty="0"/>
              <a:t>Because</a:t>
            </a:r>
            <a:r>
              <a:rPr lang="zh-CN" altLang="en-US" dirty="0"/>
              <a:t> </a:t>
            </a:r>
            <a:r>
              <a:rPr lang="en-US" altLang="zh-CN" dirty="0"/>
              <a:t>there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mass-inclination</a:t>
            </a:r>
            <a:r>
              <a:rPr lang="zh-CN" altLang="en-US" dirty="0"/>
              <a:t> </a:t>
            </a:r>
            <a:r>
              <a:rPr lang="en-US" altLang="zh-CN" dirty="0"/>
              <a:t>degeneracy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radial</a:t>
            </a:r>
            <a:r>
              <a:rPr lang="zh-CN" altLang="en-US" dirty="0"/>
              <a:t> </a:t>
            </a:r>
            <a:r>
              <a:rPr lang="en-US" altLang="zh-CN" dirty="0"/>
              <a:t>velocity</a:t>
            </a:r>
            <a:r>
              <a:rPr lang="zh-CN" altLang="en-US" dirty="0"/>
              <a:t> </a:t>
            </a:r>
            <a:r>
              <a:rPr lang="en-US" altLang="zh-CN" dirty="0"/>
              <a:t>measurements,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derive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I_1</a:t>
            </a:r>
            <a:r>
              <a:rPr lang="zh-CN" altLang="en-US" dirty="0"/>
              <a:t> </a:t>
            </a:r>
            <a:r>
              <a:rPr lang="en-US" altLang="zh-CN" dirty="0"/>
              <a:t>from</a:t>
            </a:r>
            <a:r>
              <a:rPr lang="zh-CN" altLang="en-US" dirty="0"/>
              <a:t> </a:t>
            </a:r>
            <a:r>
              <a:rPr lang="en-US" altLang="zh-CN" dirty="0"/>
              <a:t>mutual</a:t>
            </a:r>
            <a:r>
              <a:rPr lang="zh-CN" altLang="en-US" dirty="0"/>
              <a:t> </a:t>
            </a:r>
            <a:r>
              <a:rPr lang="en-US" altLang="zh-CN" dirty="0"/>
              <a:t>inclination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I_2</a:t>
            </a:r>
            <a:r>
              <a:rPr lang="zh-CN" altLang="en-US" dirty="0"/>
              <a:t> </a:t>
            </a:r>
            <a:r>
              <a:rPr lang="en-US" altLang="zh-CN" dirty="0"/>
              <a:t>from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previous</a:t>
            </a:r>
            <a:r>
              <a:rPr lang="zh-CN" altLang="en-US" dirty="0"/>
              <a:t> </a:t>
            </a:r>
            <a:r>
              <a:rPr lang="en-US" altLang="zh-CN" dirty="0"/>
              <a:t>equation</a:t>
            </a:r>
            <a:r>
              <a:rPr lang="zh-CN" altLang="en-US" dirty="0"/>
              <a:t> </a:t>
            </a:r>
            <a:r>
              <a:rPr lang="en-US" altLang="zh-CN" dirty="0"/>
              <a:t>I</a:t>
            </a:r>
            <a:r>
              <a:rPr lang="zh-CN" altLang="en-US" dirty="0"/>
              <a:t> </a:t>
            </a:r>
            <a:r>
              <a:rPr lang="en-US" altLang="zh-CN" dirty="0"/>
              <a:t>show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the last</a:t>
            </a:r>
            <a:r>
              <a:rPr lang="zh-CN" altLang="en-US" dirty="0"/>
              <a:t> </a:t>
            </a:r>
            <a:r>
              <a:rPr lang="en-US" altLang="zh-CN" dirty="0"/>
              <a:t>slide,</a:t>
            </a:r>
            <a:r>
              <a:rPr lang="zh-CN" altLang="en-US" dirty="0"/>
              <a:t> </a:t>
            </a:r>
            <a:r>
              <a:rPr lang="en-US" altLang="zh-CN" dirty="0"/>
              <a:t>accounting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mass</a:t>
            </a:r>
            <a:r>
              <a:rPr lang="zh-CN" altLang="en-US" dirty="0"/>
              <a:t> </a:t>
            </a:r>
            <a:r>
              <a:rPr lang="en-US" altLang="zh-CN" dirty="0"/>
              <a:t>inflation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lower</a:t>
            </a:r>
            <a:r>
              <a:rPr lang="zh-CN" altLang="en-US" dirty="0"/>
              <a:t> </a:t>
            </a:r>
            <a:r>
              <a:rPr lang="en-US" altLang="zh-CN" dirty="0"/>
              <a:t>observational</a:t>
            </a:r>
            <a:r>
              <a:rPr lang="zh-CN" altLang="en-US" dirty="0"/>
              <a:t> </a:t>
            </a:r>
            <a:r>
              <a:rPr lang="en-US" altLang="zh-CN" dirty="0"/>
              <a:t>inclination</a:t>
            </a:r>
            <a:r>
              <a:rPr lang="zh-CN" altLang="en-US" dirty="0"/>
              <a:t> </a:t>
            </a:r>
            <a:r>
              <a:rPr lang="en-US" altLang="zh-CN" dirty="0"/>
              <a:t>I_1.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left</a:t>
            </a:r>
            <a:r>
              <a:rPr lang="zh-CN" altLang="en-US" dirty="0"/>
              <a:t> </a:t>
            </a:r>
            <a:r>
              <a:rPr lang="en-US" altLang="zh-CN" dirty="0"/>
              <a:t>figure</a:t>
            </a:r>
            <a:r>
              <a:rPr lang="zh-CN" altLang="en-US" dirty="0"/>
              <a:t> </a:t>
            </a:r>
            <a:r>
              <a:rPr lang="en-US" altLang="zh-CN" dirty="0"/>
              <a:t>shows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results.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blue</a:t>
            </a:r>
            <a:r>
              <a:rPr lang="zh-CN" altLang="en-US" dirty="0"/>
              <a:t> </a:t>
            </a:r>
            <a:r>
              <a:rPr lang="en-US" altLang="zh-CN" dirty="0"/>
              <a:t>region</a:t>
            </a:r>
            <a:r>
              <a:rPr lang="zh-CN" altLang="en-US" dirty="0"/>
              <a:t> </a:t>
            </a:r>
            <a:r>
              <a:rPr lang="en-US" altLang="zh-CN" dirty="0"/>
              <a:t>means</a:t>
            </a:r>
            <a:r>
              <a:rPr lang="zh-CN" altLang="en-US" dirty="0"/>
              <a:t> </a:t>
            </a:r>
            <a:r>
              <a:rPr lang="en-US" altLang="zh-CN" dirty="0"/>
              <a:t>stable</a:t>
            </a:r>
            <a:r>
              <a:rPr lang="zh-CN" altLang="en-US" dirty="0"/>
              <a:t> </a:t>
            </a:r>
            <a:r>
              <a:rPr lang="en-US" altLang="zh-CN" dirty="0"/>
              <a:t>orbit,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yellow</a:t>
            </a:r>
            <a:r>
              <a:rPr lang="zh-CN" altLang="en-US" dirty="0"/>
              <a:t> </a:t>
            </a:r>
            <a:r>
              <a:rPr lang="en-US" altLang="zh-CN" dirty="0"/>
              <a:t>region</a:t>
            </a:r>
            <a:r>
              <a:rPr lang="zh-CN" altLang="en-US" dirty="0"/>
              <a:t> </a:t>
            </a:r>
            <a:r>
              <a:rPr lang="en-US" altLang="zh-CN" dirty="0"/>
              <a:t>means</a:t>
            </a:r>
            <a:r>
              <a:rPr lang="zh-CN" altLang="en-US" dirty="0"/>
              <a:t> </a:t>
            </a:r>
            <a:r>
              <a:rPr lang="en-US" altLang="zh-CN" dirty="0"/>
              <a:t>unstable</a:t>
            </a:r>
            <a:r>
              <a:rPr lang="zh-CN" altLang="en-US" dirty="0"/>
              <a:t> </a:t>
            </a:r>
            <a:r>
              <a:rPr lang="en-US" altLang="zh-CN" dirty="0"/>
              <a:t>orbit.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run</a:t>
            </a:r>
            <a:r>
              <a:rPr lang="zh-CN" altLang="en-US" dirty="0"/>
              <a:t> </a:t>
            </a:r>
            <a:r>
              <a:rPr lang="en-US" altLang="zh-CN" dirty="0"/>
              <a:t>simulations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2</a:t>
            </a:r>
            <a:r>
              <a:rPr lang="zh-CN" altLang="en-US" dirty="0"/>
              <a:t> </a:t>
            </a:r>
            <a:r>
              <a:rPr lang="en-US" altLang="zh-CN" dirty="0"/>
              <a:t>Myr,</a:t>
            </a:r>
            <a:r>
              <a:rPr lang="zh-CN" altLang="en-US" dirty="0"/>
              <a:t> </a:t>
            </a:r>
            <a:r>
              <a:rPr lang="en-US" altLang="zh-CN" dirty="0"/>
              <a:t>sufficient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stability</a:t>
            </a:r>
            <a:r>
              <a:rPr lang="zh-CN" altLang="en-US" dirty="0"/>
              <a:t> </a:t>
            </a:r>
            <a:r>
              <a:rPr lang="en-US" altLang="zh-CN" dirty="0"/>
              <a:t>test.</a:t>
            </a:r>
          </a:p>
          <a:p>
            <a:endParaRPr lang="en-US" dirty="0"/>
          </a:p>
          <a:p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top</a:t>
            </a:r>
            <a:r>
              <a:rPr lang="zh-CN" altLang="en-US" dirty="0"/>
              <a:t> </a:t>
            </a:r>
            <a:r>
              <a:rPr lang="en-US" altLang="zh-CN" dirty="0"/>
              <a:t>row,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binary’s</a:t>
            </a:r>
            <a:r>
              <a:rPr lang="zh-CN" altLang="en-US" dirty="0"/>
              <a:t> </a:t>
            </a:r>
            <a:r>
              <a:rPr lang="en-US" altLang="zh-CN" dirty="0"/>
              <a:t>orbit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circular,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I_2=0,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orbit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excluded,</a:t>
            </a:r>
            <a:r>
              <a:rPr lang="zh-CN" altLang="en-US" dirty="0"/>
              <a:t> </a:t>
            </a:r>
            <a:r>
              <a:rPr lang="en-US" altLang="zh-CN" dirty="0"/>
              <a:t>because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orbit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fixed.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left</a:t>
            </a:r>
            <a:r>
              <a:rPr lang="zh-CN" altLang="en-US" dirty="0"/>
              <a:t> </a:t>
            </a:r>
            <a:r>
              <a:rPr lang="en-US" altLang="zh-CN" dirty="0"/>
              <a:t>y-axis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mutual</a:t>
            </a:r>
            <a:r>
              <a:rPr lang="zh-CN" altLang="en-US" dirty="0"/>
              <a:t> </a:t>
            </a:r>
            <a:r>
              <a:rPr lang="en-US" altLang="zh-CN" dirty="0"/>
              <a:t>inclination,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right</a:t>
            </a:r>
            <a:r>
              <a:rPr lang="zh-CN" altLang="en-US" dirty="0"/>
              <a:t> </a:t>
            </a:r>
            <a:r>
              <a:rPr lang="en-US" altLang="zh-CN" dirty="0"/>
              <a:t>y-axis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planet’s</a:t>
            </a:r>
            <a:r>
              <a:rPr lang="zh-CN" altLang="en-US" dirty="0"/>
              <a:t> </a:t>
            </a:r>
            <a:r>
              <a:rPr lang="en-US" altLang="zh-CN" dirty="0"/>
              <a:t>true</a:t>
            </a:r>
            <a:r>
              <a:rPr lang="zh-CN" altLang="en-US" dirty="0"/>
              <a:t> </a:t>
            </a:r>
            <a:r>
              <a:rPr lang="en-US" altLang="zh-CN" dirty="0"/>
              <a:t>mass</a:t>
            </a:r>
            <a:r>
              <a:rPr lang="zh-CN" altLang="en-US" dirty="0"/>
              <a:t> </a:t>
            </a:r>
            <a:r>
              <a:rPr lang="en-US" altLang="zh-CN" dirty="0"/>
              <a:t>due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mass-inclination</a:t>
            </a:r>
            <a:r>
              <a:rPr lang="zh-CN" altLang="en-US" dirty="0"/>
              <a:t> </a:t>
            </a:r>
            <a:r>
              <a:rPr lang="en-US" altLang="zh-CN" dirty="0"/>
              <a:t>degeneracy.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x-axis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binary’s</a:t>
            </a:r>
            <a:r>
              <a:rPr lang="zh-CN" altLang="en-US" dirty="0"/>
              <a:t> </a:t>
            </a:r>
            <a:r>
              <a:rPr lang="en-US" altLang="zh-CN" dirty="0"/>
              <a:t>semi-major</a:t>
            </a:r>
            <a:r>
              <a:rPr lang="zh-CN" altLang="en-US" dirty="0"/>
              <a:t> </a:t>
            </a:r>
            <a:r>
              <a:rPr lang="en-US" altLang="zh-CN" dirty="0"/>
              <a:t>axis</a:t>
            </a:r>
            <a:r>
              <a:rPr lang="zh-CN" altLang="en-US" dirty="0"/>
              <a:t> </a:t>
            </a:r>
            <a:r>
              <a:rPr lang="en-US" altLang="zh-CN" dirty="0"/>
              <a:t>a_2.</a:t>
            </a:r>
            <a:r>
              <a:rPr lang="zh-CN" altLang="en-US" dirty="0"/>
              <a:t> </a:t>
            </a:r>
            <a:r>
              <a:rPr lang="en-US" altLang="zh-CN" dirty="0"/>
              <a:t>Across</a:t>
            </a:r>
            <a:r>
              <a:rPr lang="zh-CN" altLang="en-US" dirty="0"/>
              <a:t> </a:t>
            </a:r>
            <a:r>
              <a:rPr lang="en-US" altLang="zh-CN" dirty="0"/>
              <a:t>different</a:t>
            </a:r>
            <a:r>
              <a:rPr lang="zh-CN" altLang="en-US" dirty="0"/>
              <a:t> </a:t>
            </a:r>
            <a:r>
              <a:rPr lang="en-US" altLang="zh-CN" dirty="0"/>
              <a:t>configurations,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stability</a:t>
            </a:r>
            <a:r>
              <a:rPr lang="zh-CN" altLang="en-US" dirty="0"/>
              <a:t> </a:t>
            </a:r>
            <a:r>
              <a:rPr lang="en-US" altLang="zh-CN" dirty="0"/>
              <a:t>maps</a:t>
            </a:r>
            <a:r>
              <a:rPr lang="zh-CN" altLang="en-US" dirty="0"/>
              <a:t> </a:t>
            </a:r>
            <a:r>
              <a:rPr lang="en-US" altLang="zh-CN" dirty="0"/>
              <a:t>suggest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stable</a:t>
            </a:r>
            <a:r>
              <a:rPr lang="zh-CN" altLang="en-US" dirty="0"/>
              <a:t> </a:t>
            </a:r>
            <a:r>
              <a:rPr lang="en-US" altLang="zh-CN" dirty="0"/>
              <a:t>region</a:t>
            </a:r>
            <a:r>
              <a:rPr lang="zh-CN" altLang="en-US" dirty="0"/>
              <a:t> </a:t>
            </a:r>
            <a:r>
              <a:rPr lang="en-US" altLang="zh-CN" dirty="0"/>
              <a:t>with</a:t>
            </a:r>
            <a:r>
              <a:rPr lang="zh-CN" altLang="en-US" dirty="0"/>
              <a:t> </a:t>
            </a:r>
            <a:r>
              <a:rPr lang="en-US" altLang="zh-CN" dirty="0"/>
              <a:t>mutual</a:t>
            </a:r>
            <a:r>
              <a:rPr lang="zh-CN" altLang="en-US" dirty="0"/>
              <a:t> </a:t>
            </a:r>
            <a:r>
              <a:rPr lang="en-US" altLang="zh-CN" dirty="0"/>
              <a:t>inclination</a:t>
            </a:r>
            <a:r>
              <a:rPr lang="zh-CN" altLang="en-US" dirty="0"/>
              <a:t> </a:t>
            </a:r>
            <a:r>
              <a:rPr lang="en-US" altLang="zh-CN" dirty="0"/>
              <a:t>up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75</a:t>
            </a:r>
            <a:r>
              <a:rPr lang="zh-CN" altLang="en-US" dirty="0"/>
              <a:t> </a:t>
            </a:r>
            <a:r>
              <a:rPr lang="en-US" altLang="zh-CN" dirty="0"/>
              <a:t>degrees.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an eccentric</a:t>
            </a:r>
            <a:r>
              <a:rPr lang="zh-CN" altLang="en-US" dirty="0"/>
              <a:t> </a:t>
            </a:r>
            <a:r>
              <a:rPr lang="en-US" altLang="zh-CN" dirty="0"/>
              <a:t>binary</a:t>
            </a:r>
            <a:r>
              <a:rPr lang="zh-CN" altLang="en-US" dirty="0"/>
              <a:t> </a:t>
            </a:r>
            <a:r>
              <a:rPr lang="en-US" altLang="zh-CN" dirty="0"/>
              <a:t>orbit,</a:t>
            </a:r>
            <a:r>
              <a:rPr lang="zh-CN" altLang="en-US" dirty="0"/>
              <a:t> </a:t>
            </a:r>
            <a:r>
              <a:rPr lang="en-US" altLang="zh-CN" dirty="0"/>
              <a:t>there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an</a:t>
            </a:r>
            <a:r>
              <a:rPr lang="zh-CN" altLang="en-US" dirty="0"/>
              <a:t> </a:t>
            </a:r>
            <a:r>
              <a:rPr lang="en-US" altLang="zh-CN" dirty="0"/>
              <a:t>unstable</a:t>
            </a:r>
            <a:r>
              <a:rPr lang="zh-CN" altLang="en-US" dirty="0"/>
              <a:t> </a:t>
            </a:r>
            <a:r>
              <a:rPr lang="en-US" altLang="zh-CN" dirty="0"/>
              <a:t>region</a:t>
            </a:r>
            <a:r>
              <a:rPr lang="zh-CN" altLang="en-US" dirty="0"/>
              <a:t> </a:t>
            </a:r>
            <a:r>
              <a:rPr lang="en-US" altLang="zh-CN" dirty="0"/>
              <a:t>near</a:t>
            </a:r>
            <a:r>
              <a:rPr lang="zh-CN" altLang="en-US" dirty="0"/>
              <a:t> </a:t>
            </a:r>
            <a:r>
              <a:rPr lang="en-US" altLang="zh-CN" dirty="0"/>
              <a:t>40</a:t>
            </a:r>
            <a:r>
              <a:rPr lang="zh-CN" altLang="en-US" dirty="0"/>
              <a:t> </a:t>
            </a:r>
            <a:r>
              <a:rPr lang="en-US" altLang="zh-CN" dirty="0"/>
              <a:t>degrees,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onset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 err="1"/>
              <a:t>vZLK</a:t>
            </a:r>
            <a:r>
              <a:rPr lang="zh-CN" altLang="en-US" dirty="0"/>
              <a:t> </a:t>
            </a:r>
            <a:r>
              <a:rPr lang="en-US" altLang="zh-CN" dirty="0"/>
              <a:t>oscillation.</a:t>
            </a:r>
            <a:r>
              <a:rPr lang="zh-CN" altLang="en-US" dirty="0"/>
              <a:t> </a:t>
            </a:r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because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planet</a:t>
            </a:r>
            <a:r>
              <a:rPr lang="zh-CN" altLang="en-US" dirty="0"/>
              <a:t> </a:t>
            </a:r>
            <a:r>
              <a:rPr lang="en-US" altLang="zh-CN" dirty="0"/>
              <a:t>starts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 err="1"/>
              <a:t>vZLK</a:t>
            </a:r>
            <a:r>
              <a:rPr lang="zh-CN" altLang="en-US" dirty="0"/>
              <a:t> </a:t>
            </a:r>
            <a:r>
              <a:rPr lang="en-US" altLang="zh-CN" dirty="0"/>
              <a:t>oscillation</a:t>
            </a:r>
            <a:r>
              <a:rPr lang="zh-CN" altLang="en-US" dirty="0"/>
              <a:t> </a:t>
            </a:r>
            <a:r>
              <a:rPr lang="en-US" altLang="zh-CN" dirty="0"/>
              <a:t>but</a:t>
            </a:r>
            <a:r>
              <a:rPr lang="zh-CN" altLang="en-US" dirty="0"/>
              <a:t> </a:t>
            </a:r>
            <a:r>
              <a:rPr lang="en-US" altLang="zh-CN" dirty="0"/>
              <a:t>is not</a:t>
            </a:r>
            <a:r>
              <a:rPr lang="zh-CN" altLang="en-US" dirty="0"/>
              <a:t> </a:t>
            </a:r>
            <a:r>
              <a:rPr lang="en-US" altLang="zh-CN" dirty="0"/>
              <a:t>locked</a:t>
            </a:r>
            <a:r>
              <a:rPr lang="zh-CN" altLang="en-US" dirty="0"/>
              <a:t> </a:t>
            </a:r>
            <a:r>
              <a:rPr lang="en-US" altLang="zh-CN" dirty="0"/>
              <a:t>into</a:t>
            </a:r>
            <a:r>
              <a:rPr lang="zh-CN" altLang="en-US" dirty="0"/>
              <a:t> </a:t>
            </a:r>
            <a:r>
              <a:rPr lang="en-US" altLang="zh-CN" dirty="0" err="1"/>
              <a:t>libration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/>
              <a:t>disrupting</a:t>
            </a:r>
            <a:r>
              <a:rPr lang="zh-CN" altLang="en-US" dirty="0"/>
              <a:t> </a:t>
            </a:r>
            <a:r>
              <a:rPr lang="en-US" altLang="zh-CN" dirty="0"/>
              <a:t>stability</a:t>
            </a:r>
            <a:r>
              <a:rPr lang="zh-CN" altLang="en-US" dirty="0"/>
              <a:t> </a:t>
            </a:r>
            <a:r>
              <a:rPr lang="en-US" altLang="zh-CN" dirty="0"/>
              <a:t>as</a:t>
            </a:r>
            <a:r>
              <a:rPr lang="zh-CN" altLang="en-US" dirty="0"/>
              <a:t> </a:t>
            </a:r>
            <a:r>
              <a:rPr lang="en-US" altLang="zh-CN" dirty="0"/>
              <a:t>shown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left</a:t>
            </a:r>
            <a:r>
              <a:rPr lang="zh-CN" altLang="en-US" dirty="0"/>
              <a:t> </a:t>
            </a:r>
            <a:r>
              <a:rPr lang="en-US" altLang="zh-CN" dirty="0"/>
              <a:t>figure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right</a:t>
            </a:r>
            <a:r>
              <a:rPr lang="zh-CN" altLang="en-US" dirty="0"/>
              <a:t> </a:t>
            </a:r>
            <a:r>
              <a:rPr lang="en-US" altLang="zh-CN" dirty="0"/>
              <a:t>corner.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highly</a:t>
            </a:r>
            <a:r>
              <a:rPr lang="zh-CN" altLang="en-US" dirty="0"/>
              <a:t> </a:t>
            </a:r>
            <a:r>
              <a:rPr lang="en-US" altLang="zh-CN" dirty="0"/>
              <a:t>inclined</a:t>
            </a:r>
            <a:r>
              <a:rPr lang="zh-CN" altLang="en-US" dirty="0"/>
              <a:t> </a:t>
            </a:r>
            <a:r>
              <a:rPr lang="en-US" altLang="zh-CN" dirty="0"/>
              <a:t>orbits</a:t>
            </a:r>
            <a:r>
              <a:rPr lang="zh-CN" altLang="en-US" dirty="0"/>
              <a:t> </a:t>
            </a:r>
            <a:r>
              <a:rPr lang="en-US" altLang="zh-CN" dirty="0"/>
              <a:t>(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example,</a:t>
            </a:r>
            <a:r>
              <a:rPr lang="zh-CN" altLang="en-US" dirty="0"/>
              <a:t> </a:t>
            </a:r>
            <a:r>
              <a:rPr lang="en-US" altLang="zh-CN" dirty="0"/>
              <a:t>higher</a:t>
            </a:r>
            <a:r>
              <a:rPr lang="zh-CN" altLang="en-US" dirty="0"/>
              <a:t> </a:t>
            </a:r>
            <a:r>
              <a:rPr lang="en-US" altLang="zh-CN" dirty="0"/>
              <a:t>than</a:t>
            </a:r>
            <a:r>
              <a:rPr lang="zh-CN" altLang="en-US" dirty="0"/>
              <a:t> </a:t>
            </a:r>
            <a:r>
              <a:rPr lang="en-US" altLang="zh-CN" dirty="0"/>
              <a:t>75</a:t>
            </a:r>
            <a:r>
              <a:rPr lang="zh-CN" altLang="en-US" dirty="0"/>
              <a:t> </a:t>
            </a:r>
            <a:r>
              <a:rPr lang="en-US" altLang="zh-CN" dirty="0"/>
              <a:t>degrees),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maximum</a:t>
            </a:r>
            <a:r>
              <a:rPr lang="zh-CN" altLang="en-US" dirty="0"/>
              <a:t> </a:t>
            </a:r>
            <a:r>
              <a:rPr lang="en-US" altLang="zh-CN" dirty="0"/>
              <a:t>eccentricity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planet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so</a:t>
            </a:r>
            <a:r>
              <a:rPr lang="zh-CN" altLang="en-US" dirty="0"/>
              <a:t> </a:t>
            </a:r>
            <a:r>
              <a:rPr lang="en-US" altLang="zh-CN" dirty="0"/>
              <a:t>big</a:t>
            </a:r>
            <a:r>
              <a:rPr lang="zh-CN" altLang="en-US" dirty="0"/>
              <a:t> </a:t>
            </a:r>
            <a:r>
              <a:rPr lang="en-US" altLang="zh-CN" dirty="0"/>
              <a:t>that</a:t>
            </a:r>
            <a:r>
              <a:rPr lang="zh-CN" altLang="en-US" dirty="0"/>
              <a:t> </a:t>
            </a:r>
            <a:r>
              <a:rPr lang="en-US" altLang="zh-CN" dirty="0"/>
              <a:t>it</a:t>
            </a:r>
            <a:r>
              <a:rPr lang="zh-CN" altLang="en-US" dirty="0"/>
              <a:t> </a:t>
            </a:r>
            <a:r>
              <a:rPr lang="en-US" altLang="zh-CN" dirty="0"/>
              <a:t>experiences</a:t>
            </a:r>
            <a:r>
              <a:rPr lang="zh-CN" altLang="en-US" dirty="0"/>
              <a:t> </a:t>
            </a:r>
            <a:r>
              <a:rPr lang="en-US" altLang="zh-CN" dirty="0"/>
              <a:t>a close</a:t>
            </a:r>
            <a:r>
              <a:rPr lang="zh-CN" altLang="en-US" dirty="0"/>
              <a:t> </a:t>
            </a:r>
            <a:r>
              <a:rPr lang="en-US" altLang="zh-CN" dirty="0"/>
              <a:t>encounter</a:t>
            </a:r>
            <a:r>
              <a:rPr lang="zh-CN" altLang="en-US" dirty="0"/>
              <a:t> </a:t>
            </a:r>
            <a:r>
              <a:rPr lang="en-US" altLang="zh-CN" dirty="0"/>
              <a:t>with</a:t>
            </a:r>
            <a:r>
              <a:rPr lang="zh-CN" altLang="en-US" dirty="0"/>
              <a:t> </a:t>
            </a:r>
            <a:r>
              <a:rPr lang="en-US" altLang="zh-CN" dirty="0"/>
              <a:t>star</a:t>
            </a:r>
            <a:r>
              <a:rPr lang="zh-CN" altLang="en-US" dirty="0"/>
              <a:t> </a:t>
            </a:r>
            <a:r>
              <a:rPr lang="en-US" altLang="zh-CN" dirty="0"/>
              <a:t>A,</a:t>
            </a:r>
            <a:r>
              <a:rPr lang="zh-CN" altLang="en-US" dirty="0"/>
              <a:t> </a:t>
            </a:r>
            <a:r>
              <a:rPr lang="en-US" altLang="zh-CN" dirty="0"/>
              <a:t>leading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instability,</a:t>
            </a:r>
            <a:r>
              <a:rPr lang="zh-CN" altLang="en-US" dirty="0"/>
              <a:t> </a:t>
            </a:r>
            <a:r>
              <a:rPr lang="en-US" altLang="zh-CN" dirty="0"/>
              <a:t>as</a:t>
            </a:r>
            <a:r>
              <a:rPr lang="zh-CN" altLang="en-US" dirty="0"/>
              <a:t> </a:t>
            </a:r>
            <a:r>
              <a:rPr lang="en-US" altLang="zh-CN" dirty="0"/>
              <a:t>shown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right</a:t>
            </a:r>
            <a:r>
              <a:rPr lang="zh-CN" altLang="en-US" dirty="0"/>
              <a:t> </a:t>
            </a:r>
            <a:r>
              <a:rPr lang="en-US" altLang="zh-CN" dirty="0"/>
              <a:t>figure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right</a:t>
            </a:r>
            <a:r>
              <a:rPr lang="zh-CN" altLang="en-US" dirty="0"/>
              <a:t> </a:t>
            </a:r>
            <a:r>
              <a:rPr lang="en-US" altLang="zh-CN" dirty="0"/>
              <a:t>corner.</a:t>
            </a:r>
          </a:p>
          <a:p>
            <a:endParaRPr lang="en-US" dirty="0"/>
          </a:p>
          <a:p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eccentric</a:t>
            </a:r>
            <a:r>
              <a:rPr lang="zh-CN" altLang="en-US" dirty="0"/>
              <a:t> </a:t>
            </a:r>
            <a:r>
              <a:rPr lang="en-US" altLang="zh-CN" dirty="0"/>
              <a:t>binaries,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small</a:t>
            </a:r>
            <a:r>
              <a:rPr lang="zh-CN" altLang="en-US" dirty="0"/>
              <a:t> </a:t>
            </a:r>
            <a:r>
              <a:rPr lang="en-US" altLang="zh-CN" dirty="0"/>
              <a:t>a_2</a:t>
            </a:r>
            <a:r>
              <a:rPr lang="zh-CN" altLang="en-US" dirty="0"/>
              <a:t> </a:t>
            </a:r>
            <a:r>
              <a:rPr lang="en-US" altLang="zh-CN" dirty="0"/>
              <a:t>also</a:t>
            </a:r>
            <a:r>
              <a:rPr lang="zh-CN" altLang="en-US" dirty="0"/>
              <a:t> </a:t>
            </a:r>
            <a:r>
              <a:rPr lang="en-US" altLang="zh-CN" dirty="0"/>
              <a:t>causes</a:t>
            </a:r>
            <a:r>
              <a:rPr lang="zh-CN" altLang="en-US" dirty="0"/>
              <a:t> </a:t>
            </a:r>
            <a:r>
              <a:rPr lang="en-US" altLang="zh-CN" dirty="0"/>
              <a:t>instability,</a:t>
            </a:r>
            <a:r>
              <a:rPr lang="zh-CN" altLang="en-US" dirty="0"/>
              <a:t> </a:t>
            </a:r>
            <a:r>
              <a:rPr lang="en-US" altLang="zh-CN" dirty="0"/>
              <a:t>as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reduced</a:t>
            </a:r>
            <a:r>
              <a:rPr lang="zh-CN" altLang="en-US" dirty="0"/>
              <a:t> </a:t>
            </a:r>
            <a:r>
              <a:rPr lang="en-US" altLang="zh-CN" dirty="0"/>
              <a:t>periastron</a:t>
            </a:r>
            <a:r>
              <a:rPr lang="zh-CN" altLang="en-US" dirty="0"/>
              <a:t> </a:t>
            </a:r>
            <a:r>
              <a:rPr lang="en-US" altLang="zh-CN" dirty="0"/>
              <a:t>could</a:t>
            </a:r>
            <a:r>
              <a:rPr lang="zh-CN" altLang="en-US" dirty="0"/>
              <a:t> </a:t>
            </a:r>
            <a:r>
              <a:rPr lang="en-US" altLang="zh-CN" dirty="0"/>
              <a:t>make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planet</a:t>
            </a:r>
            <a:r>
              <a:rPr lang="zh-CN" altLang="en-US" dirty="0"/>
              <a:t> </a:t>
            </a:r>
            <a:r>
              <a:rPr lang="en-US" altLang="zh-CN" dirty="0"/>
              <a:t>suffer</a:t>
            </a:r>
            <a:r>
              <a:rPr lang="zh-CN" altLang="en-US" dirty="0"/>
              <a:t> </a:t>
            </a:r>
            <a:r>
              <a:rPr lang="en-US" altLang="zh-CN" dirty="0"/>
              <a:t>a stronger</a:t>
            </a:r>
            <a:r>
              <a:rPr lang="zh-CN" altLang="en-US" dirty="0"/>
              <a:t> </a:t>
            </a:r>
            <a:r>
              <a:rPr lang="en-US" altLang="zh-CN" dirty="0"/>
              <a:t>gravitational</a:t>
            </a:r>
            <a:r>
              <a:rPr lang="zh-CN" altLang="en-US" dirty="0"/>
              <a:t> </a:t>
            </a:r>
            <a:r>
              <a:rPr lang="en-US" altLang="zh-CN" dirty="0"/>
              <a:t>perturbation.</a:t>
            </a:r>
            <a:r>
              <a:rPr lang="zh-CN" altLang="en-US" dirty="0"/>
              <a:t> </a:t>
            </a:r>
            <a:r>
              <a:rPr lang="en-US" altLang="zh-CN" dirty="0"/>
              <a:t>Also,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I_2</a:t>
            </a:r>
            <a:r>
              <a:rPr lang="zh-CN" altLang="en-US" dirty="0"/>
              <a:t> </a:t>
            </a:r>
            <a:r>
              <a:rPr lang="en-US" altLang="zh-CN" dirty="0"/>
              <a:t>= 0,</a:t>
            </a:r>
            <a:r>
              <a:rPr lang="zh-CN" altLang="en-US" dirty="0"/>
              <a:t> </a:t>
            </a:r>
            <a:r>
              <a:rPr lang="en-US" altLang="zh-CN" dirty="0"/>
              <a:t>face-on</a:t>
            </a:r>
            <a:r>
              <a:rPr lang="zh-CN" altLang="en-US" dirty="0"/>
              <a:t> </a:t>
            </a:r>
            <a:r>
              <a:rPr lang="en-US" altLang="zh-CN" dirty="0"/>
              <a:t>orbit,</a:t>
            </a:r>
            <a:r>
              <a:rPr lang="zh-CN" altLang="en-US" dirty="0"/>
              <a:t> </a:t>
            </a:r>
            <a:r>
              <a:rPr lang="en-US" altLang="zh-CN" dirty="0"/>
              <a:t>if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mutual</a:t>
            </a:r>
            <a:r>
              <a:rPr lang="zh-CN" altLang="en-US" dirty="0"/>
              <a:t> </a:t>
            </a:r>
            <a:r>
              <a:rPr lang="en-US" altLang="zh-CN" dirty="0"/>
              <a:t>inclination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zero,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true</a:t>
            </a:r>
            <a:r>
              <a:rPr lang="zh-CN" altLang="en-US" dirty="0"/>
              <a:t> </a:t>
            </a:r>
            <a:r>
              <a:rPr lang="en-US" altLang="zh-CN" dirty="0"/>
              <a:t>mass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planet</a:t>
            </a:r>
            <a:r>
              <a:rPr lang="zh-CN" altLang="en-US" dirty="0"/>
              <a:t> </a:t>
            </a:r>
            <a:r>
              <a:rPr lang="en-US" altLang="zh-CN" dirty="0"/>
              <a:t>would</a:t>
            </a:r>
            <a:r>
              <a:rPr lang="zh-CN" altLang="en-US" dirty="0"/>
              <a:t> </a:t>
            </a:r>
            <a:r>
              <a:rPr lang="en-US" altLang="zh-CN" dirty="0"/>
              <a:t>be</a:t>
            </a:r>
            <a:r>
              <a:rPr lang="zh-CN" altLang="en-US" dirty="0"/>
              <a:t> </a:t>
            </a:r>
            <a:r>
              <a:rPr lang="en-US" altLang="zh-CN" dirty="0"/>
              <a:t>very</a:t>
            </a:r>
            <a:r>
              <a:rPr lang="zh-CN" altLang="en-US" dirty="0"/>
              <a:t> </a:t>
            </a:r>
            <a:r>
              <a:rPr lang="en-US" altLang="zh-CN" dirty="0"/>
              <a:t>large,</a:t>
            </a:r>
            <a:r>
              <a:rPr lang="zh-CN" altLang="en-US" dirty="0"/>
              <a:t> </a:t>
            </a:r>
            <a:r>
              <a:rPr lang="en-US" altLang="zh-CN" dirty="0"/>
              <a:t>which</a:t>
            </a:r>
            <a:r>
              <a:rPr lang="zh-CN" altLang="en-US" dirty="0"/>
              <a:t> </a:t>
            </a:r>
            <a:r>
              <a:rPr lang="en-US" altLang="zh-CN" dirty="0"/>
              <a:t>also</a:t>
            </a:r>
            <a:r>
              <a:rPr lang="zh-CN" altLang="en-US" dirty="0"/>
              <a:t> </a:t>
            </a:r>
            <a:r>
              <a:rPr lang="en-US" altLang="zh-CN" dirty="0"/>
              <a:t>causes</a:t>
            </a:r>
            <a:r>
              <a:rPr lang="zh-CN" altLang="en-US" dirty="0"/>
              <a:t> </a:t>
            </a:r>
            <a:r>
              <a:rPr lang="en-US" altLang="zh-CN" dirty="0"/>
              <a:t>instability.</a:t>
            </a:r>
          </a:p>
          <a:p>
            <a:endParaRPr lang="en-US" dirty="0"/>
          </a:p>
          <a:p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general,</a:t>
            </a:r>
            <a:r>
              <a:rPr lang="zh-CN" altLang="en-US" dirty="0"/>
              <a:t> </a:t>
            </a:r>
            <a:r>
              <a:rPr lang="en-US" altLang="zh-CN" dirty="0"/>
              <a:t>numerical</a:t>
            </a:r>
            <a:r>
              <a:rPr lang="zh-CN" altLang="en-US" dirty="0"/>
              <a:t> </a:t>
            </a:r>
            <a:r>
              <a:rPr lang="en-US" altLang="zh-CN" dirty="0"/>
              <a:t>simulations</a:t>
            </a:r>
            <a:r>
              <a:rPr lang="zh-CN" altLang="en-US" dirty="0"/>
              <a:t> </a:t>
            </a:r>
            <a:r>
              <a:rPr lang="en-US" altLang="zh-CN" dirty="0"/>
              <a:t>reveal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persistent</a:t>
            </a:r>
            <a:r>
              <a:rPr lang="zh-CN" altLang="en-US" dirty="0"/>
              <a:t> </a:t>
            </a:r>
            <a:r>
              <a:rPr lang="en-US" altLang="zh-CN" dirty="0"/>
              <a:t>stability</a:t>
            </a:r>
            <a:r>
              <a:rPr lang="zh-CN" altLang="en-US" dirty="0"/>
              <a:t> </a:t>
            </a:r>
            <a:r>
              <a:rPr lang="en-US" altLang="zh-CN" dirty="0"/>
              <a:t>limit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 err="1"/>
              <a:t>i_initial</a:t>
            </a:r>
            <a:r>
              <a:rPr lang="zh-CN" altLang="en-US" dirty="0"/>
              <a:t> </a:t>
            </a:r>
            <a:r>
              <a:rPr lang="en-US" altLang="zh-CN" dirty="0"/>
              <a:t>~</a:t>
            </a:r>
            <a:r>
              <a:rPr lang="zh-CN" altLang="en-US" dirty="0"/>
              <a:t> </a:t>
            </a:r>
            <a:r>
              <a:rPr lang="en-US" altLang="zh-CN" dirty="0"/>
              <a:t>75 degrees,</a:t>
            </a:r>
            <a:r>
              <a:rPr lang="zh-CN" altLang="en-US" dirty="0"/>
              <a:t> </a:t>
            </a:r>
            <a:r>
              <a:rPr lang="en-US" altLang="zh-CN" dirty="0"/>
              <a:t>which</a:t>
            </a:r>
            <a:r>
              <a:rPr lang="zh-CN" altLang="en-US" dirty="0"/>
              <a:t> </a:t>
            </a:r>
            <a:r>
              <a:rPr lang="en-US" altLang="zh-CN" dirty="0"/>
              <a:t>remains</a:t>
            </a:r>
            <a:r>
              <a:rPr lang="zh-CN" altLang="en-US" dirty="0"/>
              <a:t> </a:t>
            </a:r>
            <a:r>
              <a:rPr lang="en-US" altLang="zh-CN" dirty="0"/>
              <a:t>robust</a:t>
            </a:r>
            <a:r>
              <a:rPr lang="zh-CN" altLang="en-US" dirty="0"/>
              <a:t> </a:t>
            </a:r>
            <a:r>
              <a:rPr lang="en-US" altLang="zh-CN" dirty="0"/>
              <a:t>across</a:t>
            </a:r>
            <a:r>
              <a:rPr lang="zh-CN" altLang="en-US" dirty="0"/>
              <a:t> </a:t>
            </a:r>
            <a:r>
              <a:rPr lang="en-US" altLang="zh-CN" dirty="0"/>
              <a:t>variations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planet</a:t>
            </a:r>
            <a:r>
              <a:rPr lang="zh-CN" altLang="en-US" dirty="0"/>
              <a:t> </a:t>
            </a:r>
            <a:r>
              <a:rPr lang="en-US" altLang="zh-CN" dirty="0"/>
              <a:t>Ab’s</a:t>
            </a:r>
            <a:r>
              <a:rPr lang="zh-CN" altLang="en-US" dirty="0"/>
              <a:t> </a:t>
            </a:r>
            <a:r>
              <a:rPr lang="en-US" altLang="zh-CN" dirty="0"/>
              <a:t>true</a:t>
            </a:r>
            <a:r>
              <a:rPr lang="zh-CN" altLang="en-US" dirty="0"/>
              <a:t> </a:t>
            </a:r>
            <a:r>
              <a:rPr lang="en-US" altLang="zh-CN" dirty="0"/>
              <a:t>mass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observational</a:t>
            </a:r>
            <a:r>
              <a:rPr lang="zh-CN" altLang="en-US" dirty="0"/>
              <a:t> </a:t>
            </a:r>
            <a:r>
              <a:rPr lang="en-US" altLang="zh-CN" dirty="0"/>
              <a:t>inclination.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B5A071-26D1-7349-BDE2-A02EF9C8BDDE}" type="slidenum">
              <a:rPr lang="en-CN" smtClean="0"/>
              <a:t>7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441639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After</a:t>
            </a:r>
            <a:r>
              <a:rPr lang="zh-CN" altLang="en-US" dirty="0"/>
              <a:t> </a:t>
            </a:r>
            <a:r>
              <a:rPr lang="en-US" altLang="zh-CN" dirty="0"/>
              <a:t>checking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stability</a:t>
            </a:r>
            <a:r>
              <a:rPr lang="zh-CN" altLang="en-US" dirty="0"/>
              <a:t> </a:t>
            </a:r>
            <a:r>
              <a:rPr lang="en-US" altLang="zh-CN" dirty="0"/>
              <a:t>across</a:t>
            </a:r>
            <a:r>
              <a:rPr lang="zh-CN" altLang="en-US" dirty="0"/>
              <a:t> </a:t>
            </a:r>
            <a:r>
              <a:rPr lang="en-US" altLang="zh-CN" dirty="0"/>
              <a:t>different</a:t>
            </a:r>
            <a:r>
              <a:rPr lang="zh-CN" altLang="en-US" dirty="0"/>
              <a:t> </a:t>
            </a:r>
            <a:r>
              <a:rPr lang="en-US" altLang="zh-CN" dirty="0"/>
              <a:t>configurations,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second</a:t>
            </a:r>
            <a:r>
              <a:rPr lang="zh-CN" altLang="en-US" dirty="0"/>
              <a:t> </a:t>
            </a:r>
            <a:r>
              <a:rPr lang="en-US" altLang="zh-CN" dirty="0"/>
              <a:t>question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"can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misaligned</a:t>
            </a:r>
            <a:r>
              <a:rPr lang="zh-CN" altLang="en-US" dirty="0"/>
              <a:t> </a:t>
            </a:r>
            <a:r>
              <a:rPr lang="en-US" altLang="zh-CN" dirty="0"/>
              <a:t>configuration</a:t>
            </a:r>
            <a:r>
              <a:rPr lang="zh-CN" altLang="en-US" dirty="0"/>
              <a:t> </a:t>
            </a:r>
            <a:r>
              <a:rPr lang="en-US" altLang="zh-CN" dirty="0"/>
              <a:t>fit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existing</a:t>
            </a:r>
            <a:r>
              <a:rPr lang="zh-CN" altLang="en-US" dirty="0"/>
              <a:t> </a:t>
            </a:r>
            <a:r>
              <a:rPr lang="en-US" altLang="zh-CN" dirty="0"/>
              <a:t>radial</a:t>
            </a:r>
            <a:r>
              <a:rPr lang="zh-CN" altLang="en-US" dirty="0"/>
              <a:t> </a:t>
            </a:r>
            <a:r>
              <a:rPr lang="en-US" altLang="zh-CN" dirty="0"/>
              <a:t>velocity</a:t>
            </a:r>
            <a:r>
              <a:rPr lang="zh-CN" altLang="en-US" dirty="0"/>
              <a:t> </a:t>
            </a:r>
            <a:r>
              <a:rPr lang="en-US" altLang="zh-CN" dirty="0"/>
              <a:t>data?"</a:t>
            </a:r>
          </a:p>
          <a:p>
            <a:endParaRPr lang="en-US" dirty="0"/>
          </a:p>
          <a:p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RV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system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from</a:t>
            </a:r>
            <a:r>
              <a:rPr lang="zh-CN" altLang="en-US" dirty="0"/>
              <a:t> </a:t>
            </a:r>
            <a:r>
              <a:rPr lang="en-US" altLang="zh-CN" dirty="0"/>
              <a:t>a previous</a:t>
            </a:r>
            <a:r>
              <a:rPr lang="zh-CN" altLang="en-US" dirty="0"/>
              <a:t> </a:t>
            </a:r>
            <a:r>
              <a:rPr lang="en-US" altLang="zh-CN" dirty="0"/>
              <a:t>observation</a:t>
            </a:r>
            <a:r>
              <a:rPr lang="zh-CN" altLang="en-US" dirty="0"/>
              <a:t> </a:t>
            </a:r>
            <a:r>
              <a:rPr lang="en-US" altLang="zh-CN" dirty="0"/>
              <a:t>from</a:t>
            </a:r>
            <a:r>
              <a:rPr lang="zh-CN" altLang="en-US" dirty="0"/>
              <a:t> </a:t>
            </a:r>
            <a:r>
              <a:rPr lang="en-US" altLang="zh-CN" dirty="0"/>
              <a:t>2001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2002.</a:t>
            </a:r>
            <a:r>
              <a:rPr lang="zh-CN" altLang="en-US" dirty="0"/>
              <a:t> </a:t>
            </a:r>
            <a:r>
              <a:rPr lang="en-US" altLang="zh-CN" dirty="0"/>
              <a:t>Due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short</a:t>
            </a:r>
            <a:r>
              <a:rPr lang="zh-CN" altLang="en-US" dirty="0"/>
              <a:t> </a:t>
            </a:r>
            <a:r>
              <a:rPr lang="en-US" altLang="zh-CN" dirty="0"/>
              <a:t>time</a:t>
            </a:r>
            <a:r>
              <a:rPr lang="zh-CN" altLang="en-US" dirty="0"/>
              <a:t> </a:t>
            </a:r>
            <a:r>
              <a:rPr lang="en-US" altLang="zh-CN" dirty="0"/>
              <a:t>baseline,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RV</a:t>
            </a:r>
            <a:r>
              <a:rPr lang="zh-CN" altLang="en-US" dirty="0"/>
              <a:t> </a:t>
            </a:r>
            <a:r>
              <a:rPr lang="en-US" altLang="zh-CN" dirty="0"/>
              <a:t>signal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recognized</a:t>
            </a:r>
            <a:r>
              <a:rPr lang="zh-CN" altLang="en-US" dirty="0"/>
              <a:t> </a:t>
            </a:r>
            <a:r>
              <a:rPr lang="en-US" altLang="zh-CN" dirty="0"/>
              <a:t>as</a:t>
            </a:r>
            <a:r>
              <a:rPr lang="zh-CN" altLang="en-US" dirty="0"/>
              <a:t> </a:t>
            </a:r>
            <a:r>
              <a:rPr lang="en-US" altLang="zh-CN" dirty="0"/>
              <a:t>primarily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planetary</a:t>
            </a:r>
            <a:r>
              <a:rPr lang="zh-CN" altLang="en-US" dirty="0"/>
              <a:t> </a:t>
            </a:r>
            <a:r>
              <a:rPr lang="en-US" altLang="zh-CN" dirty="0"/>
              <a:t>signal,</a:t>
            </a:r>
            <a:r>
              <a:rPr lang="zh-CN" altLang="en-US" dirty="0"/>
              <a:t> </a:t>
            </a:r>
            <a:r>
              <a:rPr lang="en-US" altLang="zh-CN" dirty="0"/>
              <a:t>having</a:t>
            </a:r>
            <a:r>
              <a:rPr lang="zh-CN" altLang="en-US" dirty="0"/>
              <a:t> </a:t>
            </a:r>
            <a:r>
              <a:rPr lang="en-US" altLang="zh-CN" dirty="0"/>
              <a:t>weak</a:t>
            </a:r>
            <a:r>
              <a:rPr lang="zh-CN" altLang="en-US" dirty="0"/>
              <a:t> </a:t>
            </a:r>
            <a:r>
              <a:rPr lang="en-US" altLang="zh-CN" dirty="0"/>
              <a:t>constraints</a:t>
            </a:r>
            <a:r>
              <a:rPr lang="zh-CN" altLang="en-US" dirty="0"/>
              <a:t> </a:t>
            </a:r>
            <a:r>
              <a:rPr lang="en-US" altLang="zh-CN" dirty="0"/>
              <a:t>on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binary</a:t>
            </a:r>
            <a:r>
              <a:rPr lang="zh-CN" altLang="en-US" dirty="0"/>
              <a:t> </a:t>
            </a:r>
            <a:r>
              <a:rPr lang="en-US" altLang="zh-CN" dirty="0"/>
              <a:t>companion.</a:t>
            </a:r>
          </a:p>
          <a:p>
            <a:endParaRPr lang="en-US" altLang="zh-CN" dirty="0"/>
          </a:p>
          <a:p>
            <a:r>
              <a:rPr lang="en-US" altLang="zh-CN" dirty="0"/>
              <a:t>So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run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dynamical</a:t>
            </a:r>
            <a:r>
              <a:rPr lang="zh-CN" altLang="en-US" dirty="0"/>
              <a:t> </a:t>
            </a:r>
            <a:r>
              <a:rPr lang="en-US" altLang="zh-CN" dirty="0"/>
              <a:t>modeling</a:t>
            </a:r>
            <a:r>
              <a:rPr lang="zh-CN" altLang="en-US" dirty="0"/>
              <a:t> </a:t>
            </a:r>
            <a:r>
              <a:rPr lang="en-US" altLang="zh-CN" dirty="0"/>
              <a:t>using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rebound,</a:t>
            </a:r>
            <a:r>
              <a:rPr lang="zh-CN" altLang="en-US" dirty="0"/>
              <a:t> </a:t>
            </a:r>
            <a:r>
              <a:rPr lang="en-US" altLang="zh-CN" dirty="0"/>
              <a:t>simulating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velocity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star</a:t>
            </a:r>
            <a:r>
              <a:rPr lang="zh-CN" altLang="en-US" dirty="0"/>
              <a:t> </a:t>
            </a:r>
            <a:r>
              <a:rPr lang="en-US" altLang="zh-CN" dirty="0"/>
              <a:t>A,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fit</a:t>
            </a:r>
            <a:r>
              <a:rPr lang="zh-CN" altLang="en-US" dirty="0"/>
              <a:t> </a:t>
            </a:r>
            <a:r>
              <a:rPr lang="en-US" altLang="zh-CN" dirty="0"/>
              <a:t>it with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data.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run</a:t>
            </a:r>
            <a:r>
              <a:rPr lang="zh-CN" altLang="en-US" dirty="0"/>
              <a:t> </a:t>
            </a:r>
            <a:r>
              <a:rPr lang="en-US" altLang="zh-CN" dirty="0"/>
              <a:t>different</a:t>
            </a:r>
            <a:r>
              <a:rPr lang="zh-CN" altLang="en-US" dirty="0"/>
              <a:t> </a:t>
            </a:r>
            <a:r>
              <a:rPr lang="en-US" altLang="zh-CN" dirty="0"/>
              <a:t>tests</a:t>
            </a:r>
            <a:r>
              <a:rPr lang="zh-CN" altLang="en-US" dirty="0"/>
              <a:t> </a:t>
            </a:r>
            <a:r>
              <a:rPr lang="en-US" altLang="zh-CN" dirty="0"/>
              <a:t>over</a:t>
            </a:r>
            <a:r>
              <a:rPr lang="zh-CN" altLang="en-US" dirty="0"/>
              <a:t> </a:t>
            </a:r>
            <a:r>
              <a:rPr lang="en-US" altLang="zh-CN" dirty="0"/>
              <a:t>different</a:t>
            </a:r>
            <a:r>
              <a:rPr lang="zh-CN" altLang="en-US" dirty="0"/>
              <a:t> </a:t>
            </a:r>
            <a:r>
              <a:rPr lang="en-US" altLang="zh-CN" dirty="0"/>
              <a:t>parameters,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example,</a:t>
            </a:r>
            <a:r>
              <a:rPr lang="zh-CN" altLang="en-US" dirty="0"/>
              <a:t> </a:t>
            </a:r>
            <a:r>
              <a:rPr lang="en-US" altLang="zh-CN" dirty="0"/>
              <a:t>different</a:t>
            </a:r>
            <a:r>
              <a:rPr lang="zh-CN" altLang="en-US" dirty="0"/>
              <a:t> </a:t>
            </a:r>
            <a:r>
              <a:rPr lang="en-US" altLang="zh-CN" dirty="0"/>
              <a:t>mutual</a:t>
            </a:r>
            <a:r>
              <a:rPr lang="zh-CN" altLang="en-US" dirty="0"/>
              <a:t> </a:t>
            </a:r>
            <a:r>
              <a:rPr lang="en-US" altLang="zh-CN" dirty="0"/>
              <a:t>inclinations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different</a:t>
            </a:r>
            <a:r>
              <a:rPr lang="zh-CN" altLang="en-US" dirty="0"/>
              <a:t> </a:t>
            </a:r>
            <a:r>
              <a:rPr lang="en-US" altLang="zh-CN" dirty="0"/>
              <a:t>binary</a:t>
            </a:r>
            <a:r>
              <a:rPr lang="zh-CN" altLang="en-US" dirty="0"/>
              <a:t> </a:t>
            </a:r>
            <a:r>
              <a:rPr lang="en-US" altLang="zh-CN" dirty="0"/>
              <a:t>eccentricities.</a:t>
            </a:r>
            <a:r>
              <a:rPr lang="zh-CN" altLang="en-US" dirty="0"/>
              <a:t> 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results</a:t>
            </a:r>
            <a:r>
              <a:rPr lang="zh-CN" altLang="en-US" dirty="0"/>
              <a:t> </a:t>
            </a:r>
            <a:r>
              <a:rPr lang="en-US" altLang="zh-CN" dirty="0"/>
              <a:t>show</a:t>
            </a:r>
            <a:r>
              <a:rPr lang="zh-CN" altLang="en-US" dirty="0"/>
              <a:t> </a:t>
            </a:r>
            <a:r>
              <a:rPr lang="en-US" altLang="zh-CN" dirty="0"/>
              <a:t>that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binary</a:t>
            </a:r>
            <a:r>
              <a:rPr lang="zh-CN" altLang="en-US" dirty="0"/>
              <a:t> </a:t>
            </a:r>
            <a:r>
              <a:rPr lang="en-US" altLang="zh-CN" dirty="0"/>
              <a:t>may</a:t>
            </a:r>
            <a:r>
              <a:rPr lang="zh-CN" altLang="en-US" dirty="0"/>
              <a:t> </a:t>
            </a:r>
            <a:r>
              <a:rPr lang="en-US" altLang="zh-CN" dirty="0"/>
              <a:t>be</a:t>
            </a:r>
            <a:r>
              <a:rPr lang="zh-CN" altLang="en-US" dirty="0"/>
              <a:t> </a:t>
            </a:r>
            <a:r>
              <a:rPr lang="en-US" altLang="zh-CN" dirty="0"/>
              <a:t>low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moderate</a:t>
            </a:r>
            <a:r>
              <a:rPr lang="zh-CN" altLang="en-US" dirty="0"/>
              <a:t> </a:t>
            </a:r>
            <a:r>
              <a:rPr lang="en-US" altLang="zh-CN" dirty="0"/>
              <a:t>eccentric,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all</a:t>
            </a:r>
            <a:r>
              <a:rPr lang="zh-CN" altLang="en-US" dirty="0"/>
              <a:t> </a:t>
            </a:r>
            <a:r>
              <a:rPr lang="en-US" altLang="zh-CN" dirty="0"/>
              <a:t>inclinations</a:t>
            </a:r>
            <a:r>
              <a:rPr lang="zh-CN" altLang="en-US" dirty="0"/>
              <a:t> </a:t>
            </a:r>
            <a:r>
              <a:rPr lang="en-US" altLang="zh-CN" dirty="0"/>
              <a:t>from</a:t>
            </a:r>
            <a:r>
              <a:rPr lang="zh-CN" altLang="en-US" dirty="0"/>
              <a:t> </a:t>
            </a:r>
            <a:r>
              <a:rPr lang="en-US" altLang="zh-CN" dirty="0"/>
              <a:t>0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75</a:t>
            </a:r>
            <a:r>
              <a:rPr lang="zh-CN" altLang="en-US" dirty="0"/>
              <a:t> </a:t>
            </a:r>
            <a:r>
              <a:rPr lang="en-US" altLang="zh-CN" dirty="0"/>
              <a:t>degrees.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also</a:t>
            </a:r>
            <a:r>
              <a:rPr lang="zh-CN" altLang="en-US" dirty="0"/>
              <a:t> </a:t>
            </a:r>
            <a:r>
              <a:rPr lang="en-US" altLang="zh-CN" dirty="0"/>
              <a:t>search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wider</a:t>
            </a:r>
            <a:r>
              <a:rPr lang="zh-CN" altLang="en-US" dirty="0"/>
              <a:t> </a:t>
            </a:r>
            <a:r>
              <a:rPr lang="en-US" altLang="zh-CN" dirty="0"/>
              <a:t>binary</a:t>
            </a:r>
            <a:r>
              <a:rPr lang="zh-CN" altLang="en-US" dirty="0"/>
              <a:t> </a:t>
            </a:r>
            <a:r>
              <a:rPr lang="en-US" altLang="zh-CN" dirty="0"/>
              <a:t>orbits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different</a:t>
            </a:r>
            <a:r>
              <a:rPr lang="zh-CN" altLang="en-US" dirty="0"/>
              <a:t> </a:t>
            </a:r>
            <a:r>
              <a:rPr lang="en-US" altLang="zh-CN" dirty="0"/>
              <a:t>minimum</a:t>
            </a:r>
            <a:r>
              <a:rPr lang="zh-CN" altLang="en-US" dirty="0"/>
              <a:t> </a:t>
            </a:r>
            <a:r>
              <a:rPr lang="en-US" altLang="zh-CN" dirty="0"/>
              <a:t>planet</a:t>
            </a:r>
            <a:r>
              <a:rPr lang="zh-CN" altLang="en-US" dirty="0"/>
              <a:t> </a:t>
            </a:r>
            <a:r>
              <a:rPr lang="en-US" altLang="zh-CN" dirty="0"/>
              <a:t>masses.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results</a:t>
            </a:r>
            <a:r>
              <a:rPr lang="zh-CN" altLang="en-US" dirty="0"/>
              <a:t> </a:t>
            </a:r>
            <a:r>
              <a:rPr lang="en-US" altLang="zh-CN" dirty="0"/>
              <a:t>remain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same.</a:t>
            </a:r>
            <a:r>
              <a:rPr lang="zh-CN" altLang="en-US" dirty="0"/>
              <a:t> </a:t>
            </a:r>
            <a:r>
              <a:rPr lang="en-US" altLang="zh-CN" dirty="0"/>
              <a:t>Current</a:t>
            </a:r>
            <a:r>
              <a:rPr lang="zh-CN" altLang="en-US" dirty="0"/>
              <a:t> </a:t>
            </a:r>
            <a:r>
              <a:rPr lang="en-US" altLang="zh-CN" dirty="0"/>
              <a:t>observation</a:t>
            </a:r>
            <a:r>
              <a:rPr lang="zh-CN" altLang="en-US" dirty="0"/>
              <a:t> </a:t>
            </a:r>
            <a:r>
              <a:rPr lang="en-US" altLang="zh-CN" dirty="0"/>
              <a:t>can</a:t>
            </a:r>
            <a:r>
              <a:rPr lang="zh-CN" altLang="en-US" dirty="0"/>
              <a:t> </a:t>
            </a:r>
            <a:r>
              <a:rPr lang="en-US" altLang="zh-CN" dirty="0"/>
              <a:t>only</a:t>
            </a:r>
            <a:r>
              <a:rPr lang="zh-CN" altLang="en-US" dirty="0"/>
              <a:t> </a:t>
            </a:r>
            <a:r>
              <a:rPr lang="en-US" altLang="zh-CN" dirty="0"/>
              <a:t>tell</a:t>
            </a:r>
            <a:r>
              <a:rPr lang="zh-CN" altLang="en-US" dirty="0"/>
              <a:t> </a:t>
            </a:r>
            <a:r>
              <a:rPr lang="en-US" altLang="zh-CN" dirty="0"/>
              <a:t>that the</a:t>
            </a:r>
            <a:r>
              <a:rPr lang="zh-CN" altLang="en-US" dirty="0"/>
              <a:t> </a:t>
            </a:r>
            <a:r>
              <a:rPr lang="en-US" altLang="zh-CN" dirty="0"/>
              <a:t>binary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probably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low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moderate</a:t>
            </a:r>
            <a:r>
              <a:rPr lang="zh-CN" altLang="en-US" dirty="0"/>
              <a:t> </a:t>
            </a:r>
            <a:r>
              <a:rPr lang="en-US" altLang="zh-CN" dirty="0"/>
              <a:t>eccentricity,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does</a:t>
            </a:r>
            <a:r>
              <a:rPr lang="zh-CN" altLang="en-US" dirty="0"/>
              <a:t> </a:t>
            </a:r>
            <a:r>
              <a:rPr lang="en-US" altLang="zh-CN" dirty="0"/>
              <a:t>not</a:t>
            </a:r>
            <a:r>
              <a:rPr lang="zh-CN" altLang="en-US" dirty="0"/>
              <a:t> </a:t>
            </a:r>
            <a:r>
              <a:rPr lang="en-US" altLang="zh-CN" dirty="0"/>
              <a:t>reject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assumption</a:t>
            </a:r>
            <a:r>
              <a:rPr lang="zh-CN" altLang="en-US" dirty="0"/>
              <a:t> </a:t>
            </a:r>
            <a:r>
              <a:rPr lang="en-US" altLang="zh-CN" dirty="0"/>
              <a:t>that</a:t>
            </a:r>
            <a:r>
              <a:rPr lang="zh-CN" altLang="en-US" dirty="0"/>
              <a:t> </a:t>
            </a:r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system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compact</a:t>
            </a:r>
            <a:r>
              <a:rPr lang="zh-CN" altLang="en-US" dirty="0"/>
              <a:t> </a:t>
            </a:r>
            <a:r>
              <a:rPr lang="en-US" altLang="zh-CN" dirty="0"/>
              <a:t>binary.</a:t>
            </a:r>
            <a:endParaRPr lang="en-US" dirty="0"/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B5A071-26D1-7349-BDE2-A02EF9C8BDDE}" type="slidenum">
              <a:rPr lang="en-CN" smtClean="0"/>
              <a:t>8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2374223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sum</a:t>
            </a:r>
            <a:r>
              <a:rPr lang="zh-CN" altLang="en-US" dirty="0"/>
              <a:t> </a:t>
            </a:r>
            <a:r>
              <a:rPr lang="en-US" altLang="zh-CN" dirty="0"/>
              <a:t>up,</a:t>
            </a:r>
            <a:r>
              <a:rPr lang="zh-CN" altLang="en-US" dirty="0"/>
              <a:t> </a:t>
            </a:r>
            <a:r>
              <a:rPr lang="en-US" altLang="zh-CN" dirty="0"/>
              <a:t>from</a:t>
            </a:r>
            <a:r>
              <a:rPr lang="zh-CN" altLang="en-US" dirty="0"/>
              <a:t> </a:t>
            </a:r>
            <a:r>
              <a:rPr lang="en-US" altLang="zh-CN" dirty="0"/>
              <a:t>simulations,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know</a:t>
            </a:r>
            <a:r>
              <a:rPr lang="zh-CN" altLang="en-US" dirty="0"/>
              <a:t> </a:t>
            </a:r>
            <a:r>
              <a:rPr lang="en-US" altLang="zh-CN" dirty="0"/>
              <a:t>that:</a:t>
            </a:r>
            <a:r>
              <a:rPr lang="zh-CN" altLang="en-US" dirty="0"/>
              <a:t> </a:t>
            </a:r>
            <a:r>
              <a:rPr lang="en-US" altLang="zh-CN" dirty="0"/>
              <a:t>from</a:t>
            </a:r>
            <a:r>
              <a:rPr lang="zh-CN" altLang="en-US" dirty="0"/>
              <a:t> </a:t>
            </a:r>
            <a:r>
              <a:rPr lang="en-US" altLang="zh-CN" dirty="0"/>
              <a:t>stability</a:t>
            </a:r>
            <a:r>
              <a:rPr lang="zh-CN" altLang="en-US" dirty="0"/>
              <a:t> </a:t>
            </a:r>
            <a:r>
              <a:rPr lang="en-US" altLang="zh-CN" dirty="0"/>
              <a:t>maps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dynamical</a:t>
            </a:r>
            <a:r>
              <a:rPr lang="zh-CN" altLang="en-US" dirty="0"/>
              <a:t> </a:t>
            </a:r>
            <a:r>
              <a:rPr lang="en-US" altLang="zh-CN" dirty="0"/>
              <a:t>modeling,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simulations</a:t>
            </a:r>
            <a:r>
              <a:rPr lang="zh-CN" altLang="en-US" dirty="0"/>
              <a:t> </a:t>
            </a:r>
            <a:r>
              <a:rPr lang="en-US" altLang="zh-CN" dirty="0"/>
              <a:t>show</a:t>
            </a:r>
            <a:r>
              <a:rPr lang="zh-CN" altLang="en-US" dirty="0"/>
              <a:t> </a:t>
            </a:r>
            <a:r>
              <a:rPr lang="en-US" altLang="zh-CN" dirty="0"/>
              <a:t>that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binary</a:t>
            </a:r>
            <a:r>
              <a:rPr lang="zh-CN" altLang="en-US" dirty="0"/>
              <a:t> </a:t>
            </a:r>
            <a:r>
              <a:rPr lang="en-US" altLang="zh-CN" dirty="0"/>
              <a:t>could</a:t>
            </a:r>
            <a:r>
              <a:rPr lang="zh-CN" altLang="en-US" dirty="0"/>
              <a:t> </a:t>
            </a:r>
            <a:r>
              <a:rPr lang="en-US" altLang="zh-CN" dirty="0"/>
              <a:t>be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close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moderate</a:t>
            </a:r>
            <a:r>
              <a:rPr lang="zh-CN" altLang="en-US" dirty="0"/>
              <a:t> </a:t>
            </a:r>
            <a:r>
              <a:rPr lang="en-US" altLang="zh-CN" dirty="0"/>
              <a:t>eccentric</a:t>
            </a:r>
            <a:r>
              <a:rPr lang="zh-CN" altLang="en-US" dirty="0"/>
              <a:t> </a:t>
            </a:r>
            <a:r>
              <a:rPr lang="en-US" altLang="zh-CN" dirty="0"/>
              <a:t>configuration,</a:t>
            </a:r>
            <a:r>
              <a:rPr lang="zh-CN" altLang="en-US" dirty="0"/>
              <a:t> </a:t>
            </a:r>
            <a:r>
              <a:rPr lang="en-US" altLang="zh-CN" dirty="0"/>
              <a:t>with</a:t>
            </a:r>
            <a:r>
              <a:rPr lang="zh-CN" altLang="en-US" dirty="0"/>
              <a:t> </a:t>
            </a:r>
            <a:r>
              <a:rPr lang="en-US" altLang="zh-CN" dirty="0"/>
              <a:t>the planet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mutual</a:t>
            </a:r>
            <a:r>
              <a:rPr lang="zh-CN" altLang="en-US" dirty="0"/>
              <a:t> </a:t>
            </a:r>
            <a:r>
              <a:rPr lang="en-US" altLang="zh-CN" dirty="0"/>
              <a:t>inclination</a:t>
            </a:r>
            <a:r>
              <a:rPr lang="zh-CN" altLang="en-US" dirty="0"/>
              <a:t> </a:t>
            </a:r>
            <a:r>
              <a:rPr lang="en-US" altLang="zh-CN" dirty="0"/>
              <a:t>up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75</a:t>
            </a:r>
            <a:r>
              <a:rPr lang="zh-CN" altLang="en-US" dirty="0"/>
              <a:t> </a:t>
            </a:r>
            <a:r>
              <a:rPr lang="en-US" altLang="zh-CN" dirty="0"/>
              <a:t>degrees.</a:t>
            </a:r>
            <a:r>
              <a:rPr lang="zh-CN" altLang="en-US" dirty="0"/>
              <a:t> </a:t>
            </a:r>
            <a:r>
              <a:rPr lang="en-US" altLang="zh-CN" dirty="0"/>
              <a:t>So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results</a:t>
            </a:r>
            <a:r>
              <a:rPr lang="zh-CN" altLang="en-US" dirty="0"/>
              <a:t> </a:t>
            </a:r>
            <a:r>
              <a:rPr lang="en-US" altLang="zh-CN" dirty="0"/>
              <a:t>do</a:t>
            </a:r>
            <a:r>
              <a:rPr lang="zh-CN" altLang="en-US" dirty="0"/>
              <a:t> </a:t>
            </a:r>
            <a:r>
              <a:rPr lang="en-US" altLang="zh-CN" dirty="0"/>
              <a:t>not</a:t>
            </a:r>
            <a:r>
              <a:rPr lang="zh-CN" altLang="en-US" dirty="0"/>
              <a:t> </a:t>
            </a:r>
            <a:r>
              <a:rPr lang="en-US" altLang="zh-CN" dirty="0"/>
              <a:t>reject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assumption</a:t>
            </a:r>
            <a:r>
              <a:rPr lang="zh-CN" altLang="en-US" dirty="0"/>
              <a:t> </a:t>
            </a:r>
            <a:r>
              <a:rPr lang="en-US" altLang="zh-CN" dirty="0"/>
              <a:t>that</a:t>
            </a:r>
            <a:r>
              <a:rPr lang="zh-CN" altLang="en-US" dirty="0"/>
              <a:t> </a:t>
            </a:r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planet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 err="1"/>
              <a:t>vZLK</a:t>
            </a:r>
            <a:r>
              <a:rPr lang="zh-CN" altLang="en-US" dirty="0"/>
              <a:t> </a:t>
            </a:r>
            <a:r>
              <a:rPr lang="en-US" altLang="zh-CN" dirty="0"/>
              <a:t>oscillation.</a:t>
            </a:r>
            <a:r>
              <a:rPr lang="zh-CN" altLang="en-US" dirty="0"/>
              <a:t> 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So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next</a:t>
            </a:r>
            <a:r>
              <a:rPr lang="zh-CN" altLang="en-US" dirty="0"/>
              <a:t> </a:t>
            </a:r>
            <a:r>
              <a:rPr lang="en-US" altLang="zh-CN" dirty="0"/>
              <a:t>question</a:t>
            </a:r>
            <a:r>
              <a:rPr lang="zh-CN" altLang="en-US" dirty="0"/>
              <a:t> </a:t>
            </a:r>
            <a:r>
              <a:rPr lang="en-US" altLang="zh-CN" dirty="0"/>
              <a:t>is,</a:t>
            </a:r>
            <a:r>
              <a:rPr lang="zh-CN" altLang="en-US" dirty="0"/>
              <a:t> </a:t>
            </a:r>
            <a:r>
              <a:rPr lang="en-US" altLang="zh-CN" dirty="0"/>
              <a:t>what</a:t>
            </a:r>
            <a:r>
              <a:rPr lang="zh-CN" altLang="en-US" dirty="0"/>
              <a:t> </a:t>
            </a:r>
            <a:r>
              <a:rPr lang="en-US" altLang="zh-CN" dirty="0"/>
              <a:t>are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observational</a:t>
            </a:r>
            <a:r>
              <a:rPr lang="zh-CN" altLang="en-US" dirty="0"/>
              <a:t> </a:t>
            </a:r>
            <a:r>
              <a:rPr lang="en-US" altLang="zh-CN" dirty="0"/>
              <a:t>signatures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 err="1"/>
              <a:t>vZLK</a:t>
            </a:r>
            <a:r>
              <a:rPr lang="zh-CN" altLang="en-US" dirty="0"/>
              <a:t> </a:t>
            </a:r>
            <a:r>
              <a:rPr lang="en-US" altLang="zh-CN" dirty="0"/>
              <a:t>planets?</a:t>
            </a:r>
            <a:r>
              <a:rPr lang="zh-CN" altLang="en-US" dirty="0"/>
              <a:t> </a:t>
            </a:r>
            <a:r>
              <a:rPr lang="en-US" altLang="zh-CN" dirty="0"/>
              <a:t>Could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signatures</a:t>
            </a:r>
            <a:r>
              <a:rPr lang="zh-CN" altLang="en-US" dirty="0"/>
              <a:t> </a:t>
            </a:r>
            <a:r>
              <a:rPr lang="en-US" altLang="zh-CN" dirty="0"/>
              <a:t>be</a:t>
            </a:r>
            <a:r>
              <a:rPr lang="zh-CN" altLang="en-US" dirty="0"/>
              <a:t> </a:t>
            </a:r>
            <a:r>
              <a:rPr lang="en-US" altLang="zh-CN" dirty="0"/>
              <a:t>captured</a:t>
            </a:r>
            <a:r>
              <a:rPr lang="zh-CN" altLang="en-US" dirty="0"/>
              <a:t> </a:t>
            </a:r>
            <a:r>
              <a:rPr lang="en-US" altLang="zh-CN" dirty="0"/>
              <a:t>by</a:t>
            </a:r>
            <a:r>
              <a:rPr lang="zh-CN" altLang="en-US" dirty="0"/>
              <a:t> </a:t>
            </a:r>
            <a:r>
              <a:rPr lang="en-US" altLang="zh-CN" dirty="0"/>
              <a:t>current</a:t>
            </a:r>
            <a:r>
              <a:rPr lang="zh-CN" altLang="en-US" dirty="0"/>
              <a:t> </a:t>
            </a:r>
            <a:r>
              <a:rPr lang="en-US" altLang="zh-CN" dirty="0"/>
              <a:t>or</a:t>
            </a:r>
            <a:r>
              <a:rPr lang="zh-CN" altLang="en-US" dirty="0"/>
              <a:t> </a:t>
            </a:r>
            <a:r>
              <a:rPr lang="en-US" altLang="zh-CN" dirty="0"/>
              <a:t>future</a:t>
            </a:r>
            <a:r>
              <a:rPr lang="zh-CN" altLang="en-US" dirty="0"/>
              <a:t> </a:t>
            </a:r>
            <a:r>
              <a:rPr lang="en-US" altLang="zh-CN" dirty="0"/>
              <a:t>instruments?</a:t>
            </a:r>
            <a:r>
              <a:rPr lang="zh-CN" altLang="en-US" dirty="0"/>
              <a:t> </a:t>
            </a:r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B5A071-26D1-7349-BDE2-A02EF9C8BDDE}" type="slidenum">
              <a:rPr lang="en-CN" smtClean="0"/>
              <a:t>9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9594042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planet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HD</a:t>
            </a:r>
            <a:r>
              <a:rPr lang="zh-CN" altLang="en-US" dirty="0"/>
              <a:t> </a:t>
            </a:r>
            <a:r>
              <a:rPr lang="en-US" altLang="zh-CN" dirty="0"/>
              <a:t>41004</a:t>
            </a:r>
            <a:r>
              <a:rPr lang="zh-CN" altLang="en-US" dirty="0"/>
              <a:t> </a:t>
            </a:r>
            <a:r>
              <a:rPr lang="en-US" altLang="zh-CN" dirty="0"/>
              <a:t>was</a:t>
            </a:r>
            <a:r>
              <a:rPr lang="zh-CN" altLang="en-US" dirty="0"/>
              <a:t> </a:t>
            </a:r>
            <a:r>
              <a:rPr lang="en-US" altLang="zh-CN" dirty="0"/>
              <a:t>discovered</a:t>
            </a:r>
            <a:r>
              <a:rPr lang="zh-CN" altLang="en-US" dirty="0"/>
              <a:t> </a:t>
            </a:r>
            <a:r>
              <a:rPr lang="en-US" altLang="zh-CN" dirty="0"/>
              <a:t>by</a:t>
            </a:r>
            <a:r>
              <a:rPr lang="zh-CN" altLang="en-US" dirty="0"/>
              <a:t> </a:t>
            </a:r>
            <a:r>
              <a:rPr lang="en-US" altLang="zh-CN" dirty="0"/>
              <a:t>radial</a:t>
            </a:r>
            <a:r>
              <a:rPr lang="zh-CN" altLang="en-US" dirty="0"/>
              <a:t> </a:t>
            </a:r>
            <a:r>
              <a:rPr lang="en-US" altLang="zh-CN" dirty="0"/>
              <a:t>velocity</a:t>
            </a:r>
            <a:r>
              <a:rPr lang="zh-CN" altLang="en-US" dirty="0"/>
              <a:t> </a:t>
            </a:r>
            <a:r>
              <a:rPr lang="en-US" altLang="zh-CN" dirty="0"/>
              <a:t>measurements.</a:t>
            </a:r>
            <a:r>
              <a:rPr lang="zh-CN" altLang="en-US" dirty="0"/>
              <a:t> </a:t>
            </a:r>
            <a:r>
              <a:rPr lang="en-US" altLang="zh-CN" dirty="0"/>
              <a:t>When</a:t>
            </a:r>
            <a:r>
              <a:rPr lang="zh-CN" altLang="en-US" dirty="0"/>
              <a:t> </a:t>
            </a:r>
            <a:r>
              <a:rPr lang="en-US" altLang="zh-CN" dirty="0"/>
              <a:t>it</a:t>
            </a:r>
            <a:r>
              <a:rPr lang="zh-CN" altLang="en-US" dirty="0"/>
              <a:t> </a:t>
            </a:r>
            <a:r>
              <a:rPr lang="en-US" altLang="zh-CN" dirty="0"/>
              <a:t>comes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RV</a:t>
            </a:r>
            <a:r>
              <a:rPr lang="zh-CN" altLang="en-US" dirty="0"/>
              <a:t> </a:t>
            </a:r>
            <a:r>
              <a:rPr lang="en-US" altLang="zh-CN" dirty="0"/>
              <a:t>detection,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semi-amplitude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RV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shape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RV</a:t>
            </a:r>
            <a:r>
              <a:rPr lang="zh-CN" altLang="en-US" dirty="0"/>
              <a:t> </a:t>
            </a:r>
            <a:r>
              <a:rPr lang="en-US" altLang="zh-CN" dirty="0"/>
              <a:t>curve</a:t>
            </a:r>
            <a:r>
              <a:rPr lang="zh-CN" altLang="en-US" dirty="0"/>
              <a:t> </a:t>
            </a:r>
            <a:r>
              <a:rPr lang="en-US" altLang="zh-CN" dirty="0"/>
              <a:t>are</a:t>
            </a:r>
            <a:r>
              <a:rPr lang="zh-CN" altLang="en-US" dirty="0"/>
              <a:t> </a:t>
            </a:r>
            <a:r>
              <a:rPr lang="en-US" altLang="zh-CN" dirty="0"/>
              <a:t>influenced</a:t>
            </a:r>
            <a:r>
              <a:rPr lang="zh-CN" altLang="en-US" dirty="0"/>
              <a:t> </a:t>
            </a:r>
            <a:r>
              <a:rPr lang="en-US" altLang="zh-CN" dirty="0"/>
              <a:t>by</a:t>
            </a:r>
            <a:r>
              <a:rPr lang="zh-CN" altLang="en-US" dirty="0"/>
              <a:t> </a:t>
            </a:r>
            <a:r>
              <a:rPr lang="en-US" altLang="zh-CN" dirty="0"/>
              <a:t>its</a:t>
            </a:r>
            <a:r>
              <a:rPr lang="zh-CN" altLang="en-US" dirty="0"/>
              <a:t> </a:t>
            </a:r>
            <a:r>
              <a:rPr lang="en-US" altLang="zh-CN" dirty="0"/>
              <a:t>eccentricity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observational</a:t>
            </a:r>
            <a:r>
              <a:rPr lang="zh-CN" altLang="en-US" dirty="0"/>
              <a:t> </a:t>
            </a:r>
            <a:r>
              <a:rPr lang="en-US" altLang="zh-CN" dirty="0"/>
              <a:t>inclination.</a:t>
            </a:r>
            <a:r>
              <a:rPr lang="zh-CN" altLang="en-US" dirty="0"/>
              <a:t> </a:t>
            </a:r>
            <a:r>
              <a:rPr lang="en-US" altLang="zh-CN" dirty="0"/>
              <a:t>If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mutual</a:t>
            </a:r>
            <a:r>
              <a:rPr lang="zh-CN" altLang="en-US" dirty="0"/>
              <a:t> </a:t>
            </a:r>
            <a:r>
              <a:rPr lang="en-US" altLang="zh-CN" dirty="0"/>
              <a:t>inclination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eccentricity</a:t>
            </a:r>
            <a:r>
              <a:rPr lang="zh-CN" altLang="en-US" dirty="0"/>
              <a:t> </a:t>
            </a:r>
            <a:r>
              <a:rPr lang="en-US" altLang="zh-CN" dirty="0"/>
              <a:t>vary</a:t>
            </a:r>
            <a:r>
              <a:rPr lang="zh-CN" altLang="en-US" dirty="0"/>
              <a:t> </a:t>
            </a:r>
            <a:r>
              <a:rPr lang="en-US" altLang="zh-CN" dirty="0"/>
              <a:t>during</a:t>
            </a:r>
            <a:r>
              <a:rPr lang="zh-CN" altLang="en-US" dirty="0"/>
              <a:t> </a:t>
            </a:r>
            <a:r>
              <a:rPr lang="en-US" altLang="zh-CN" dirty="0" err="1"/>
              <a:t>vZLK</a:t>
            </a:r>
            <a:r>
              <a:rPr lang="zh-CN" altLang="en-US" dirty="0"/>
              <a:t> </a:t>
            </a:r>
            <a:r>
              <a:rPr lang="en-US" altLang="zh-CN" dirty="0"/>
              <a:t>cycles,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RV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planet</a:t>
            </a:r>
            <a:r>
              <a:rPr lang="zh-CN" altLang="en-US" dirty="0"/>
              <a:t> </a:t>
            </a:r>
            <a:r>
              <a:rPr lang="en-US" altLang="zh-CN" dirty="0"/>
              <a:t>changes</a:t>
            </a:r>
            <a:r>
              <a:rPr lang="zh-CN" altLang="en-US" dirty="0"/>
              <a:t> </a:t>
            </a:r>
            <a:r>
              <a:rPr lang="en-US" altLang="zh-CN" dirty="0"/>
              <a:t>together.</a:t>
            </a:r>
            <a:r>
              <a:rPr lang="zh-CN" altLang="en-US" dirty="0"/>
              <a:t> </a:t>
            </a:r>
            <a:r>
              <a:rPr lang="en-US" altLang="zh-CN" dirty="0"/>
              <a:t>Also,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mass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inclination</a:t>
            </a:r>
            <a:r>
              <a:rPr lang="zh-CN" altLang="en-US" dirty="0"/>
              <a:t> </a:t>
            </a:r>
            <a:r>
              <a:rPr lang="en-US" altLang="zh-CN" dirty="0"/>
              <a:t>degeneracy,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changes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inclination</a:t>
            </a:r>
            <a:r>
              <a:rPr lang="zh-CN" altLang="en-US" dirty="0"/>
              <a:t> </a:t>
            </a:r>
            <a:r>
              <a:rPr lang="en-US" altLang="zh-CN" dirty="0"/>
              <a:t>would</a:t>
            </a:r>
            <a:r>
              <a:rPr lang="zh-CN" altLang="en-US" dirty="0"/>
              <a:t> </a:t>
            </a:r>
            <a:r>
              <a:rPr lang="en-US" altLang="zh-CN" dirty="0"/>
              <a:t>cause</a:t>
            </a:r>
            <a:r>
              <a:rPr lang="zh-CN" altLang="en-US" dirty="0"/>
              <a:t> </a:t>
            </a:r>
            <a:r>
              <a:rPr lang="en-US" altLang="zh-CN" dirty="0"/>
              <a:t>changes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amplitude,</a:t>
            </a:r>
            <a:r>
              <a:rPr lang="zh-CN" altLang="en-US" dirty="0"/>
              <a:t> </a:t>
            </a:r>
            <a:r>
              <a:rPr lang="en-US" altLang="zh-CN" dirty="0"/>
              <a:t>as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projected</a:t>
            </a:r>
            <a:r>
              <a:rPr lang="zh-CN" altLang="en-US" dirty="0"/>
              <a:t> </a:t>
            </a:r>
            <a:r>
              <a:rPr lang="en-US" altLang="zh-CN" dirty="0"/>
              <a:t>mass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the observer</a:t>
            </a:r>
            <a:r>
              <a:rPr lang="zh-CN" altLang="en-US" dirty="0"/>
              <a:t> </a:t>
            </a:r>
            <a:r>
              <a:rPr lang="en-US" altLang="zh-CN" dirty="0"/>
              <a:t>changes</a:t>
            </a:r>
            <a:r>
              <a:rPr lang="zh-CN" altLang="en-US" dirty="0"/>
              <a:t> </a:t>
            </a:r>
            <a:r>
              <a:rPr lang="en-US" altLang="zh-CN" dirty="0"/>
              <a:t>together.</a:t>
            </a:r>
          </a:p>
          <a:p>
            <a:endParaRPr lang="en-US" altLang="zh-CN" dirty="0"/>
          </a:p>
          <a:p>
            <a:r>
              <a:rPr lang="en-US" altLang="zh-CN" dirty="0"/>
              <a:t>But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 err="1"/>
              <a:t>vZLK</a:t>
            </a:r>
            <a:r>
              <a:rPr lang="zh-CN" altLang="en-US" dirty="0"/>
              <a:t> </a:t>
            </a:r>
            <a:r>
              <a:rPr lang="en-US" altLang="zh-CN" dirty="0"/>
              <a:t>timescale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at</a:t>
            </a:r>
            <a:r>
              <a:rPr lang="zh-CN" altLang="en-US" dirty="0"/>
              <a:t> </a:t>
            </a:r>
            <a:r>
              <a:rPr lang="en-US" altLang="zh-CN" dirty="0"/>
              <a:t>least</a:t>
            </a:r>
            <a:r>
              <a:rPr lang="zh-CN" altLang="en-US" dirty="0"/>
              <a:t> </a:t>
            </a:r>
            <a:r>
              <a:rPr lang="en-US" altLang="zh-CN" dirty="0"/>
              <a:t>thousands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years,</a:t>
            </a:r>
            <a:r>
              <a:rPr lang="zh-CN" altLang="en-US" dirty="0"/>
              <a:t> </a:t>
            </a:r>
            <a:r>
              <a:rPr lang="en-US" altLang="zh-CN" dirty="0"/>
              <a:t>could</a:t>
            </a:r>
            <a:r>
              <a:rPr lang="zh-CN" altLang="en-US" dirty="0"/>
              <a:t> </a:t>
            </a:r>
            <a:r>
              <a:rPr lang="en-US" altLang="zh-CN" dirty="0"/>
              <a:t>it</a:t>
            </a:r>
            <a:r>
              <a:rPr lang="zh-CN" altLang="en-US" dirty="0"/>
              <a:t> </a:t>
            </a:r>
            <a:r>
              <a:rPr lang="en-US" altLang="zh-CN" dirty="0"/>
              <a:t>be</a:t>
            </a:r>
            <a:r>
              <a:rPr lang="zh-CN" altLang="en-US" dirty="0"/>
              <a:t> </a:t>
            </a:r>
            <a:r>
              <a:rPr lang="en-US" altLang="zh-CN" dirty="0"/>
              <a:t>observed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shorter</a:t>
            </a:r>
            <a:r>
              <a:rPr lang="zh-CN" altLang="en-US" dirty="0"/>
              <a:t> </a:t>
            </a:r>
            <a:r>
              <a:rPr lang="en-US" altLang="zh-CN" dirty="0"/>
              <a:t>timescale?</a:t>
            </a:r>
            <a:r>
              <a:rPr lang="zh-CN" altLang="en-US" dirty="0"/>
              <a:t> </a:t>
            </a:r>
            <a:r>
              <a:rPr lang="en-US" altLang="zh-CN" dirty="0"/>
              <a:t>So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first</a:t>
            </a:r>
            <a:r>
              <a:rPr lang="zh-CN" altLang="en-US" dirty="0"/>
              <a:t> </a:t>
            </a:r>
            <a:r>
              <a:rPr lang="en-US" altLang="zh-CN" dirty="0"/>
              <a:t>run</a:t>
            </a:r>
            <a:r>
              <a:rPr lang="zh-CN" altLang="en-US" dirty="0"/>
              <a:t> </a:t>
            </a:r>
            <a:r>
              <a:rPr lang="en-US" altLang="zh-CN" dirty="0"/>
              <a:t>simulations</a:t>
            </a:r>
            <a:r>
              <a:rPr lang="zh-CN" altLang="en-US" dirty="0"/>
              <a:t> </a:t>
            </a:r>
            <a:r>
              <a:rPr lang="en-US" altLang="zh-CN" dirty="0"/>
              <a:t>about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timescale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inclination</a:t>
            </a:r>
            <a:r>
              <a:rPr lang="zh-CN" altLang="en-US" dirty="0"/>
              <a:t> </a:t>
            </a:r>
            <a:r>
              <a:rPr lang="en-US" altLang="zh-CN" dirty="0"/>
              <a:t>range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different</a:t>
            </a:r>
            <a:r>
              <a:rPr lang="zh-CN" altLang="en-US" dirty="0"/>
              <a:t> </a:t>
            </a:r>
            <a:r>
              <a:rPr lang="en-US" altLang="zh-CN" dirty="0"/>
              <a:t>mutual</a:t>
            </a:r>
            <a:r>
              <a:rPr lang="zh-CN" altLang="en-US" dirty="0"/>
              <a:t> </a:t>
            </a:r>
            <a:r>
              <a:rPr lang="en-US" altLang="zh-CN" dirty="0"/>
              <a:t>inclinations,</a:t>
            </a:r>
            <a:r>
              <a:rPr lang="zh-CN" altLang="en-US" dirty="0"/>
              <a:t> </a:t>
            </a:r>
            <a:r>
              <a:rPr lang="en-US" altLang="zh-CN" dirty="0"/>
              <a:t>finding</a:t>
            </a:r>
            <a:r>
              <a:rPr lang="zh-CN" altLang="en-US" dirty="0"/>
              <a:t> </a:t>
            </a:r>
            <a:r>
              <a:rPr lang="en-US" altLang="zh-CN" dirty="0"/>
              <a:t>that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higher</a:t>
            </a:r>
            <a:r>
              <a:rPr lang="zh-CN" altLang="en-US" dirty="0"/>
              <a:t> </a:t>
            </a:r>
            <a:r>
              <a:rPr lang="en-US" altLang="zh-CN" dirty="0"/>
              <a:t>mutual</a:t>
            </a:r>
            <a:r>
              <a:rPr lang="zh-CN" altLang="en-US" dirty="0"/>
              <a:t> </a:t>
            </a:r>
            <a:r>
              <a:rPr lang="en-US" altLang="zh-CN" dirty="0"/>
              <a:t>inclination</a:t>
            </a:r>
            <a:r>
              <a:rPr lang="zh-CN" altLang="en-US" dirty="0"/>
              <a:t> </a:t>
            </a:r>
            <a:r>
              <a:rPr lang="en-US" altLang="zh-CN" dirty="0"/>
              <a:t>shortens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 err="1"/>
              <a:t>vZLK</a:t>
            </a:r>
            <a:r>
              <a:rPr lang="zh-CN" altLang="en-US" dirty="0"/>
              <a:t> </a:t>
            </a:r>
            <a:r>
              <a:rPr lang="en-US" altLang="zh-CN" dirty="0"/>
              <a:t>timescale,</a:t>
            </a:r>
            <a:r>
              <a:rPr lang="zh-CN" altLang="en-US" dirty="0"/>
              <a:t> </a:t>
            </a:r>
            <a:r>
              <a:rPr lang="en-US" altLang="zh-CN" dirty="0"/>
              <a:t>also</a:t>
            </a:r>
            <a:r>
              <a:rPr lang="zh-CN" altLang="en-US" dirty="0"/>
              <a:t> </a:t>
            </a:r>
            <a:r>
              <a:rPr lang="en-US" altLang="zh-CN" dirty="0"/>
              <a:t>has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larger</a:t>
            </a:r>
            <a:r>
              <a:rPr lang="zh-CN" altLang="en-US" dirty="0"/>
              <a:t> </a:t>
            </a:r>
            <a:r>
              <a:rPr lang="en-US" altLang="zh-CN" dirty="0"/>
              <a:t>oscillation</a:t>
            </a:r>
            <a:r>
              <a:rPr lang="zh-CN" altLang="en-US" dirty="0"/>
              <a:t> </a:t>
            </a:r>
            <a:r>
              <a:rPr lang="en-US" altLang="zh-CN" dirty="0"/>
              <a:t>range</a:t>
            </a:r>
            <a:r>
              <a:rPr lang="zh-CN" altLang="en-US" dirty="0"/>
              <a:t> </a:t>
            </a:r>
            <a:r>
              <a:rPr lang="en-US" altLang="zh-CN" dirty="0"/>
              <a:t>-</a:t>
            </a:r>
            <a:r>
              <a:rPr lang="zh-CN" altLang="en-US" dirty="0"/>
              <a:t> </a:t>
            </a:r>
            <a:r>
              <a:rPr lang="en-US" altLang="zh-CN" dirty="0"/>
              <a:t>which</a:t>
            </a:r>
            <a:r>
              <a:rPr lang="zh-CN" altLang="en-US" dirty="0"/>
              <a:t> </a:t>
            </a:r>
            <a:r>
              <a:rPr lang="en-US" altLang="zh-CN" dirty="0"/>
              <a:t>means</a:t>
            </a:r>
            <a:r>
              <a:rPr lang="zh-CN" altLang="en-US" dirty="0"/>
              <a:t> </a:t>
            </a:r>
            <a:r>
              <a:rPr lang="en-US" altLang="zh-CN" dirty="0"/>
              <a:t>-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planets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compact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eccentric</a:t>
            </a:r>
            <a:r>
              <a:rPr lang="zh-CN" altLang="en-US" dirty="0"/>
              <a:t> </a:t>
            </a:r>
            <a:r>
              <a:rPr lang="en-US" altLang="zh-CN" dirty="0"/>
              <a:t>binaries</a:t>
            </a:r>
            <a:r>
              <a:rPr lang="zh-CN" altLang="en-US" dirty="0"/>
              <a:t> </a:t>
            </a:r>
            <a:r>
              <a:rPr lang="en-US" altLang="zh-CN" dirty="0"/>
              <a:t>are</a:t>
            </a:r>
            <a:r>
              <a:rPr lang="zh-CN" altLang="en-US" dirty="0"/>
              <a:t> </a:t>
            </a:r>
            <a:r>
              <a:rPr lang="en-US" altLang="zh-CN" dirty="0"/>
              <a:t>more</a:t>
            </a:r>
            <a:r>
              <a:rPr lang="zh-CN" altLang="en-US" dirty="0"/>
              <a:t> </a:t>
            </a:r>
            <a:r>
              <a:rPr lang="en-US" altLang="zh-CN" dirty="0"/>
              <a:t>sensitive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RV</a:t>
            </a:r>
            <a:r>
              <a:rPr lang="zh-CN" altLang="en-US" dirty="0"/>
              <a:t> </a:t>
            </a:r>
            <a:r>
              <a:rPr lang="en-US" altLang="zh-CN" dirty="0"/>
              <a:t>measurements:</a:t>
            </a:r>
            <a:r>
              <a:rPr lang="zh-CN" altLang="en-US" dirty="0"/>
              <a:t> </a:t>
            </a:r>
            <a:r>
              <a:rPr lang="en-US" altLang="zh-CN" dirty="0"/>
              <a:t>larger</a:t>
            </a:r>
            <a:r>
              <a:rPr lang="zh-CN" altLang="en-US" dirty="0"/>
              <a:t> </a:t>
            </a:r>
            <a:r>
              <a:rPr lang="en-US" altLang="zh-CN" dirty="0"/>
              <a:t>oscillation</a:t>
            </a:r>
            <a:r>
              <a:rPr lang="zh-CN" altLang="en-US" dirty="0"/>
              <a:t> </a:t>
            </a:r>
            <a:r>
              <a:rPr lang="en-US" altLang="zh-CN" dirty="0"/>
              <a:t>range,</a:t>
            </a:r>
            <a:r>
              <a:rPr lang="zh-CN" altLang="en-US" dirty="0"/>
              <a:t> </a:t>
            </a:r>
            <a:r>
              <a:rPr lang="en-US" altLang="zh-CN" dirty="0"/>
              <a:t>smaller</a:t>
            </a:r>
            <a:r>
              <a:rPr lang="zh-CN" altLang="en-US" dirty="0"/>
              <a:t> </a:t>
            </a:r>
            <a:r>
              <a:rPr lang="en-US" altLang="zh-CN" dirty="0" err="1"/>
              <a:t>vZLK</a:t>
            </a:r>
            <a:r>
              <a:rPr lang="zh-CN" altLang="en-US" dirty="0"/>
              <a:t> </a:t>
            </a:r>
            <a:r>
              <a:rPr lang="en-US" altLang="zh-CN" dirty="0"/>
              <a:t>timescale.</a:t>
            </a:r>
          </a:p>
          <a:p>
            <a:endParaRPr lang="en-US" dirty="0"/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B5A071-26D1-7349-BDE2-A02EF9C8BDDE}" type="slidenum">
              <a:rPr lang="en-CN" smtClean="0"/>
              <a:t>10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2644327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As</a:t>
            </a:r>
            <a:r>
              <a:rPr lang="zh-CN" altLang="en-US" dirty="0"/>
              <a:t> </a:t>
            </a:r>
            <a:r>
              <a:rPr lang="en-US" altLang="zh-CN" dirty="0"/>
              <a:t>I</a:t>
            </a:r>
            <a:r>
              <a:rPr lang="zh-CN" altLang="en-US" dirty="0"/>
              <a:t> </a:t>
            </a:r>
            <a:r>
              <a:rPr lang="en-US" altLang="zh-CN" dirty="0"/>
              <a:t>have</a:t>
            </a:r>
            <a:r>
              <a:rPr lang="zh-CN" altLang="en-US" dirty="0"/>
              <a:t> </a:t>
            </a:r>
            <a:r>
              <a:rPr lang="en-US" altLang="zh-CN" dirty="0"/>
              <a:t>shown</a:t>
            </a:r>
            <a:r>
              <a:rPr lang="zh-CN" altLang="en-US" dirty="0"/>
              <a:t> </a:t>
            </a:r>
            <a:r>
              <a:rPr lang="en-US" altLang="zh-CN" dirty="0"/>
              <a:t>before,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fit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observational</a:t>
            </a:r>
            <a:r>
              <a:rPr lang="zh-CN" altLang="en-US" dirty="0"/>
              <a:t> </a:t>
            </a:r>
            <a:r>
              <a:rPr lang="en-US" altLang="zh-CN" dirty="0"/>
              <a:t>data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various</a:t>
            </a:r>
            <a:r>
              <a:rPr lang="zh-CN" altLang="en-US" dirty="0"/>
              <a:t> </a:t>
            </a:r>
            <a:r>
              <a:rPr lang="en-US" altLang="zh-CN" dirty="0"/>
              <a:t>configurations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mutual</a:t>
            </a:r>
            <a:r>
              <a:rPr lang="zh-CN" altLang="en-US" dirty="0"/>
              <a:t> </a:t>
            </a:r>
            <a:r>
              <a:rPr lang="en-US" altLang="zh-CN" dirty="0"/>
              <a:t>inclinations.</a:t>
            </a:r>
            <a:r>
              <a:rPr lang="zh-CN" altLang="en-US" dirty="0"/>
              <a:t> </a:t>
            </a:r>
            <a:r>
              <a:rPr lang="en-US" altLang="zh-CN" dirty="0"/>
              <a:t>Through</a:t>
            </a:r>
            <a:r>
              <a:rPr lang="zh-CN" altLang="en-US" dirty="0"/>
              <a:t> </a:t>
            </a:r>
            <a:r>
              <a:rPr lang="en-US" altLang="zh-CN" dirty="0"/>
              <a:t>simulations,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can</a:t>
            </a:r>
            <a:r>
              <a:rPr lang="zh-CN" altLang="en-US" dirty="0"/>
              <a:t> </a:t>
            </a:r>
            <a:r>
              <a:rPr lang="en-US" altLang="zh-CN" dirty="0"/>
              <a:t>isolate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binary</a:t>
            </a:r>
            <a:r>
              <a:rPr lang="zh-CN" altLang="en-US" dirty="0"/>
              <a:t> </a:t>
            </a:r>
            <a:r>
              <a:rPr lang="en-US" altLang="zh-CN" dirty="0"/>
              <a:t>companion‘s</a:t>
            </a:r>
            <a:r>
              <a:rPr lang="zh-CN" altLang="en-US" dirty="0"/>
              <a:t> </a:t>
            </a:r>
            <a:r>
              <a:rPr lang="en-US" altLang="zh-CN" dirty="0"/>
              <a:t>signal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planetary</a:t>
            </a:r>
            <a:r>
              <a:rPr lang="zh-CN" altLang="en-US" dirty="0"/>
              <a:t> </a:t>
            </a:r>
            <a:r>
              <a:rPr lang="en-US" altLang="zh-CN" dirty="0"/>
              <a:t>signal</a:t>
            </a:r>
            <a:r>
              <a:rPr lang="zh-CN" altLang="en-US" dirty="0"/>
              <a:t> </a:t>
            </a:r>
            <a:r>
              <a:rPr lang="en-US" altLang="zh-CN" dirty="0"/>
              <a:t>using</a:t>
            </a:r>
            <a:r>
              <a:rPr lang="zh-CN" altLang="en-US" dirty="0"/>
              <a:t> </a:t>
            </a:r>
            <a:r>
              <a:rPr lang="en-US" altLang="zh-CN" dirty="0"/>
              <a:t>rebound.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middle</a:t>
            </a:r>
            <a:r>
              <a:rPr lang="zh-CN" altLang="en-US" dirty="0"/>
              <a:t> </a:t>
            </a:r>
            <a:r>
              <a:rPr lang="en-US" altLang="zh-CN" dirty="0"/>
              <a:t>panel</a:t>
            </a:r>
            <a:r>
              <a:rPr lang="zh-CN" altLang="en-US" dirty="0"/>
              <a:t> </a:t>
            </a:r>
            <a:r>
              <a:rPr lang="en-US" altLang="zh-CN" dirty="0"/>
              <a:t>on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left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planetary</a:t>
            </a:r>
            <a:r>
              <a:rPr lang="zh-CN" altLang="en-US" dirty="0"/>
              <a:t> </a:t>
            </a:r>
            <a:r>
              <a:rPr lang="en-US" altLang="zh-CN" dirty="0"/>
              <a:t>signal.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can</a:t>
            </a:r>
            <a:r>
              <a:rPr lang="zh-CN" altLang="en-US" dirty="0"/>
              <a:t> </a:t>
            </a:r>
            <a:r>
              <a:rPr lang="en-US" altLang="zh-CN" dirty="0"/>
              <a:t>also</a:t>
            </a:r>
            <a:r>
              <a:rPr lang="zh-CN" altLang="en-US" dirty="0"/>
              <a:t> </a:t>
            </a:r>
            <a:r>
              <a:rPr lang="en-US" altLang="zh-CN" dirty="0"/>
              <a:t>assess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planetary</a:t>
            </a:r>
            <a:r>
              <a:rPr lang="zh-CN" altLang="en-US" dirty="0"/>
              <a:t> </a:t>
            </a:r>
            <a:r>
              <a:rPr lang="en-US" altLang="zh-CN" dirty="0"/>
              <a:t>RV</a:t>
            </a:r>
            <a:r>
              <a:rPr lang="zh-CN" altLang="en-US" dirty="0"/>
              <a:t> </a:t>
            </a:r>
            <a:r>
              <a:rPr lang="en-US" altLang="zh-CN" dirty="0"/>
              <a:t>over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full</a:t>
            </a:r>
            <a:r>
              <a:rPr lang="zh-CN" altLang="en-US" dirty="0"/>
              <a:t> </a:t>
            </a:r>
            <a:r>
              <a:rPr lang="en-US" altLang="zh-CN" dirty="0" err="1"/>
              <a:t>vZLK</a:t>
            </a:r>
            <a:r>
              <a:rPr lang="zh-CN" altLang="en-US" dirty="0"/>
              <a:t> </a:t>
            </a:r>
            <a:r>
              <a:rPr lang="en-US" altLang="zh-CN" dirty="0"/>
              <a:t>cycle,</a:t>
            </a:r>
            <a:r>
              <a:rPr lang="zh-CN" altLang="en-US" dirty="0"/>
              <a:t> </a:t>
            </a:r>
            <a:r>
              <a:rPr lang="en-US" altLang="zh-CN" dirty="0"/>
              <a:t>as</a:t>
            </a:r>
            <a:r>
              <a:rPr lang="zh-CN" altLang="en-US" dirty="0"/>
              <a:t> </a:t>
            </a:r>
            <a:r>
              <a:rPr lang="en-US" altLang="zh-CN" dirty="0"/>
              <a:t>shown</a:t>
            </a:r>
            <a:r>
              <a:rPr lang="zh-CN" altLang="en-US" dirty="0"/>
              <a:t> </a:t>
            </a:r>
            <a:r>
              <a:rPr lang="en-US" altLang="zh-CN" dirty="0"/>
              <a:t>on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right.</a:t>
            </a:r>
            <a:r>
              <a:rPr lang="zh-CN" altLang="en-US" dirty="0"/>
              <a:t> </a:t>
            </a:r>
            <a:r>
              <a:rPr lang="en-US" altLang="zh-CN" dirty="0"/>
              <a:t>You</a:t>
            </a:r>
            <a:r>
              <a:rPr lang="zh-CN" altLang="en-US" dirty="0"/>
              <a:t> </a:t>
            </a:r>
            <a:r>
              <a:rPr lang="en-US" altLang="zh-CN" dirty="0"/>
              <a:t>can</a:t>
            </a:r>
            <a:r>
              <a:rPr lang="zh-CN" altLang="en-US" dirty="0"/>
              <a:t> </a:t>
            </a:r>
            <a:r>
              <a:rPr lang="en-US" altLang="zh-CN" dirty="0"/>
              <a:t>see,</a:t>
            </a:r>
            <a:r>
              <a:rPr lang="zh-CN" altLang="en-US" dirty="0"/>
              <a:t> </a:t>
            </a:r>
            <a:r>
              <a:rPr lang="en-US" altLang="zh-CN" dirty="0"/>
              <a:t>because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changes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eccentricity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inclination,</a:t>
            </a:r>
            <a:r>
              <a:rPr lang="zh-CN" altLang="en-US" dirty="0"/>
              <a:t> </a:t>
            </a:r>
            <a:r>
              <a:rPr lang="en-US" altLang="zh-CN" dirty="0"/>
              <a:t>that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minimum</a:t>
            </a:r>
            <a:r>
              <a:rPr lang="zh-CN" altLang="en-US" dirty="0"/>
              <a:t> </a:t>
            </a:r>
            <a:r>
              <a:rPr lang="en-US" altLang="zh-CN" dirty="0"/>
              <a:t>inclination</a:t>
            </a:r>
            <a:r>
              <a:rPr lang="zh-CN" altLang="en-US" dirty="0"/>
              <a:t> </a:t>
            </a:r>
            <a:r>
              <a:rPr lang="en-US" altLang="zh-CN" dirty="0"/>
              <a:t>with</a:t>
            </a:r>
            <a:r>
              <a:rPr lang="zh-CN" altLang="en-US" dirty="0"/>
              <a:t> </a:t>
            </a:r>
            <a:r>
              <a:rPr lang="en-US" altLang="zh-CN" dirty="0"/>
              <a:t>maximum</a:t>
            </a:r>
            <a:r>
              <a:rPr lang="zh-CN" altLang="en-US" dirty="0"/>
              <a:t> </a:t>
            </a:r>
            <a:r>
              <a:rPr lang="en-US" altLang="zh-CN" dirty="0"/>
              <a:t>eccentricity causes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peak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RV,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about</a:t>
            </a:r>
            <a:r>
              <a:rPr lang="zh-CN" altLang="en-US" dirty="0"/>
              <a:t> </a:t>
            </a:r>
            <a:r>
              <a:rPr lang="en-US" altLang="zh-CN" dirty="0"/>
              <a:t>750</a:t>
            </a:r>
            <a:r>
              <a:rPr lang="zh-CN" altLang="en-US" dirty="0"/>
              <a:t> </a:t>
            </a:r>
            <a:r>
              <a:rPr lang="en-US" altLang="zh-CN" dirty="0"/>
              <a:t>m/s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75</a:t>
            </a:r>
            <a:r>
              <a:rPr lang="zh-CN" altLang="en-US" dirty="0"/>
              <a:t> </a:t>
            </a:r>
            <a:r>
              <a:rPr lang="en-US" altLang="zh-CN" dirty="0"/>
              <a:t>degrees,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changes</a:t>
            </a:r>
            <a:r>
              <a:rPr lang="zh-CN" altLang="en-US" dirty="0"/>
              <a:t> </a:t>
            </a:r>
            <a:r>
              <a:rPr lang="en-US" altLang="zh-CN" dirty="0"/>
              <a:t>through</a:t>
            </a:r>
            <a:r>
              <a:rPr lang="zh-CN" altLang="en-US" dirty="0"/>
              <a:t> </a:t>
            </a:r>
            <a:r>
              <a:rPr lang="en-US" altLang="zh-CN" dirty="0"/>
              <a:t>time.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60</a:t>
            </a:r>
            <a:r>
              <a:rPr lang="zh-CN" altLang="en-US" dirty="0"/>
              <a:t> </a:t>
            </a:r>
            <a:r>
              <a:rPr lang="en-US" altLang="zh-CN" dirty="0"/>
              <a:t>degrees,</a:t>
            </a:r>
            <a:r>
              <a:rPr lang="zh-CN" altLang="en-US" dirty="0"/>
              <a:t> </a:t>
            </a:r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peak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lower,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lower</a:t>
            </a:r>
            <a:r>
              <a:rPr lang="zh-CN" altLang="en-US" dirty="0"/>
              <a:t> </a:t>
            </a:r>
            <a:r>
              <a:rPr lang="en-US" altLang="zh-CN" dirty="0"/>
              <a:t>inclination,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RV</a:t>
            </a:r>
            <a:r>
              <a:rPr lang="zh-CN" altLang="en-US" dirty="0"/>
              <a:t> </a:t>
            </a:r>
            <a:r>
              <a:rPr lang="en-US" altLang="zh-CN" dirty="0"/>
              <a:t>signal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quite</a:t>
            </a:r>
            <a:r>
              <a:rPr lang="zh-CN" altLang="en-US" dirty="0"/>
              <a:t> </a:t>
            </a:r>
            <a:r>
              <a:rPr lang="en-US" altLang="zh-CN" dirty="0"/>
              <a:t>stationary.</a:t>
            </a:r>
            <a:r>
              <a:rPr lang="zh-CN" altLang="en-US" dirty="0"/>
              <a:t> </a:t>
            </a:r>
            <a:r>
              <a:rPr lang="en-US" altLang="zh-CN" dirty="0"/>
              <a:t>If</a:t>
            </a:r>
            <a:r>
              <a:rPr lang="zh-CN" altLang="en-US" dirty="0"/>
              <a:t> </a:t>
            </a:r>
            <a:r>
              <a:rPr lang="en-US" altLang="zh-CN" dirty="0"/>
              <a:t>there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eccentricity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binary,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 err="1"/>
              <a:t>vZLK</a:t>
            </a:r>
            <a:r>
              <a:rPr lang="zh-CN" altLang="en-US" dirty="0"/>
              <a:t> </a:t>
            </a:r>
            <a:r>
              <a:rPr lang="en-US" altLang="zh-CN" dirty="0"/>
              <a:t>timescale</a:t>
            </a:r>
            <a:r>
              <a:rPr lang="zh-CN" altLang="en-US" dirty="0"/>
              <a:t> </a:t>
            </a:r>
            <a:r>
              <a:rPr lang="en-US" altLang="zh-CN" dirty="0"/>
              <a:t>would</a:t>
            </a:r>
            <a:r>
              <a:rPr lang="zh-CN" altLang="en-US" dirty="0"/>
              <a:t> </a:t>
            </a:r>
            <a:r>
              <a:rPr lang="en-US" altLang="zh-CN" dirty="0"/>
              <a:t>be</a:t>
            </a:r>
            <a:r>
              <a:rPr lang="zh-CN" altLang="en-US" dirty="0"/>
              <a:t> </a:t>
            </a:r>
            <a:r>
              <a:rPr lang="en-US" altLang="zh-CN" dirty="0"/>
              <a:t>shortened,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changes</a:t>
            </a:r>
            <a:r>
              <a:rPr lang="zh-CN" altLang="en-US" dirty="0"/>
              <a:t> </a:t>
            </a:r>
            <a:r>
              <a:rPr lang="en-US" altLang="zh-CN" dirty="0"/>
              <a:t>would</a:t>
            </a:r>
            <a:r>
              <a:rPr lang="zh-CN" altLang="en-US" dirty="0"/>
              <a:t> </a:t>
            </a:r>
            <a:r>
              <a:rPr lang="en-US" altLang="zh-CN" dirty="0"/>
              <a:t>become</a:t>
            </a:r>
            <a:r>
              <a:rPr lang="zh-CN" altLang="en-US" dirty="0"/>
              <a:t> </a:t>
            </a:r>
            <a:r>
              <a:rPr lang="en-US" altLang="zh-CN" dirty="0"/>
              <a:t>more</a:t>
            </a:r>
            <a:r>
              <a:rPr lang="zh-CN" altLang="en-US" dirty="0"/>
              <a:t> </a:t>
            </a:r>
            <a:r>
              <a:rPr lang="en-US" altLang="zh-CN" dirty="0"/>
              <a:t>rapid.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RV</a:t>
            </a:r>
            <a:r>
              <a:rPr lang="zh-CN" altLang="en-US" dirty="0"/>
              <a:t> </a:t>
            </a:r>
            <a:r>
              <a:rPr lang="en-US" altLang="zh-CN" dirty="0"/>
              <a:t>also</a:t>
            </a:r>
            <a:r>
              <a:rPr lang="zh-CN" altLang="en-US" dirty="0"/>
              <a:t> </a:t>
            </a:r>
            <a:r>
              <a:rPr lang="en-US" altLang="zh-CN" dirty="0"/>
              <a:t>changes</a:t>
            </a:r>
            <a:r>
              <a:rPr lang="zh-CN" altLang="en-US" dirty="0"/>
              <a:t> </a:t>
            </a:r>
            <a:r>
              <a:rPr lang="en-US" altLang="zh-CN" dirty="0"/>
              <a:t>from</a:t>
            </a:r>
            <a:r>
              <a:rPr lang="zh-CN" altLang="en-US" dirty="0"/>
              <a:t> </a:t>
            </a:r>
            <a:r>
              <a:rPr lang="en-US" altLang="zh-CN" dirty="0"/>
              <a:t>positive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negative.</a:t>
            </a:r>
            <a:r>
              <a:rPr lang="zh-CN" altLang="en-US" dirty="0"/>
              <a:t> </a:t>
            </a:r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because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precession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argument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periastron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 err="1"/>
              <a:t>vZLK</a:t>
            </a:r>
            <a:r>
              <a:rPr lang="zh-CN" altLang="en-US" dirty="0"/>
              <a:t> </a:t>
            </a:r>
            <a:r>
              <a:rPr lang="en-US" altLang="zh-CN" dirty="0"/>
              <a:t>cycles</a:t>
            </a:r>
            <a:r>
              <a:rPr lang="zh-CN" altLang="en-US" dirty="0"/>
              <a:t> </a:t>
            </a:r>
            <a:r>
              <a:rPr lang="en-US" altLang="zh-CN" dirty="0"/>
              <a:t>changes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orientation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planetary</a:t>
            </a:r>
            <a:r>
              <a:rPr lang="zh-CN" altLang="en-US" dirty="0"/>
              <a:t> </a:t>
            </a:r>
            <a:r>
              <a:rPr lang="en-US" altLang="zh-CN" dirty="0"/>
              <a:t>orbit.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B5A071-26D1-7349-BDE2-A02EF9C8BDDE}" type="slidenum">
              <a:rPr lang="en-CN" smtClean="0"/>
              <a:t>11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864497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last</a:t>
            </a:r>
            <a:r>
              <a:rPr lang="zh-CN" altLang="en-US" dirty="0"/>
              <a:t> </a:t>
            </a:r>
            <a:r>
              <a:rPr lang="en-US" altLang="zh-CN" dirty="0"/>
              <a:t>figure</a:t>
            </a:r>
            <a:r>
              <a:rPr lang="zh-CN" altLang="en-US" dirty="0"/>
              <a:t> </a:t>
            </a:r>
            <a:r>
              <a:rPr lang="en-US" altLang="zh-CN" dirty="0"/>
              <a:t>I</a:t>
            </a:r>
            <a:r>
              <a:rPr lang="zh-CN" altLang="en-US" dirty="0"/>
              <a:t> </a:t>
            </a:r>
            <a:r>
              <a:rPr lang="en-US" altLang="zh-CN" dirty="0"/>
              <a:t>show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about</a:t>
            </a:r>
            <a:r>
              <a:rPr lang="zh-CN" altLang="en-US" dirty="0"/>
              <a:t> </a:t>
            </a:r>
            <a:r>
              <a:rPr lang="en-US" altLang="zh-CN" dirty="0"/>
              <a:t>a 5000-year</a:t>
            </a:r>
            <a:r>
              <a:rPr lang="zh-CN" altLang="en-US" dirty="0"/>
              <a:t> </a:t>
            </a:r>
            <a:r>
              <a:rPr lang="en-US" altLang="zh-CN" dirty="0"/>
              <a:t>simulation.</a:t>
            </a:r>
            <a:r>
              <a:rPr lang="zh-CN" altLang="en-US" dirty="0"/>
              <a:t> </a:t>
            </a:r>
            <a:r>
              <a:rPr lang="en-US" altLang="zh-CN" dirty="0"/>
              <a:t>What</a:t>
            </a:r>
            <a:r>
              <a:rPr lang="zh-CN" altLang="en-US" dirty="0"/>
              <a:t> </a:t>
            </a:r>
            <a:r>
              <a:rPr lang="en-US" altLang="zh-CN" dirty="0"/>
              <a:t>about</a:t>
            </a:r>
            <a:r>
              <a:rPr lang="zh-CN" altLang="en-US" dirty="0"/>
              <a:t> </a:t>
            </a:r>
            <a:r>
              <a:rPr lang="en-US" altLang="zh-CN" dirty="0"/>
              <a:t>observational</a:t>
            </a:r>
            <a:r>
              <a:rPr lang="zh-CN" altLang="en-US" dirty="0"/>
              <a:t> </a:t>
            </a:r>
            <a:r>
              <a:rPr lang="en-US" altLang="zh-CN" dirty="0"/>
              <a:t>decades?</a:t>
            </a:r>
            <a:r>
              <a:rPr lang="zh-CN" altLang="en-US" dirty="0"/>
              <a:t> </a:t>
            </a:r>
            <a:r>
              <a:rPr lang="en-US" altLang="zh-CN" dirty="0"/>
              <a:t>Then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isolate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forty-year</a:t>
            </a:r>
            <a:r>
              <a:rPr lang="zh-CN" altLang="en-US" dirty="0"/>
              <a:t> </a:t>
            </a:r>
            <a:r>
              <a:rPr lang="en-US" altLang="zh-CN" dirty="0"/>
              <a:t>signal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different</a:t>
            </a:r>
            <a:r>
              <a:rPr lang="zh-CN" altLang="en-US" dirty="0"/>
              <a:t> </a:t>
            </a:r>
            <a:r>
              <a:rPr lang="en-US" altLang="zh-CN" dirty="0"/>
              <a:t>binary</a:t>
            </a:r>
            <a:r>
              <a:rPr lang="zh-CN" altLang="en-US" dirty="0"/>
              <a:t> </a:t>
            </a:r>
            <a:r>
              <a:rPr lang="en-US" altLang="zh-CN" dirty="0"/>
              <a:t>eccentricities.</a:t>
            </a:r>
            <a:r>
              <a:rPr lang="zh-CN" altLang="en-US" dirty="0"/>
              <a:t> </a:t>
            </a:r>
            <a:r>
              <a:rPr lang="en-US" altLang="zh-CN" dirty="0"/>
              <a:t>On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left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circular</a:t>
            </a:r>
            <a:r>
              <a:rPr lang="zh-CN" altLang="en-US" dirty="0"/>
              <a:t> </a:t>
            </a:r>
            <a:r>
              <a:rPr lang="en-US" altLang="zh-CN" dirty="0"/>
              <a:t>binary,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on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right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0.4</a:t>
            </a:r>
            <a:r>
              <a:rPr lang="zh-CN" altLang="en-US" dirty="0"/>
              <a:t> </a:t>
            </a:r>
            <a:r>
              <a:rPr lang="en-US" altLang="zh-CN" dirty="0"/>
              <a:t>eccentric</a:t>
            </a:r>
            <a:r>
              <a:rPr lang="zh-CN" altLang="en-US" dirty="0"/>
              <a:t> </a:t>
            </a:r>
            <a:r>
              <a:rPr lang="en-US" altLang="zh-CN" dirty="0"/>
              <a:t>binary</a:t>
            </a:r>
            <a:r>
              <a:rPr lang="zh-CN" altLang="en-US" dirty="0"/>
              <a:t> </a:t>
            </a:r>
            <a:r>
              <a:rPr lang="en-US" altLang="zh-CN" dirty="0"/>
              <a:t>configuration.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planetary</a:t>
            </a:r>
            <a:r>
              <a:rPr lang="zh-CN" altLang="en-US" dirty="0"/>
              <a:t> </a:t>
            </a:r>
            <a:r>
              <a:rPr lang="en-US" altLang="zh-CN" dirty="0"/>
              <a:t>signal</a:t>
            </a:r>
            <a:r>
              <a:rPr lang="zh-CN" altLang="en-US" dirty="0"/>
              <a:t> </a:t>
            </a:r>
            <a:r>
              <a:rPr lang="en-US" altLang="zh-CN" dirty="0"/>
              <a:t>at</a:t>
            </a:r>
            <a:r>
              <a:rPr lang="zh-CN" altLang="en-US" dirty="0"/>
              <a:t> </a:t>
            </a:r>
            <a:r>
              <a:rPr lang="en-US" altLang="zh-CN" dirty="0"/>
              <a:t>75</a:t>
            </a:r>
            <a:r>
              <a:rPr lang="zh-CN" altLang="en-US" dirty="0"/>
              <a:t> </a:t>
            </a:r>
            <a:r>
              <a:rPr lang="en-US" altLang="zh-CN" dirty="0"/>
              <a:t>degrees</a:t>
            </a:r>
            <a:r>
              <a:rPr lang="zh-CN" altLang="en-US" dirty="0"/>
              <a:t> </a:t>
            </a:r>
            <a:r>
              <a:rPr lang="en-US" altLang="zh-CN" dirty="0"/>
              <a:t>(red</a:t>
            </a:r>
            <a:r>
              <a:rPr lang="zh-CN" altLang="en-US" dirty="0"/>
              <a:t> </a:t>
            </a:r>
            <a:r>
              <a:rPr lang="en-US" altLang="zh-CN" dirty="0"/>
              <a:t>line)</a:t>
            </a:r>
            <a:r>
              <a:rPr lang="zh-CN" altLang="en-US" dirty="0"/>
              <a:t> </a:t>
            </a:r>
            <a:r>
              <a:rPr lang="en-US" altLang="zh-CN" dirty="0"/>
              <a:t>inclination</a:t>
            </a:r>
            <a:r>
              <a:rPr lang="zh-CN" altLang="en-US" dirty="0"/>
              <a:t> </a:t>
            </a:r>
            <a:r>
              <a:rPr lang="en-US" altLang="zh-CN" dirty="0"/>
              <a:t>would</a:t>
            </a:r>
            <a:r>
              <a:rPr lang="zh-CN" altLang="en-US" dirty="0"/>
              <a:t> </a:t>
            </a:r>
            <a:r>
              <a:rPr lang="en-US" altLang="zh-CN" dirty="0"/>
              <a:t>experience</a:t>
            </a:r>
            <a:r>
              <a:rPr lang="zh-CN" altLang="en-US" dirty="0"/>
              <a:t> </a:t>
            </a:r>
            <a:r>
              <a:rPr lang="en-US" altLang="zh-CN" dirty="0"/>
              <a:t>a drift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RV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about</a:t>
            </a:r>
            <a:r>
              <a:rPr lang="zh-CN" altLang="en-US" dirty="0"/>
              <a:t> </a:t>
            </a:r>
            <a:r>
              <a:rPr lang="en-US" altLang="zh-CN" dirty="0"/>
              <a:t>1.9</a:t>
            </a:r>
            <a:r>
              <a:rPr lang="zh-CN" altLang="en-US" dirty="0"/>
              <a:t> </a:t>
            </a:r>
            <a:r>
              <a:rPr lang="en-US" altLang="zh-CN" dirty="0"/>
              <a:t>m/s/year,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half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that</a:t>
            </a:r>
            <a:r>
              <a:rPr lang="zh-CN" altLang="en-US" dirty="0"/>
              <a:t> </a:t>
            </a:r>
            <a:r>
              <a:rPr lang="en-US" altLang="zh-CN" dirty="0"/>
              <a:t>value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60</a:t>
            </a:r>
            <a:r>
              <a:rPr lang="zh-CN" altLang="en-US" dirty="0"/>
              <a:t> </a:t>
            </a:r>
            <a:r>
              <a:rPr lang="en-US" altLang="zh-CN" dirty="0"/>
              <a:t>degrees</a:t>
            </a:r>
            <a:r>
              <a:rPr lang="zh-CN" altLang="en-US" dirty="0"/>
              <a:t> </a:t>
            </a:r>
            <a:r>
              <a:rPr lang="en-US" altLang="zh-CN" dirty="0"/>
              <a:t>(blue</a:t>
            </a:r>
            <a:r>
              <a:rPr lang="zh-CN" altLang="en-US" dirty="0"/>
              <a:t> </a:t>
            </a:r>
            <a:r>
              <a:rPr lang="en-US" altLang="zh-CN" dirty="0"/>
              <a:t>line).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lower</a:t>
            </a:r>
            <a:r>
              <a:rPr lang="zh-CN" altLang="en-US" dirty="0"/>
              <a:t> </a:t>
            </a:r>
            <a:r>
              <a:rPr lang="en-US" altLang="zh-CN" dirty="0"/>
              <a:t>inclination</a:t>
            </a:r>
            <a:r>
              <a:rPr lang="zh-CN" altLang="en-US" dirty="0"/>
              <a:t> </a:t>
            </a:r>
            <a:r>
              <a:rPr lang="en-US" altLang="zh-CN" dirty="0"/>
              <a:t>would</a:t>
            </a:r>
            <a:r>
              <a:rPr lang="zh-CN" altLang="en-US" dirty="0"/>
              <a:t> </a:t>
            </a:r>
            <a:r>
              <a:rPr lang="en-US" altLang="zh-CN" dirty="0"/>
              <a:t>have</a:t>
            </a:r>
            <a:r>
              <a:rPr lang="zh-CN" altLang="en-US" dirty="0"/>
              <a:t> </a:t>
            </a:r>
            <a:r>
              <a:rPr lang="en-US" altLang="zh-CN" dirty="0"/>
              <a:t>minimal</a:t>
            </a:r>
            <a:r>
              <a:rPr lang="zh-CN" altLang="en-US" dirty="0"/>
              <a:t> </a:t>
            </a:r>
            <a:r>
              <a:rPr lang="en-US" altLang="zh-CN" dirty="0"/>
              <a:t>drift.</a:t>
            </a:r>
            <a:r>
              <a:rPr lang="zh-CN" altLang="en-US" dirty="0"/>
              <a:t> </a:t>
            </a:r>
            <a:endParaRPr lang="en-US" altLang="zh-CN" dirty="0"/>
          </a:p>
          <a:p>
            <a:endParaRPr lang="en-US" dirty="0"/>
          </a:p>
          <a:p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eccentricity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binary</a:t>
            </a:r>
            <a:r>
              <a:rPr lang="zh-CN" altLang="en-US" dirty="0"/>
              <a:t> </a:t>
            </a:r>
            <a:r>
              <a:rPr lang="en-US" altLang="zh-CN" dirty="0"/>
              <a:t>would</a:t>
            </a:r>
            <a:r>
              <a:rPr lang="zh-CN" altLang="en-US" dirty="0"/>
              <a:t> </a:t>
            </a:r>
            <a:r>
              <a:rPr lang="en-US" altLang="zh-CN" dirty="0"/>
              <a:t>shorten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 err="1"/>
              <a:t>vZLK</a:t>
            </a:r>
            <a:r>
              <a:rPr lang="zh-CN" altLang="en-US" dirty="0"/>
              <a:t> </a:t>
            </a:r>
            <a:r>
              <a:rPr lang="en-US" altLang="zh-CN" dirty="0"/>
              <a:t>timescale,</a:t>
            </a:r>
            <a:r>
              <a:rPr lang="zh-CN" altLang="en-US" dirty="0"/>
              <a:t> </a:t>
            </a:r>
            <a:r>
              <a:rPr lang="en-US" altLang="zh-CN" dirty="0"/>
              <a:t>making</a:t>
            </a:r>
            <a:r>
              <a:rPr lang="zh-CN" altLang="en-US" dirty="0"/>
              <a:t> </a:t>
            </a:r>
            <a:r>
              <a:rPr lang="en-US" altLang="zh-CN" dirty="0"/>
              <a:t>the drift more pronounced,</a:t>
            </a:r>
            <a:r>
              <a:rPr lang="zh-CN" altLang="en-US" dirty="0"/>
              <a:t> </a:t>
            </a:r>
            <a:r>
              <a:rPr lang="en-US" altLang="zh-CN" dirty="0"/>
              <a:t>as</a:t>
            </a:r>
            <a:r>
              <a:rPr lang="zh-CN" altLang="en-US" dirty="0"/>
              <a:t> </a:t>
            </a:r>
            <a:r>
              <a:rPr lang="en-US" altLang="zh-CN" dirty="0"/>
              <a:t>you</a:t>
            </a:r>
            <a:r>
              <a:rPr lang="zh-CN" altLang="en-US" dirty="0"/>
              <a:t> </a:t>
            </a:r>
            <a:r>
              <a:rPr lang="en-US" altLang="zh-CN" dirty="0"/>
              <a:t>can</a:t>
            </a:r>
            <a:r>
              <a:rPr lang="zh-CN" altLang="en-US" dirty="0"/>
              <a:t> </a:t>
            </a:r>
            <a:r>
              <a:rPr lang="en-US" altLang="zh-CN" dirty="0"/>
              <a:t>see</a:t>
            </a:r>
            <a:r>
              <a:rPr lang="zh-CN" altLang="en-US" dirty="0"/>
              <a:t> </a:t>
            </a:r>
            <a:r>
              <a:rPr lang="en-US" altLang="zh-CN" dirty="0"/>
              <a:t>on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right</a:t>
            </a:r>
            <a:r>
              <a:rPr lang="zh-CN" altLang="en-US" dirty="0"/>
              <a:t> </a:t>
            </a:r>
            <a:r>
              <a:rPr lang="en-US" altLang="zh-CN" dirty="0"/>
              <a:t>figure,</a:t>
            </a:r>
            <a:r>
              <a:rPr lang="zh-CN" altLang="en-US" dirty="0"/>
              <a:t> </a:t>
            </a:r>
            <a:r>
              <a:rPr lang="en-US" altLang="zh-CN" dirty="0"/>
              <a:t>red</a:t>
            </a:r>
            <a:r>
              <a:rPr lang="zh-CN" altLang="en-US" dirty="0"/>
              <a:t> </a:t>
            </a:r>
            <a:r>
              <a:rPr lang="en-US" altLang="zh-CN" dirty="0"/>
              <a:t>line.</a:t>
            </a:r>
            <a:r>
              <a:rPr lang="zh-CN" altLang="en-US" dirty="0"/>
              <a:t> </a:t>
            </a:r>
            <a:r>
              <a:rPr lang="en-US" altLang="zh-CN" dirty="0"/>
              <a:t>Also,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nearly</a:t>
            </a:r>
            <a:r>
              <a:rPr lang="zh-CN" altLang="en-US" dirty="0"/>
              <a:t> </a:t>
            </a:r>
            <a:r>
              <a:rPr lang="en-US" altLang="zh-CN" dirty="0"/>
              <a:t>coplanar</a:t>
            </a:r>
            <a:r>
              <a:rPr lang="zh-CN" altLang="en-US" dirty="0"/>
              <a:t> </a:t>
            </a:r>
            <a:r>
              <a:rPr lang="en-US" altLang="zh-CN" dirty="0"/>
              <a:t>cases,</a:t>
            </a:r>
            <a:r>
              <a:rPr lang="zh-CN" altLang="en-US" dirty="0"/>
              <a:t> </a:t>
            </a:r>
            <a:r>
              <a:rPr lang="en-US" altLang="zh-CN" dirty="0"/>
              <a:t>both</a:t>
            </a:r>
            <a:r>
              <a:rPr lang="zh-CN" altLang="en-US" dirty="0"/>
              <a:t> </a:t>
            </a:r>
            <a:r>
              <a:rPr lang="en-US" altLang="zh-CN" dirty="0"/>
              <a:t>simulations</a:t>
            </a:r>
            <a:r>
              <a:rPr lang="zh-CN" altLang="en-US" dirty="0"/>
              <a:t> </a:t>
            </a:r>
            <a:r>
              <a:rPr lang="en-US" altLang="zh-CN" dirty="0"/>
              <a:t>show</a:t>
            </a:r>
            <a:r>
              <a:rPr lang="zh-CN" altLang="en-US" dirty="0"/>
              <a:t> </a:t>
            </a:r>
            <a:r>
              <a:rPr lang="en-US" altLang="zh-CN" dirty="0"/>
              <a:t>almost</a:t>
            </a:r>
            <a:r>
              <a:rPr lang="zh-CN" altLang="en-US" dirty="0"/>
              <a:t> </a:t>
            </a:r>
            <a:r>
              <a:rPr lang="en-US" altLang="zh-CN" dirty="0"/>
              <a:t>stationary</a:t>
            </a:r>
            <a:r>
              <a:rPr lang="zh-CN" altLang="en-US" dirty="0"/>
              <a:t> </a:t>
            </a:r>
            <a:r>
              <a:rPr lang="en-US" altLang="zh-CN" dirty="0"/>
              <a:t>Keplerian</a:t>
            </a:r>
            <a:r>
              <a:rPr lang="zh-CN" altLang="en-US" dirty="0"/>
              <a:t> </a:t>
            </a:r>
            <a:r>
              <a:rPr lang="en-US" altLang="zh-CN" dirty="0"/>
              <a:t>orbital</a:t>
            </a:r>
            <a:r>
              <a:rPr lang="zh-CN" altLang="en-US" dirty="0"/>
              <a:t> </a:t>
            </a:r>
            <a:r>
              <a:rPr lang="en-US" altLang="zh-CN" dirty="0"/>
              <a:t>RV</a:t>
            </a:r>
            <a:r>
              <a:rPr lang="zh-CN" altLang="en-US" dirty="0"/>
              <a:t> </a:t>
            </a:r>
            <a:r>
              <a:rPr lang="en-US" altLang="zh-CN" dirty="0"/>
              <a:t>signals.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B5A071-26D1-7349-BDE2-A02EF9C8BDDE}" type="slidenum">
              <a:rPr lang="en-CN" smtClean="0"/>
              <a:t>12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9085029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also</a:t>
            </a:r>
            <a:r>
              <a:rPr lang="zh-CN" altLang="en-US" dirty="0"/>
              <a:t> </a:t>
            </a:r>
            <a:r>
              <a:rPr lang="en-US" altLang="zh-CN" dirty="0"/>
              <a:t>check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different</a:t>
            </a:r>
            <a:r>
              <a:rPr lang="zh-CN" altLang="en-US" dirty="0"/>
              <a:t> </a:t>
            </a:r>
            <a:r>
              <a:rPr lang="en-US" altLang="zh-CN" dirty="0"/>
              <a:t>planetary</a:t>
            </a:r>
            <a:r>
              <a:rPr lang="zh-CN" altLang="en-US" dirty="0"/>
              <a:t> </a:t>
            </a:r>
            <a:r>
              <a:rPr lang="en-US" altLang="zh-CN" dirty="0"/>
              <a:t>minimum</a:t>
            </a:r>
            <a:r>
              <a:rPr lang="zh-CN" altLang="en-US" dirty="0"/>
              <a:t> </a:t>
            </a:r>
            <a:r>
              <a:rPr lang="en-US" altLang="zh-CN" dirty="0"/>
              <a:t>masses,</a:t>
            </a:r>
            <a:r>
              <a:rPr lang="zh-CN" altLang="en-US" dirty="0"/>
              <a:t> </a:t>
            </a:r>
            <a:r>
              <a:rPr lang="en-US" altLang="zh-CN" dirty="0"/>
              <a:t>as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uncertainty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minimum</a:t>
            </a:r>
            <a:r>
              <a:rPr lang="zh-CN" altLang="en-US" dirty="0"/>
              <a:t> </a:t>
            </a:r>
            <a:r>
              <a:rPr lang="en-US" altLang="zh-CN" dirty="0"/>
              <a:t>mass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significant.</a:t>
            </a:r>
            <a:r>
              <a:rPr lang="zh-CN" altLang="en-US" dirty="0"/>
              <a:t> </a:t>
            </a:r>
            <a:r>
              <a:rPr lang="en-US" altLang="zh-CN" dirty="0"/>
              <a:t>But</a:t>
            </a:r>
            <a:r>
              <a:rPr lang="zh-CN" altLang="en-US" dirty="0"/>
              <a:t> </a:t>
            </a:r>
            <a:r>
              <a:rPr lang="en-US" altLang="zh-CN" dirty="0"/>
              <a:t>it</a:t>
            </a:r>
            <a:r>
              <a:rPr lang="zh-CN" altLang="en-US" dirty="0"/>
              <a:t> </a:t>
            </a:r>
            <a:r>
              <a:rPr lang="en-US" altLang="zh-CN" dirty="0"/>
              <a:t>would</a:t>
            </a:r>
            <a:r>
              <a:rPr lang="zh-CN" altLang="en-US" dirty="0"/>
              <a:t> </a:t>
            </a:r>
            <a:r>
              <a:rPr lang="en-US" altLang="zh-CN" dirty="0"/>
              <a:t>only</a:t>
            </a:r>
            <a:r>
              <a:rPr lang="zh-CN" altLang="en-US" dirty="0"/>
              <a:t> </a:t>
            </a:r>
            <a:r>
              <a:rPr lang="en-US" altLang="zh-CN" dirty="0"/>
              <a:t>produce</a:t>
            </a:r>
            <a:r>
              <a:rPr lang="zh-CN" altLang="en-US" dirty="0"/>
              <a:t> </a:t>
            </a:r>
            <a:r>
              <a:rPr lang="en-US" altLang="zh-CN" dirty="0"/>
              <a:t>drifts</a:t>
            </a:r>
            <a:r>
              <a:rPr lang="zh-CN" altLang="en-US" dirty="0"/>
              <a:t> </a:t>
            </a:r>
            <a:r>
              <a:rPr lang="en-US" altLang="zh-CN" dirty="0"/>
              <a:t>below</a:t>
            </a:r>
            <a:r>
              <a:rPr lang="zh-CN" altLang="en-US" dirty="0"/>
              <a:t> </a:t>
            </a:r>
            <a:r>
              <a:rPr lang="en-US" altLang="zh-CN" dirty="0"/>
              <a:t>0.5m/s/year,</a:t>
            </a:r>
            <a:r>
              <a:rPr lang="zh-CN" altLang="en-US" dirty="0"/>
              <a:t> </a:t>
            </a:r>
            <a:r>
              <a:rPr lang="en-US" altLang="zh-CN" dirty="0"/>
              <a:t>superimposed</a:t>
            </a:r>
            <a:r>
              <a:rPr lang="zh-CN" altLang="en-US" dirty="0"/>
              <a:t> </a:t>
            </a:r>
            <a:r>
              <a:rPr lang="en-US" altLang="zh-CN" dirty="0"/>
              <a:t>on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1.9</a:t>
            </a:r>
            <a:r>
              <a:rPr lang="zh-CN" altLang="en-US" dirty="0"/>
              <a:t> </a:t>
            </a:r>
            <a:r>
              <a:rPr lang="en-US" altLang="zh-CN" dirty="0"/>
              <a:t>m/s/year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high</a:t>
            </a:r>
            <a:r>
              <a:rPr lang="zh-CN" altLang="en-US" dirty="0"/>
              <a:t> </a:t>
            </a:r>
            <a:r>
              <a:rPr lang="en-US" altLang="zh-CN" dirty="0"/>
              <a:t>inclination</a:t>
            </a:r>
            <a:r>
              <a:rPr lang="zh-CN" altLang="en-US" dirty="0"/>
              <a:t> </a:t>
            </a:r>
            <a:r>
              <a:rPr lang="en-US" altLang="zh-CN" dirty="0"/>
              <a:t>configuration.</a:t>
            </a:r>
          </a:p>
          <a:p>
            <a:endParaRPr lang="en-US" dirty="0"/>
          </a:p>
          <a:p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next-generation</a:t>
            </a:r>
            <a:r>
              <a:rPr lang="zh-CN" altLang="en-US" dirty="0"/>
              <a:t> </a:t>
            </a:r>
            <a:r>
              <a:rPr lang="en-US" altLang="zh-CN" dirty="0"/>
              <a:t>spectrographs</a:t>
            </a:r>
            <a:r>
              <a:rPr lang="zh-CN" altLang="en-US" dirty="0"/>
              <a:t> </a:t>
            </a:r>
            <a:r>
              <a:rPr lang="en-US" altLang="zh-CN" dirty="0"/>
              <a:t>could</a:t>
            </a:r>
            <a:r>
              <a:rPr lang="zh-CN" altLang="en-US" dirty="0"/>
              <a:t> </a:t>
            </a:r>
            <a:r>
              <a:rPr lang="en-US" altLang="zh-CN" dirty="0"/>
              <a:t>possibly</a:t>
            </a:r>
            <a:r>
              <a:rPr lang="zh-CN" altLang="en-US" dirty="0"/>
              <a:t> </a:t>
            </a:r>
            <a:r>
              <a:rPr lang="en-US" altLang="zh-CN" dirty="0"/>
              <a:t>detect</a:t>
            </a:r>
            <a:r>
              <a:rPr lang="zh-CN" altLang="en-US" dirty="0"/>
              <a:t> </a:t>
            </a:r>
            <a:r>
              <a:rPr lang="en-US" altLang="zh-CN" dirty="0"/>
              <a:t>such</a:t>
            </a:r>
            <a:r>
              <a:rPr lang="zh-CN" altLang="en-US" dirty="0"/>
              <a:t> </a:t>
            </a:r>
            <a:r>
              <a:rPr lang="en-US" altLang="zh-CN" dirty="0"/>
              <a:t>dynamical</a:t>
            </a:r>
            <a:r>
              <a:rPr lang="zh-CN" altLang="en-US" dirty="0"/>
              <a:t> </a:t>
            </a:r>
            <a:r>
              <a:rPr lang="en-US" altLang="zh-CN" dirty="0"/>
              <a:t>signatures,</a:t>
            </a:r>
            <a:r>
              <a:rPr lang="zh-CN" altLang="en-US" dirty="0"/>
              <a:t> </a:t>
            </a:r>
            <a:r>
              <a:rPr lang="en-US" altLang="zh-CN" dirty="0"/>
              <a:t>constrain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system</a:t>
            </a:r>
            <a:r>
              <a:rPr lang="zh-CN" altLang="en-US" dirty="0"/>
              <a:t> </a:t>
            </a:r>
            <a:r>
              <a:rPr lang="en-US" altLang="zh-CN" dirty="0"/>
              <a:t>configuration,</a:t>
            </a:r>
            <a:r>
              <a:rPr lang="zh-CN" altLang="en-US" dirty="0"/>
              <a:t> </a:t>
            </a:r>
            <a:r>
              <a:rPr lang="en-US" altLang="zh-CN" dirty="0"/>
              <a:t>or</a:t>
            </a:r>
            <a:r>
              <a:rPr lang="zh-CN" altLang="en-US" dirty="0"/>
              <a:t> </a:t>
            </a:r>
            <a:r>
              <a:rPr lang="en-US" altLang="zh-CN" dirty="0"/>
              <a:t>break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mass-inclination</a:t>
            </a:r>
            <a:r>
              <a:rPr lang="zh-CN" altLang="en-US" dirty="0"/>
              <a:t> </a:t>
            </a:r>
            <a:r>
              <a:rPr lang="en-US" altLang="zh-CN" dirty="0"/>
              <a:t>degeneracy.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example,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future</a:t>
            </a:r>
            <a:r>
              <a:rPr lang="zh-CN" altLang="en-US" dirty="0"/>
              <a:t> </a:t>
            </a:r>
            <a:r>
              <a:rPr lang="en-US" altLang="zh-CN" dirty="0"/>
              <a:t>high-cadence</a:t>
            </a:r>
            <a:r>
              <a:rPr lang="zh-CN" altLang="en-US" dirty="0"/>
              <a:t> </a:t>
            </a:r>
            <a:r>
              <a:rPr lang="en-US" altLang="zh-CN" dirty="0"/>
              <a:t>observations,</a:t>
            </a:r>
            <a:r>
              <a:rPr lang="zh-CN" altLang="en-US" dirty="0"/>
              <a:t> </a:t>
            </a:r>
            <a:r>
              <a:rPr lang="en-US" altLang="zh-CN" dirty="0"/>
              <a:t>if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first</a:t>
            </a:r>
            <a:r>
              <a:rPr lang="zh-CN" altLang="en-US" dirty="0"/>
              <a:t> </a:t>
            </a:r>
            <a:r>
              <a:rPr lang="en-US" altLang="zh-CN" dirty="0"/>
              <a:t>constrain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binary’s</a:t>
            </a:r>
            <a:r>
              <a:rPr lang="zh-CN" altLang="en-US" dirty="0"/>
              <a:t> </a:t>
            </a:r>
            <a:r>
              <a:rPr lang="en-US" altLang="zh-CN" dirty="0"/>
              <a:t>orbit,</a:t>
            </a:r>
            <a:r>
              <a:rPr lang="zh-CN" altLang="en-US" dirty="0"/>
              <a:t> </a:t>
            </a:r>
            <a:r>
              <a:rPr lang="en-US" altLang="zh-CN" dirty="0"/>
              <a:t>and then</a:t>
            </a:r>
            <a:r>
              <a:rPr lang="zh-CN" altLang="en-US" dirty="0"/>
              <a:t> </a:t>
            </a:r>
            <a:r>
              <a:rPr lang="en-US" altLang="zh-CN" dirty="0"/>
              <a:t>find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planetary</a:t>
            </a:r>
            <a:r>
              <a:rPr lang="zh-CN" altLang="en-US" dirty="0"/>
              <a:t> </a:t>
            </a:r>
            <a:r>
              <a:rPr lang="en-US" altLang="zh-CN" dirty="0"/>
              <a:t>signal</a:t>
            </a:r>
            <a:r>
              <a:rPr lang="zh-CN" altLang="en-US" dirty="0"/>
              <a:t> </a:t>
            </a:r>
            <a:r>
              <a:rPr lang="en-US" altLang="zh-CN" dirty="0"/>
              <a:t>has</a:t>
            </a:r>
            <a:r>
              <a:rPr lang="zh-CN" altLang="en-US" dirty="0"/>
              <a:t> </a:t>
            </a:r>
            <a:r>
              <a:rPr lang="en-US" altLang="zh-CN" dirty="0"/>
              <a:t>similar</a:t>
            </a:r>
            <a:r>
              <a:rPr lang="zh-CN" altLang="en-US" dirty="0"/>
              <a:t> </a:t>
            </a:r>
            <a:r>
              <a:rPr lang="en-US" altLang="zh-CN" dirty="0"/>
              <a:t>drifts,</a:t>
            </a:r>
            <a:r>
              <a:rPr lang="zh-CN" altLang="en-US" dirty="0"/>
              <a:t> </a:t>
            </a:r>
            <a:r>
              <a:rPr lang="en-US" altLang="zh-CN" dirty="0"/>
              <a:t>then</a:t>
            </a:r>
            <a:r>
              <a:rPr lang="zh-CN" altLang="en-US" dirty="0"/>
              <a:t> </a:t>
            </a:r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system</a:t>
            </a:r>
            <a:r>
              <a:rPr lang="zh-CN" altLang="en-US" dirty="0"/>
              <a:t> </a:t>
            </a:r>
            <a:r>
              <a:rPr lang="en-US" altLang="zh-CN" dirty="0"/>
              <a:t>might</a:t>
            </a:r>
            <a:r>
              <a:rPr lang="zh-CN" altLang="en-US" dirty="0"/>
              <a:t> </a:t>
            </a:r>
            <a:r>
              <a:rPr lang="en-US" altLang="zh-CN" dirty="0"/>
              <a:t>be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a high</a:t>
            </a:r>
            <a:r>
              <a:rPr lang="zh-CN" altLang="en-US" dirty="0"/>
              <a:t> </a:t>
            </a:r>
            <a:r>
              <a:rPr lang="en-US" altLang="zh-CN" dirty="0"/>
              <a:t>inclination</a:t>
            </a:r>
            <a:r>
              <a:rPr lang="zh-CN" altLang="en-US" dirty="0"/>
              <a:t> </a:t>
            </a:r>
            <a:r>
              <a:rPr lang="en-US" altLang="zh-CN" dirty="0"/>
              <a:t>configuration.</a:t>
            </a:r>
            <a:r>
              <a:rPr lang="zh-CN" altLang="en-US" dirty="0"/>
              <a:t> </a:t>
            </a:r>
            <a:r>
              <a:rPr lang="en-US" altLang="zh-CN" dirty="0"/>
              <a:t>If</a:t>
            </a:r>
            <a:r>
              <a:rPr lang="zh-CN" altLang="en-US" dirty="0"/>
              <a:t> </a:t>
            </a:r>
            <a:r>
              <a:rPr lang="en-US" altLang="zh-CN" dirty="0"/>
              <a:t>there</a:t>
            </a:r>
            <a:r>
              <a:rPr lang="zh-CN" altLang="en-US" dirty="0"/>
              <a:t> </a:t>
            </a:r>
            <a:r>
              <a:rPr lang="en-US" altLang="zh-CN" dirty="0"/>
              <a:t>are</a:t>
            </a:r>
            <a:r>
              <a:rPr lang="zh-CN" altLang="en-US" dirty="0"/>
              <a:t> </a:t>
            </a:r>
            <a:r>
              <a:rPr lang="en-US" altLang="zh-CN" dirty="0"/>
              <a:t>no</a:t>
            </a:r>
            <a:r>
              <a:rPr lang="zh-CN" altLang="en-US" dirty="0"/>
              <a:t> </a:t>
            </a:r>
            <a:r>
              <a:rPr lang="en-US" altLang="zh-CN" dirty="0"/>
              <a:t>such</a:t>
            </a:r>
            <a:r>
              <a:rPr lang="zh-CN" altLang="en-US" dirty="0"/>
              <a:t> </a:t>
            </a:r>
            <a:r>
              <a:rPr lang="en-US" altLang="zh-CN" dirty="0"/>
              <a:t>signatures,</a:t>
            </a:r>
            <a:r>
              <a:rPr lang="zh-CN" altLang="en-US" dirty="0"/>
              <a:t> </a:t>
            </a:r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system</a:t>
            </a:r>
            <a:r>
              <a:rPr lang="zh-CN" altLang="en-US" dirty="0"/>
              <a:t> </a:t>
            </a:r>
            <a:r>
              <a:rPr lang="en-US" altLang="zh-CN" dirty="0"/>
              <a:t>might</a:t>
            </a:r>
            <a:r>
              <a:rPr lang="zh-CN" altLang="en-US" dirty="0"/>
              <a:t> </a:t>
            </a:r>
            <a:r>
              <a:rPr lang="en-US" altLang="zh-CN" dirty="0"/>
              <a:t>be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low</a:t>
            </a:r>
            <a:r>
              <a:rPr lang="zh-CN" altLang="en-US" dirty="0"/>
              <a:t> </a:t>
            </a:r>
            <a:r>
              <a:rPr lang="en-US" altLang="zh-CN" dirty="0"/>
              <a:t>inclination</a:t>
            </a:r>
            <a:r>
              <a:rPr lang="zh-CN" altLang="en-US" dirty="0"/>
              <a:t> </a:t>
            </a:r>
            <a:r>
              <a:rPr lang="en-US" altLang="zh-CN" dirty="0"/>
              <a:t>configuration,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need</a:t>
            </a:r>
            <a:r>
              <a:rPr lang="zh-CN" altLang="en-US" dirty="0"/>
              <a:t> </a:t>
            </a:r>
            <a:r>
              <a:rPr lang="en-US" altLang="zh-CN" dirty="0"/>
              <a:t>longer</a:t>
            </a:r>
            <a:r>
              <a:rPr lang="zh-CN" altLang="en-US" dirty="0"/>
              <a:t> </a:t>
            </a:r>
            <a:r>
              <a:rPr lang="en-US" altLang="zh-CN" dirty="0"/>
              <a:t>observational</a:t>
            </a:r>
            <a:r>
              <a:rPr lang="zh-CN" altLang="en-US" dirty="0"/>
              <a:t> </a:t>
            </a:r>
            <a:r>
              <a:rPr lang="en-US" altLang="zh-CN" dirty="0"/>
              <a:t>baselines</a:t>
            </a:r>
            <a:r>
              <a:rPr lang="zh-CN" altLang="en-US" dirty="0"/>
              <a:t> </a:t>
            </a:r>
            <a:r>
              <a:rPr lang="en-US" altLang="zh-CN" dirty="0"/>
              <a:t>or</a:t>
            </a:r>
            <a:r>
              <a:rPr lang="zh-CN" altLang="en-US" dirty="0"/>
              <a:t> </a:t>
            </a:r>
            <a:r>
              <a:rPr lang="en-US" altLang="zh-CN" dirty="0"/>
              <a:t>astronomical</a:t>
            </a:r>
            <a:r>
              <a:rPr lang="zh-CN" altLang="en-US" dirty="0"/>
              <a:t> </a:t>
            </a:r>
            <a:r>
              <a:rPr lang="en-US" altLang="zh-CN" dirty="0"/>
              <a:t>data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constrain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true</a:t>
            </a:r>
            <a:r>
              <a:rPr lang="zh-CN" altLang="en-US" dirty="0"/>
              <a:t> </a:t>
            </a:r>
            <a:r>
              <a:rPr lang="en-US" altLang="zh-CN" dirty="0"/>
              <a:t>orbital</a:t>
            </a:r>
            <a:r>
              <a:rPr lang="zh-CN" altLang="en-US" dirty="0"/>
              <a:t> </a:t>
            </a:r>
            <a:r>
              <a:rPr lang="en-US" altLang="zh-CN" dirty="0"/>
              <a:t>configuration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break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mass</a:t>
            </a:r>
            <a:r>
              <a:rPr lang="zh-CN" altLang="en-US" dirty="0"/>
              <a:t> </a:t>
            </a:r>
            <a:r>
              <a:rPr lang="en-US" altLang="zh-CN" dirty="0"/>
              <a:t>inclination</a:t>
            </a:r>
            <a:r>
              <a:rPr lang="zh-CN" altLang="en-US" dirty="0"/>
              <a:t> </a:t>
            </a:r>
            <a:r>
              <a:rPr lang="en-US" altLang="zh-CN" dirty="0"/>
              <a:t>degeneracy.</a:t>
            </a:r>
          </a:p>
          <a:p>
            <a:endParaRPr lang="en-US" dirty="0"/>
          </a:p>
          <a:p>
            <a:r>
              <a:rPr lang="en-US" altLang="zh-CN" dirty="0"/>
              <a:t>Anyway,</a:t>
            </a:r>
            <a:r>
              <a:rPr lang="zh-CN" altLang="en-US" dirty="0"/>
              <a:t> </a:t>
            </a:r>
            <a:r>
              <a:rPr lang="en-US" altLang="zh-CN" dirty="0">
                <a:solidFill>
                  <a:schemeClr val="bg1"/>
                </a:solidFill>
                <a:highlight>
                  <a:srgbClr val="FF0000"/>
                </a:highlight>
              </a:rPr>
              <a:t>future</a:t>
            </a:r>
            <a:r>
              <a:rPr lang="zh-CN" altLang="en-US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dirty="0">
                <a:solidFill>
                  <a:schemeClr val="bg1"/>
                </a:solidFill>
                <a:highlight>
                  <a:srgbClr val="FF0000"/>
                </a:highlight>
              </a:rPr>
              <a:t>high-cadence</a:t>
            </a:r>
            <a:r>
              <a:rPr lang="zh-CN" altLang="en-US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dirty="0">
                <a:solidFill>
                  <a:schemeClr val="bg1"/>
                </a:solidFill>
                <a:highlight>
                  <a:srgbClr val="FF0000"/>
                </a:highlight>
              </a:rPr>
              <a:t>RV</a:t>
            </a:r>
            <a:r>
              <a:rPr lang="zh-CN" altLang="en-US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dirty="0">
                <a:solidFill>
                  <a:schemeClr val="bg1"/>
                </a:solidFill>
                <a:highlight>
                  <a:srgbClr val="FF0000"/>
                </a:highlight>
              </a:rPr>
              <a:t>observations</a:t>
            </a:r>
            <a:r>
              <a:rPr lang="zh-CN" altLang="en-US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dirty="0">
                <a:solidFill>
                  <a:schemeClr val="bg1"/>
                </a:solidFill>
                <a:highlight>
                  <a:srgbClr val="FF0000"/>
                </a:highlight>
              </a:rPr>
              <a:t>are</a:t>
            </a:r>
            <a:r>
              <a:rPr lang="zh-CN" altLang="en-US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dirty="0">
                <a:solidFill>
                  <a:schemeClr val="bg1"/>
                </a:solidFill>
                <a:highlight>
                  <a:srgbClr val="FF0000"/>
                </a:highlight>
              </a:rPr>
              <a:t>crucial</a:t>
            </a:r>
            <a:r>
              <a:rPr lang="zh-CN" altLang="en-US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dirty="0">
                <a:solidFill>
                  <a:schemeClr val="bg1"/>
                </a:solidFill>
                <a:highlight>
                  <a:srgbClr val="FF0000"/>
                </a:highlight>
              </a:rPr>
              <a:t>for</a:t>
            </a:r>
            <a:r>
              <a:rPr lang="zh-CN" altLang="en-US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dirty="0">
                <a:solidFill>
                  <a:schemeClr val="bg1"/>
                </a:solidFill>
                <a:highlight>
                  <a:srgbClr val="FF0000"/>
                </a:highlight>
              </a:rPr>
              <a:t>detecting</a:t>
            </a:r>
            <a:r>
              <a:rPr lang="zh-CN" altLang="en-US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dirty="0">
                <a:solidFill>
                  <a:schemeClr val="bg1"/>
                </a:solidFill>
                <a:highlight>
                  <a:srgbClr val="FF0000"/>
                </a:highlight>
              </a:rPr>
              <a:t>possible</a:t>
            </a:r>
            <a:r>
              <a:rPr lang="zh-CN" altLang="en-US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dirty="0">
                <a:solidFill>
                  <a:schemeClr val="bg1"/>
                </a:solidFill>
                <a:highlight>
                  <a:srgbClr val="FF0000"/>
                </a:highlight>
              </a:rPr>
              <a:t>RV</a:t>
            </a:r>
            <a:r>
              <a:rPr lang="zh-CN" altLang="en-US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dirty="0">
                <a:solidFill>
                  <a:schemeClr val="bg1"/>
                </a:solidFill>
                <a:highlight>
                  <a:srgbClr val="FF0000"/>
                </a:highlight>
              </a:rPr>
              <a:t>signatures,</a:t>
            </a:r>
            <a:r>
              <a:rPr lang="zh-CN" altLang="en-US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dirty="0">
                <a:solidFill>
                  <a:schemeClr val="bg1"/>
                </a:solidFill>
                <a:highlight>
                  <a:srgbClr val="FF0000"/>
                </a:highlight>
              </a:rPr>
              <a:t>especially</a:t>
            </a:r>
            <a:r>
              <a:rPr lang="zh-CN" altLang="en-US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dirty="0">
                <a:solidFill>
                  <a:schemeClr val="bg1"/>
                </a:solidFill>
                <a:highlight>
                  <a:srgbClr val="FF0000"/>
                </a:highlight>
              </a:rPr>
              <a:t>around</a:t>
            </a:r>
            <a:r>
              <a:rPr lang="zh-CN" altLang="en-US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dirty="0">
                <a:solidFill>
                  <a:schemeClr val="bg1"/>
                </a:solidFill>
                <a:highlight>
                  <a:srgbClr val="FF0000"/>
                </a:highlight>
              </a:rPr>
              <a:t>periastron</a:t>
            </a:r>
            <a:r>
              <a:rPr lang="zh-CN" altLang="en-US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dirty="0">
                <a:solidFill>
                  <a:schemeClr val="bg1"/>
                </a:solidFill>
                <a:highlight>
                  <a:srgbClr val="FF0000"/>
                </a:highlight>
              </a:rPr>
              <a:t>of</a:t>
            </a:r>
            <a:r>
              <a:rPr lang="zh-CN" altLang="en-US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dirty="0">
                <a:solidFill>
                  <a:schemeClr val="bg1"/>
                </a:solidFill>
                <a:highlight>
                  <a:srgbClr val="FF0000"/>
                </a:highlight>
              </a:rPr>
              <a:t>the</a:t>
            </a:r>
            <a:r>
              <a:rPr lang="zh-CN" altLang="en-US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dirty="0">
                <a:solidFill>
                  <a:schemeClr val="bg1"/>
                </a:solidFill>
                <a:highlight>
                  <a:srgbClr val="FF0000"/>
                </a:highlight>
              </a:rPr>
              <a:t>planet</a:t>
            </a:r>
            <a:r>
              <a:rPr lang="zh-CN" altLang="en-US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dirty="0">
                <a:solidFill>
                  <a:schemeClr val="bg1"/>
                </a:solidFill>
                <a:highlight>
                  <a:srgbClr val="FF0000"/>
                </a:highlight>
              </a:rPr>
              <a:t>(where</a:t>
            </a:r>
            <a:r>
              <a:rPr lang="zh-CN" altLang="en-US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dirty="0" err="1">
                <a:solidFill>
                  <a:schemeClr val="bg1"/>
                </a:solidFill>
                <a:highlight>
                  <a:srgbClr val="FF0000"/>
                </a:highlight>
              </a:rPr>
              <a:t>vZLK</a:t>
            </a:r>
            <a:r>
              <a:rPr lang="zh-CN" altLang="en-US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dirty="0">
                <a:solidFill>
                  <a:schemeClr val="bg1"/>
                </a:solidFill>
                <a:highlight>
                  <a:srgbClr val="FF0000"/>
                </a:highlight>
              </a:rPr>
              <a:t>variations</a:t>
            </a:r>
            <a:r>
              <a:rPr lang="zh-CN" altLang="en-US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dirty="0">
                <a:solidFill>
                  <a:schemeClr val="bg1"/>
                </a:solidFill>
                <a:highlight>
                  <a:srgbClr val="FF0000"/>
                </a:highlight>
              </a:rPr>
              <a:t>are</a:t>
            </a:r>
            <a:r>
              <a:rPr lang="zh-CN" altLang="en-US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dirty="0">
                <a:solidFill>
                  <a:schemeClr val="bg1"/>
                </a:solidFill>
                <a:highlight>
                  <a:srgbClr val="FF0000"/>
                </a:highlight>
              </a:rPr>
              <a:t>most</a:t>
            </a:r>
            <a:r>
              <a:rPr lang="zh-CN" altLang="en-US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dirty="0">
                <a:solidFill>
                  <a:schemeClr val="bg1"/>
                </a:solidFill>
                <a:highlight>
                  <a:srgbClr val="FF0000"/>
                </a:highlight>
              </a:rPr>
              <a:t>pronounced).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B5A071-26D1-7349-BDE2-A02EF9C8BDDE}" type="slidenum">
              <a:rPr lang="en-CN" smtClean="0"/>
              <a:t>13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086846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also,</a:t>
            </a:r>
            <a:r>
              <a:rPr lang="zh-CN" altLang="en-US" dirty="0"/>
              <a:t> </a:t>
            </a:r>
            <a:r>
              <a:rPr lang="en-US" altLang="zh-CN" dirty="0"/>
              <a:t>other</a:t>
            </a:r>
            <a:r>
              <a:rPr lang="zh-CN" altLang="en-US" dirty="0"/>
              <a:t> </a:t>
            </a:r>
            <a:r>
              <a:rPr lang="en-US" altLang="zh-CN" dirty="0"/>
              <a:t>short-range</a:t>
            </a:r>
            <a:r>
              <a:rPr lang="zh-CN" altLang="en-US" dirty="0"/>
              <a:t> </a:t>
            </a:r>
            <a:r>
              <a:rPr lang="en-US" altLang="zh-CN" dirty="0"/>
              <a:t>forces</a:t>
            </a:r>
            <a:r>
              <a:rPr lang="zh-CN" altLang="en-US" dirty="0"/>
              <a:t> </a:t>
            </a:r>
            <a:r>
              <a:rPr lang="en-US" altLang="zh-CN" dirty="0"/>
              <a:t>may</a:t>
            </a:r>
            <a:r>
              <a:rPr lang="zh-CN" altLang="en-US" dirty="0"/>
              <a:t> </a:t>
            </a:r>
            <a:r>
              <a:rPr lang="en-US" altLang="zh-CN" dirty="0"/>
              <a:t>play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role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evolution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system.</a:t>
            </a:r>
            <a:r>
              <a:rPr lang="zh-CN" altLang="en-US" dirty="0"/>
              <a:t> </a:t>
            </a:r>
            <a:r>
              <a:rPr lang="en-US" altLang="zh-CN" dirty="0"/>
              <a:t>GR</a:t>
            </a:r>
            <a:r>
              <a:rPr lang="zh-CN" altLang="en-US" dirty="0"/>
              <a:t> </a:t>
            </a:r>
            <a:r>
              <a:rPr lang="en-US" altLang="zh-CN" dirty="0"/>
              <a:t>or</a:t>
            </a:r>
            <a:r>
              <a:rPr lang="zh-CN" altLang="en-US" dirty="0"/>
              <a:t> </a:t>
            </a:r>
            <a:r>
              <a:rPr lang="en-US" altLang="zh-CN" dirty="0"/>
              <a:t>tidal</a:t>
            </a:r>
            <a:r>
              <a:rPr lang="zh-CN" altLang="en-US" dirty="0"/>
              <a:t> </a:t>
            </a:r>
            <a:r>
              <a:rPr lang="en-US" altLang="zh-CN" dirty="0"/>
              <a:t>effects</a:t>
            </a:r>
            <a:r>
              <a:rPr lang="zh-CN" altLang="en-US" dirty="0"/>
              <a:t> </a:t>
            </a:r>
            <a:r>
              <a:rPr lang="en-US" altLang="zh-CN" dirty="0"/>
              <a:t>could</a:t>
            </a:r>
            <a:r>
              <a:rPr lang="zh-CN" altLang="en-US" dirty="0"/>
              <a:t> </a:t>
            </a:r>
            <a:r>
              <a:rPr lang="en-US" altLang="zh-CN" dirty="0"/>
              <a:t>suppress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 err="1"/>
              <a:t>vZLK</a:t>
            </a:r>
            <a:r>
              <a:rPr lang="zh-CN" altLang="en-US" dirty="0"/>
              <a:t> </a:t>
            </a:r>
            <a:r>
              <a:rPr lang="en-US" altLang="zh-CN" dirty="0"/>
              <a:t>oscillation,</a:t>
            </a:r>
            <a:r>
              <a:rPr lang="zh-CN" altLang="en-US" dirty="0"/>
              <a:t> </a:t>
            </a:r>
            <a:r>
              <a:rPr lang="en-US" altLang="zh-CN" dirty="0"/>
              <a:t>as</a:t>
            </a:r>
            <a:r>
              <a:rPr lang="zh-CN" altLang="en-US" dirty="0"/>
              <a:t> </a:t>
            </a:r>
            <a:r>
              <a:rPr lang="en-US" altLang="zh-CN" dirty="0"/>
              <a:t>discussed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formation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hot</a:t>
            </a:r>
            <a:r>
              <a:rPr lang="zh-CN" altLang="en-US" dirty="0"/>
              <a:t> </a:t>
            </a:r>
            <a:r>
              <a:rPr lang="en-US" altLang="zh-CN" dirty="0" err="1"/>
              <a:t>Jupiters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shrinking</a:t>
            </a:r>
            <a:r>
              <a:rPr lang="zh-CN" altLang="en-US" dirty="0"/>
              <a:t> </a:t>
            </a:r>
            <a:r>
              <a:rPr lang="en-US" altLang="zh-CN" dirty="0"/>
              <a:t>orbits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black</a:t>
            </a:r>
            <a:r>
              <a:rPr lang="zh-CN" altLang="en-US" dirty="0"/>
              <a:t> </a:t>
            </a:r>
            <a:r>
              <a:rPr lang="en-US" altLang="zh-CN" dirty="0"/>
              <a:t>holes.</a:t>
            </a:r>
            <a:r>
              <a:rPr lang="zh-CN" altLang="en-US" dirty="0"/>
              <a:t> </a:t>
            </a:r>
            <a:r>
              <a:rPr lang="en-US" altLang="zh-CN" dirty="0"/>
              <a:t>If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precession</a:t>
            </a:r>
            <a:r>
              <a:rPr lang="zh-CN" altLang="en-US" dirty="0"/>
              <a:t> </a:t>
            </a:r>
            <a:r>
              <a:rPr lang="en-US" altLang="zh-CN" dirty="0"/>
              <a:t>rate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comparable,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short-range</a:t>
            </a:r>
            <a:r>
              <a:rPr lang="zh-CN" altLang="en-US" dirty="0"/>
              <a:t> </a:t>
            </a:r>
            <a:r>
              <a:rPr lang="en-US" altLang="zh-CN" dirty="0"/>
              <a:t>forces</a:t>
            </a:r>
            <a:r>
              <a:rPr lang="zh-CN" altLang="en-US" dirty="0"/>
              <a:t> </a:t>
            </a:r>
            <a:r>
              <a:rPr lang="en-US" altLang="zh-CN" dirty="0"/>
              <a:t>would</a:t>
            </a:r>
            <a:r>
              <a:rPr lang="zh-CN" altLang="en-US" dirty="0"/>
              <a:t> </a:t>
            </a:r>
            <a:r>
              <a:rPr lang="en-US" altLang="zh-CN" dirty="0"/>
              <a:t>govern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evolution</a:t>
            </a:r>
            <a:r>
              <a:rPr lang="zh-CN" altLang="en-US" dirty="0"/>
              <a:t> </a:t>
            </a:r>
            <a:r>
              <a:rPr lang="en-US" altLang="zh-CN" dirty="0"/>
              <a:t>rather</a:t>
            </a:r>
            <a:r>
              <a:rPr lang="zh-CN" altLang="en-US" dirty="0"/>
              <a:t> </a:t>
            </a:r>
            <a:r>
              <a:rPr lang="en-US" altLang="zh-CN" dirty="0"/>
              <a:t>than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 err="1"/>
              <a:t>vZLK</a:t>
            </a:r>
            <a:r>
              <a:rPr lang="zh-CN" altLang="en-US" dirty="0"/>
              <a:t> </a:t>
            </a:r>
            <a:r>
              <a:rPr lang="en-US" altLang="zh-CN" dirty="0"/>
              <a:t>mechanism.</a:t>
            </a:r>
            <a:r>
              <a:rPr lang="zh-CN" altLang="en-US" dirty="0"/>
              <a:t> </a:t>
            </a:r>
            <a:r>
              <a:rPr lang="en-US" altLang="zh-CN" dirty="0"/>
              <a:t>So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test</a:t>
            </a:r>
            <a:r>
              <a:rPr lang="zh-CN" altLang="en-US" dirty="0"/>
              <a:t> </a:t>
            </a:r>
            <a:r>
              <a:rPr lang="en-US" altLang="zh-CN" dirty="0"/>
              <a:t>it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 err="1"/>
              <a:t>anayltical</a:t>
            </a:r>
            <a:r>
              <a:rPr lang="zh-CN" altLang="en-US" dirty="0"/>
              <a:t> </a:t>
            </a:r>
            <a:r>
              <a:rPr lang="en-US" altLang="zh-CN" dirty="0"/>
              <a:t>way,</a:t>
            </a:r>
            <a:r>
              <a:rPr lang="zh-CN" altLang="en-US" dirty="0"/>
              <a:t> </a:t>
            </a:r>
            <a:r>
              <a:rPr lang="en-US" altLang="zh-CN" dirty="0"/>
              <a:t>as</a:t>
            </a:r>
            <a:r>
              <a:rPr lang="zh-CN" altLang="en-US" dirty="0"/>
              <a:t> </a:t>
            </a:r>
            <a:r>
              <a:rPr lang="en-US" altLang="zh-CN" dirty="0"/>
              <a:t>shown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these</a:t>
            </a:r>
            <a:r>
              <a:rPr lang="zh-CN" altLang="en-US" dirty="0"/>
              <a:t> </a:t>
            </a:r>
            <a:r>
              <a:rPr lang="en-US" altLang="zh-CN" dirty="0"/>
              <a:t>equations.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find</a:t>
            </a:r>
            <a:r>
              <a:rPr lang="zh-CN" altLang="en-US" dirty="0"/>
              <a:t> </a:t>
            </a:r>
            <a:r>
              <a:rPr lang="en-US" altLang="zh-CN" dirty="0"/>
              <a:t>that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current</a:t>
            </a:r>
            <a:r>
              <a:rPr lang="zh-CN" altLang="en-US" dirty="0"/>
              <a:t> </a:t>
            </a:r>
            <a:r>
              <a:rPr lang="en-US" altLang="zh-CN" dirty="0"/>
              <a:t>configuration,</a:t>
            </a:r>
            <a:r>
              <a:rPr lang="zh-CN" altLang="en-US" dirty="0"/>
              <a:t> </a:t>
            </a:r>
            <a:r>
              <a:rPr lang="en-US" altLang="zh-CN" dirty="0"/>
              <a:t>if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 err="1"/>
              <a:t>vZLK</a:t>
            </a:r>
            <a:r>
              <a:rPr lang="zh-CN" altLang="en-US" dirty="0"/>
              <a:t> </a:t>
            </a:r>
            <a:r>
              <a:rPr lang="en-US" altLang="zh-CN" dirty="0"/>
              <a:t>mechanism</a:t>
            </a:r>
            <a:r>
              <a:rPr lang="zh-CN" altLang="en-US" dirty="0"/>
              <a:t> </a:t>
            </a:r>
            <a:r>
              <a:rPr lang="en-US" altLang="zh-CN" dirty="0"/>
              <a:t>operates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system,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 err="1"/>
              <a:t>vZLK</a:t>
            </a:r>
            <a:r>
              <a:rPr lang="zh-CN" altLang="en-US" dirty="0"/>
              <a:t> </a:t>
            </a:r>
            <a:r>
              <a:rPr lang="en-US" altLang="zh-CN" dirty="0"/>
              <a:t>oscillation</a:t>
            </a:r>
            <a:r>
              <a:rPr lang="zh-CN" altLang="en-US" dirty="0"/>
              <a:t> </a:t>
            </a:r>
            <a:r>
              <a:rPr lang="en-US" altLang="zh-CN" dirty="0"/>
              <a:t>would</a:t>
            </a:r>
            <a:r>
              <a:rPr lang="zh-CN" altLang="en-US" dirty="0"/>
              <a:t> </a:t>
            </a:r>
            <a:r>
              <a:rPr lang="en-US" altLang="zh-CN" dirty="0"/>
              <a:t>not</a:t>
            </a:r>
            <a:r>
              <a:rPr lang="zh-CN" altLang="en-US" dirty="0"/>
              <a:t> </a:t>
            </a:r>
            <a:r>
              <a:rPr lang="en-US" altLang="zh-CN" dirty="0"/>
              <a:t>be</a:t>
            </a:r>
            <a:r>
              <a:rPr lang="zh-CN" altLang="en-US" dirty="0"/>
              <a:t> </a:t>
            </a:r>
            <a:r>
              <a:rPr lang="en-US" altLang="zh-CN" dirty="0"/>
              <a:t>suppressed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current</a:t>
            </a:r>
            <a:r>
              <a:rPr lang="zh-CN" altLang="en-US" dirty="0"/>
              <a:t> </a:t>
            </a:r>
            <a:r>
              <a:rPr lang="en-US" altLang="zh-CN" dirty="0"/>
              <a:t>planet</a:t>
            </a:r>
            <a:r>
              <a:rPr lang="zh-CN" altLang="en-US" dirty="0"/>
              <a:t> </a:t>
            </a:r>
            <a:r>
              <a:rPr lang="en-US" altLang="zh-CN" dirty="0"/>
              <a:t>parameters.</a:t>
            </a:r>
            <a:r>
              <a:rPr lang="zh-CN" altLang="en-US" dirty="0"/>
              <a:t> </a:t>
            </a:r>
            <a:r>
              <a:rPr lang="en-US" altLang="zh-CN" dirty="0"/>
              <a:t>But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similar</a:t>
            </a:r>
            <a:r>
              <a:rPr lang="zh-CN" altLang="en-US" dirty="0"/>
              <a:t> </a:t>
            </a:r>
            <a:r>
              <a:rPr lang="en-US" altLang="zh-CN" dirty="0"/>
              <a:t>systems</a:t>
            </a:r>
            <a:r>
              <a:rPr lang="zh-CN" altLang="en-US" dirty="0"/>
              <a:t> </a:t>
            </a:r>
            <a:r>
              <a:rPr lang="en-US" altLang="zh-CN" dirty="0"/>
              <a:t>like</a:t>
            </a:r>
            <a:r>
              <a:rPr lang="zh-CN" altLang="en-US" dirty="0"/>
              <a:t> </a:t>
            </a:r>
            <a:r>
              <a:rPr lang="en-US" altLang="zh-CN" dirty="0"/>
              <a:t>GJ</a:t>
            </a:r>
            <a:r>
              <a:rPr lang="zh-CN" altLang="en-US" dirty="0"/>
              <a:t> </a:t>
            </a:r>
            <a:r>
              <a:rPr lang="en-US" altLang="zh-CN" dirty="0"/>
              <a:t>86,</a:t>
            </a:r>
            <a:r>
              <a:rPr lang="zh-CN" altLang="en-US" dirty="0"/>
              <a:t> </a:t>
            </a:r>
            <a:r>
              <a:rPr lang="en-US" altLang="zh-CN" dirty="0"/>
              <a:t>short-range</a:t>
            </a:r>
            <a:r>
              <a:rPr lang="zh-CN" altLang="en-US" dirty="0"/>
              <a:t> </a:t>
            </a:r>
            <a:r>
              <a:rPr lang="en-US" altLang="zh-CN" dirty="0"/>
              <a:t>forces</a:t>
            </a:r>
            <a:r>
              <a:rPr lang="zh-CN" altLang="en-US" dirty="0"/>
              <a:t> </a:t>
            </a:r>
            <a:r>
              <a:rPr lang="en-US" altLang="zh-CN" dirty="0"/>
              <a:t>could</a:t>
            </a:r>
            <a:r>
              <a:rPr lang="zh-CN" altLang="en-US" dirty="0"/>
              <a:t> </a:t>
            </a:r>
            <a:r>
              <a:rPr lang="en-US" altLang="zh-CN" dirty="0"/>
              <a:t>not</a:t>
            </a:r>
            <a:r>
              <a:rPr lang="zh-CN" altLang="en-US" dirty="0"/>
              <a:t> </a:t>
            </a:r>
            <a:r>
              <a:rPr lang="en-US" altLang="zh-CN" dirty="0"/>
              <a:t>be</a:t>
            </a:r>
            <a:r>
              <a:rPr lang="zh-CN" altLang="en-US" dirty="0"/>
              <a:t> </a:t>
            </a:r>
            <a:r>
              <a:rPr lang="en-US" altLang="zh-CN" dirty="0" err="1"/>
              <a:t>negelected</a:t>
            </a:r>
            <a:r>
              <a:rPr lang="zh-CN" altLang="en-US" dirty="0"/>
              <a:t> </a:t>
            </a:r>
            <a:r>
              <a:rPr lang="en-US" altLang="zh-CN" dirty="0"/>
              <a:t>due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its</a:t>
            </a:r>
            <a:r>
              <a:rPr lang="zh-CN" altLang="en-US" dirty="0"/>
              <a:t> </a:t>
            </a:r>
            <a:r>
              <a:rPr lang="en-US" altLang="zh-CN" dirty="0"/>
              <a:t>close</a:t>
            </a:r>
            <a:r>
              <a:rPr lang="zh-CN" altLang="en-US" dirty="0"/>
              <a:t> </a:t>
            </a:r>
            <a:r>
              <a:rPr lang="en-US" altLang="zh-CN" dirty="0"/>
              <a:t>configuration.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B5A071-26D1-7349-BDE2-A02EF9C8BDDE}" type="slidenum">
              <a:rPr lang="en-CN" smtClean="0"/>
              <a:t>14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0102998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So,</a:t>
            </a:r>
            <a:r>
              <a:rPr lang="zh-CN" altLang="en-US" dirty="0"/>
              <a:t> </a:t>
            </a:r>
            <a:r>
              <a:rPr lang="en-US" altLang="zh-CN" dirty="0"/>
              <a:t>at</a:t>
            </a:r>
            <a:r>
              <a:rPr lang="zh-CN" altLang="en-US" dirty="0"/>
              <a:t> </a:t>
            </a:r>
            <a:r>
              <a:rPr lang="en-US" altLang="zh-CN" dirty="0"/>
              <a:t>last,</a:t>
            </a:r>
            <a:r>
              <a:rPr lang="zh-CN" altLang="en-US" dirty="0"/>
              <a:t> </a:t>
            </a:r>
            <a:r>
              <a:rPr lang="en-US" altLang="zh-CN" dirty="0"/>
              <a:t>I</a:t>
            </a:r>
            <a:r>
              <a:rPr lang="zh-CN" altLang="en-US" dirty="0"/>
              <a:t> </a:t>
            </a:r>
            <a:r>
              <a:rPr lang="en-US" altLang="zh-CN" dirty="0"/>
              <a:t>would</a:t>
            </a:r>
            <a:r>
              <a:rPr lang="zh-CN" altLang="en-US" dirty="0"/>
              <a:t> </a:t>
            </a:r>
            <a:r>
              <a:rPr lang="en-US" altLang="zh-CN" dirty="0"/>
              <a:t>summarize</a:t>
            </a:r>
            <a:r>
              <a:rPr lang="zh-CN" altLang="en-US" dirty="0"/>
              <a:t> </a:t>
            </a:r>
            <a:r>
              <a:rPr lang="en-US" altLang="zh-CN" dirty="0"/>
              <a:t>my</a:t>
            </a:r>
            <a:r>
              <a:rPr lang="zh-CN" altLang="en-US" dirty="0"/>
              <a:t> </a:t>
            </a:r>
            <a:r>
              <a:rPr lang="en-US" altLang="zh-CN" dirty="0"/>
              <a:t>talk.</a:t>
            </a:r>
          </a:p>
          <a:p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take-home</a:t>
            </a:r>
            <a:r>
              <a:rPr lang="zh-CN" altLang="en-US" dirty="0"/>
              <a:t> </a:t>
            </a:r>
            <a:r>
              <a:rPr lang="en-US" altLang="zh-CN" dirty="0"/>
              <a:t>conclusions</a:t>
            </a:r>
            <a:r>
              <a:rPr lang="zh-CN" altLang="en-US" dirty="0"/>
              <a:t> </a:t>
            </a:r>
            <a:r>
              <a:rPr lang="en-US" altLang="zh-CN" dirty="0"/>
              <a:t>are:</a:t>
            </a:r>
          </a:p>
          <a:p>
            <a:endParaRPr lang="en-US" dirty="0"/>
          </a:p>
          <a:p>
            <a:r>
              <a:rPr lang="en-US" altLang="zh-CN" dirty="0"/>
              <a:t>I</a:t>
            </a:r>
            <a:r>
              <a:rPr lang="zh-CN" altLang="en-US" dirty="0"/>
              <a:t> </a:t>
            </a:r>
            <a:r>
              <a:rPr lang="en-US" altLang="zh-CN" dirty="0"/>
              <a:t>think</a:t>
            </a:r>
            <a:r>
              <a:rPr lang="zh-CN" altLang="en-US" dirty="0"/>
              <a:t> </a:t>
            </a:r>
            <a:r>
              <a:rPr lang="en-US" altLang="zh-CN" dirty="0"/>
              <a:t>I'll</a:t>
            </a:r>
            <a:r>
              <a:rPr lang="zh-CN" altLang="en-US" dirty="0"/>
              <a:t> </a:t>
            </a:r>
            <a:r>
              <a:rPr lang="en-US" altLang="zh-CN" dirty="0"/>
              <a:t>stop</a:t>
            </a:r>
            <a:r>
              <a:rPr lang="zh-CN" altLang="en-US" dirty="0"/>
              <a:t> </a:t>
            </a:r>
            <a:r>
              <a:rPr lang="en-US" altLang="zh-CN" dirty="0"/>
              <a:t>here.</a:t>
            </a:r>
            <a:r>
              <a:rPr lang="zh-CN" altLang="en-US" dirty="0"/>
              <a:t> </a:t>
            </a:r>
            <a:r>
              <a:rPr lang="en-US" altLang="zh-CN" dirty="0"/>
              <a:t>If</a:t>
            </a:r>
            <a:r>
              <a:rPr lang="zh-CN" altLang="en-US" dirty="0"/>
              <a:t> </a:t>
            </a:r>
            <a:r>
              <a:rPr lang="en-US" altLang="zh-CN" dirty="0"/>
              <a:t>you</a:t>
            </a:r>
            <a:r>
              <a:rPr lang="zh-CN" altLang="en-US" dirty="0"/>
              <a:t> </a:t>
            </a:r>
            <a:r>
              <a:rPr lang="en-US" altLang="zh-CN" dirty="0"/>
              <a:t>have</a:t>
            </a:r>
            <a:r>
              <a:rPr lang="zh-CN" altLang="en-US" dirty="0"/>
              <a:t> </a:t>
            </a:r>
            <a:r>
              <a:rPr lang="en-US" altLang="zh-CN" dirty="0"/>
              <a:t>questions,</a:t>
            </a:r>
            <a:r>
              <a:rPr lang="zh-CN" altLang="en-US" dirty="0"/>
              <a:t> </a:t>
            </a:r>
            <a:r>
              <a:rPr lang="en-US" altLang="zh-CN" dirty="0"/>
              <a:t>please</a:t>
            </a:r>
            <a:r>
              <a:rPr lang="zh-CN" altLang="en-US" dirty="0"/>
              <a:t> </a:t>
            </a:r>
            <a:r>
              <a:rPr lang="en-US" altLang="zh-CN" dirty="0"/>
              <a:t>feel</a:t>
            </a:r>
            <a:r>
              <a:rPr lang="zh-CN" altLang="en-US" dirty="0"/>
              <a:t> </a:t>
            </a:r>
            <a:r>
              <a:rPr lang="en-US" altLang="zh-CN" dirty="0"/>
              <a:t>free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ask.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B5A071-26D1-7349-BDE2-A02EF9C8BDDE}" type="slidenum">
              <a:rPr lang="en-CN" smtClean="0"/>
              <a:t>15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0804438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239C7-348D-2D54-89BA-D4CCEE3E13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8F3854-318D-4A6A-3989-B9D934DCD8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BC9948-8C28-CE24-1F57-EAC7376D4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5F5E6-A240-E24B-9E58-D275FDF8471F}" type="datetimeFigureOut">
              <a:rPr lang="en-CN" smtClean="0"/>
              <a:t>2025/7/5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F6386E-E7D5-6306-32FF-871271EF6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1BF7A5-D92A-A8D5-2969-4342EC610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688FA-4105-5B46-8055-77BE38B0ADE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222918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D0C43-607D-B9AE-4561-C7EFE1BA1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18DF61-3B82-F732-7D8C-46FAE16C29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17016D-737B-9D0D-F464-A9BB4D521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5F5E6-A240-E24B-9E58-D275FDF8471F}" type="datetimeFigureOut">
              <a:rPr lang="en-CN" smtClean="0"/>
              <a:t>2025/7/5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27DB7-431C-CADD-105D-E0342906C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207537-5D99-F3FA-5898-EB67BF977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688FA-4105-5B46-8055-77BE38B0ADE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707849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04F68-EDE3-E4C7-A9E5-A794DA066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73231E-39A7-6EC3-3820-869772328A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4440F3-DB1A-7DCA-5708-0038AAE20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5F5E6-A240-E24B-9E58-D275FDF8471F}" type="datetimeFigureOut">
              <a:rPr lang="en-CN" smtClean="0"/>
              <a:t>2025/7/6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89901A-0887-01A5-D07C-E03562C09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B734D0-1199-07D7-532B-C1ADECB20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688FA-4105-5B46-8055-77BE38B0ADE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336682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BEEA-5C85-BF75-111B-01D755E18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1858A8-D6BA-04DA-7729-B3C6B55D46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6CF6DE-8522-34E1-957E-E34937BBD2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C1A787-BCA8-1B74-2220-B801E1701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5F5E6-A240-E24B-9E58-D275FDF8471F}" type="datetimeFigureOut">
              <a:rPr lang="en-CN" smtClean="0"/>
              <a:t>2025/7/6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8C7657-F92E-ECDD-B58B-048B3B9F4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59678E-3A5C-43B9-56BB-061CEFAD0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688FA-4105-5B46-8055-77BE38B0ADE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12468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0251F-D96E-12FB-39CF-C9EAECEE3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4C36C1-5249-0ED1-62A7-31C719558A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A6D789-3938-0D82-09CD-AFF0B70926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0A651B-EA7E-67EC-7D2B-27F67DEF0A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B0D109-0A27-4506-11B4-2161F955DD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D74442-6D98-61E3-2227-ABE87F9E5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5F5E6-A240-E24B-9E58-D275FDF8471F}" type="datetimeFigureOut">
              <a:rPr lang="en-CN" smtClean="0"/>
              <a:t>2025/7/6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E6808A-23DA-F7B1-0B5A-06256FE1A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D00203-2AEE-8AE7-7581-2C8C28435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688FA-4105-5B46-8055-77BE38B0ADE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4038973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8047B-8A9D-442E-F96D-2C25DFEBD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5A2E86-3185-2092-6497-7794E017D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5F5E6-A240-E24B-9E58-D275FDF8471F}" type="datetimeFigureOut">
              <a:rPr lang="en-CN" smtClean="0"/>
              <a:t>2025/7/6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6679CA-1C26-2E9B-C502-2E5383CE5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3E5FE5-4345-7060-FE8B-C0BF48E4C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688FA-4105-5B46-8055-77BE38B0ADE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4274405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6FD12D-89BC-91E4-591A-9C6BF6819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5F5E6-A240-E24B-9E58-D275FDF8471F}" type="datetimeFigureOut">
              <a:rPr lang="en-CN" smtClean="0"/>
              <a:t>2025/7/6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A5A620-9670-50D1-4C27-2DDA8808F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890B7C-E57C-2F09-EAAC-CF50B2798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688FA-4105-5B46-8055-77BE38B0ADE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35317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77F5F-4047-1168-C8F8-7297CBB1A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D4963D-A0CE-B2C1-C6CB-043FAAB5B9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1D00C0-719D-E58F-4A9E-848D462646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FF6F5D-8310-D72F-297A-BA00CB36B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5F5E6-A240-E24B-9E58-D275FDF8471F}" type="datetimeFigureOut">
              <a:rPr lang="en-CN" smtClean="0"/>
              <a:t>2025/7/6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033949-A0A1-8ED9-EC84-29EEE2B8D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839DF4-49F6-00C0-48FE-C2736DF10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688FA-4105-5B46-8055-77BE38B0ADE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778756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69025-BBAE-A267-8404-B9E7CE513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9E3B3E-55CA-5AE0-3A0F-71A87AEA9F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667EB1-063B-6B40-2730-BB888D4EE4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5007DF-643B-6626-BE34-4BAF03C9D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5F5E6-A240-E24B-9E58-D275FDF8471F}" type="datetimeFigureOut">
              <a:rPr lang="en-CN" smtClean="0"/>
              <a:t>2025/7/6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BADBA4-FB96-3F00-EDA5-215E862ED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BA6C17-9DB1-6B4A-5334-B7CF331B5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688FA-4105-5B46-8055-77BE38B0ADE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18108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8EF91-0AB9-DDFF-5A46-2D1837619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BE57F7-CDDC-01AF-B8EB-D88B0251A6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002808-D646-0653-FBD2-D94C2601B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5F5E6-A240-E24B-9E58-D275FDF8471F}" type="datetimeFigureOut">
              <a:rPr lang="en-CN" smtClean="0"/>
              <a:t>2025/7/6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F16A1C-17B7-5A67-CF75-E19D78729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DCD41D-163B-D8A5-F591-53C1110B1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688FA-4105-5B46-8055-77BE38B0ADE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58745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05BAB2-D008-4390-A764-306D184B24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0B5F10-299D-84AF-9C56-7C3068DBE3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DD4ED7-B7A2-9572-F0C9-27D5A5AC2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5F5E6-A240-E24B-9E58-D275FDF8471F}" type="datetimeFigureOut">
              <a:rPr lang="en-CN" smtClean="0"/>
              <a:t>2025/7/6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0E4DEB-FEDE-0B41-3909-49BEB70D5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714DB-2B60-22AD-4B1E-7B5ADD3D3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688FA-4105-5B46-8055-77BE38B0ADE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92400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40073F-D648-DAA0-92F3-370835B59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2F4128-46A9-FB69-24A5-993F738BCF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F70F24-C2C6-CAC7-C202-597F988A7C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A5F5E6-A240-E24B-9E58-D275FDF8471F}" type="datetimeFigureOut">
              <a:rPr lang="en-CN" smtClean="0"/>
              <a:t>2025/7/5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0A188F-8737-5368-0C1A-8EE58431F7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B01C14-EEF3-1ED9-D461-1D06A686CE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2688FA-4105-5B46-8055-77BE38B0ADE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69572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6.png"/><Relationship Id="rId7" Type="http://schemas.openxmlformats.org/officeDocument/2006/relationships/hyperlink" Target="http://adsabs.harvard.edu/abs/2011arXiv1107.2414N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adsabs.harvard.edu/abs/2011Natur.473..187N" TargetMode="Externa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gif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C5519-5016-E7D8-D3AB-63783283DD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8786" y="1046916"/>
            <a:ext cx="10594427" cy="2561515"/>
          </a:xfrm>
        </p:spPr>
        <p:txBody>
          <a:bodyPr>
            <a:noAutofit/>
          </a:bodyPr>
          <a:lstStyle/>
          <a:p>
            <a:r>
              <a:rPr lang="en-CN" sz="4500" dirty="0">
                <a:solidFill>
                  <a:schemeClr val="bg1"/>
                </a:solidFill>
                <a:latin typeface="Arial Hebrew" pitchFamily="2" charset="-79"/>
                <a:cs typeface="Arial Hebrew" pitchFamily="2" charset="-79"/>
              </a:rPr>
              <a:t>Breaking</a:t>
            </a:r>
            <a:r>
              <a:rPr lang="zh-CN" altLang="en-US" sz="4500" dirty="0">
                <a:solidFill>
                  <a:schemeClr val="bg1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lang="en-US" altLang="zh-CN" sz="4500" dirty="0">
                <a:solidFill>
                  <a:schemeClr val="bg1"/>
                </a:solidFill>
                <a:latin typeface="Arial Hebrew" pitchFamily="2" charset="-79"/>
                <a:cs typeface="Arial Hebrew" pitchFamily="2" charset="-79"/>
              </a:rPr>
              <a:t>the</a:t>
            </a:r>
            <a:r>
              <a:rPr lang="zh-CN" altLang="en-US" sz="4500" dirty="0">
                <a:solidFill>
                  <a:schemeClr val="bg1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lang="en-US" altLang="zh-CN" sz="4500" dirty="0">
                <a:solidFill>
                  <a:schemeClr val="bg1"/>
                </a:solidFill>
                <a:latin typeface="Arial Hebrew" pitchFamily="2" charset="-79"/>
                <a:cs typeface="Arial Hebrew" pitchFamily="2" charset="-79"/>
              </a:rPr>
              <a:t>mass-inclination</a:t>
            </a:r>
            <a:r>
              <a:rPr lang="zh-CN" altLang="en-US" sz="4500" dirty="0">
                <a:solidFill>
                  <a:schemeClr val="bg1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lang="en-US" altLang="zh-CN" sz="4500" dirty="0">
                <a:solidFill>
                  <a:schemeClr val="bg1"/>
                </a:solidFill>
                <a:latin typeface="Arial Hebrew" pitchFamily="2" charset="-79"/>
                <a:cs typeface="Arial Hebrew" pitchFamily="2" charset="-79"/>
              </a:rPr>
              <a:t>degeneracy</a:t>
            </a:r>
            <a:r>
              <a:rPr lang="zh-CN" altLang="en-US" sz="4500" dirty="0">
                <a:solidFill>
                  <a:schemeClr val="bg1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lang="en-US" altLang="zh-CN" sz="4500" dirty="0">
                <a:solidFill>
                  <a:schemeClr val="bg1"/>
                </a:solidFill>
                <a:latin typeface="Arial Hebrew" pitchFamily="2" charset="-79"/>
                <a:cs typeface="Arial Hebrew" pitchFamily="2" charset="-79"/>
              </a:rPr>
              <a:t>of</a:t>
            </a:r>
            <a:r>
              <a:rPr lang="zh-CN" altLang="en-US" sz="4500" dirty="0">
                <a:solidFill>
                  <a:schemeClr val="bg1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lang="en-US" altLang="zh-CN" sz="4500" dirty="0">
                <a:solidFill>
                  <a:schemeClr val="bg1"/>
                </a:solidFill>
                <a:latin typeface="Arial Hebrew" pitchFamily="2" charset="-79"/>
                <a:cs typeface="Arial Hebrew" pitchFamily="2" charset="-79"/>
              </a:rPr>
              <a:t>radial</a:t>
            </a:r>
            <a:r>
              <a:rPr lang="zh-CN" altLang="en-US" sz="4500" dirty="0">
                <a:solidFill>
                  <a:schemeClr val="bg1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lang="en-US" altLang="zh-CN" sz="4500" dirty="0">
                <a:solidFill>
                  <a:schemeClr val="bg1"/>
                </a:solidFill>
                <a:latin typeface="Arial Hebrew" pitchFamily="2" charset="-79"/>
                <a:cs typeface="Arial Hebrew" pitchFamily="2" charset="-79"/>
              </a:rPr>
              <a:t>velocity</a:t>
            </a:r>
            <a:r>
              <a:rPr lang="zh-CN" altLang="en-US" sz="4500" dirty="0">
                <a:solidFill>
                  <a:schemeClr val="bg1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lang="en-US" altLang="zh-CN" sz="4500" dirty="0">
                <a:solidFill>
                  <a:schemeClr val="bg1"/>
                </a:solidFill>
                <a:latin typeface="Arial Hebrew" pitchFamily="2" charset="-79"/>
                <a:cs typeface="Arial Hebrew" pitchFamily="2" charset="-79"/>
              </a:rPr>
              <a:t>measurements</a:t>
            </a:r>
            <a:r>
              <a:rPr lang="zh-CN" altLang="en-US" sz="4500" dirty="0">
                <a:solidFill>
                  <a:schemeClr val="bg1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lang="en-US" altLang="zh-CN" sz="4500" dirty="0">
                <a:solidFill>
                  <a:schemeClr val="bg1"/>
                </a:solidFill>
                <a:latin typeface="Arial Hebrew" pitchFamily="2" charset="-79"/>
                <a:cs typeface="Arial Hebrew" pitchFamily="2" charset="-79"/>
              </a:rPr>
              <a:t>via</a:t>
            </a:r>
            <a:r>
              <a:rPr lang="zh-CN" altLang="en-US" sz="4500" dirty="0">
                <a:solidFill>
                  <a:schemeClr val="bg1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lang="en-US" altLang="zh-CN" sz="4500" dirty="0">
                <a:solidFill>
                  <a:schemeClr val="bg1"/>
                </a:solidFill>
                <a:latin typeface="Arial Hebrew" pitchFamily="2" charset="-79"/>
                <a:cs typeface="Arial Hebrew" pitchFamily="2" charset="-79"/>
              </a:rPr>
              <a:t>monitoring</a:t>
            </a:r>
            <a:r>
              <a:rPr lang="zh-CN" altLang="en-US" sz="4500" dirty="0">
                <a:solidFill>
                  <a:schemeClr val="bg1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lang="en-US" altLang="zh-CN" sz="4500" dirty="0">
                <a:solidFill>
                  <a:schemeClr val="bg1"/>
                </a:solidFill>
                <a:latin typeface="Arial Hebrew" pitchFamily="2" charset="-79"/>
                <a:cs typeface="Arial Hebrew" pitchFamily="2" charset="-79"/>
              </a:rPr>
              <a:t>von</a:t>
            </a:r>
            <a:r>
              <a:rPr lang="zh-CN" altLang="en-US" sz="4500" dirty="0">
                <a:solidFill>
                  <a:schemeClr val="bg1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lang="en-US" altLang="zh-CN" sz="4500" dirty="0" err="1">
                <a:solidFill>
                  <a:schemeClr val="bg1"/>
                </a:solidFill>
                <a:latin typeface="Arial Hebrew" pitchFamily="2" charset="-79"/>
                <a:cs typeface="Arial Hebrew" pitchFamily="2" charset="-79"/>
              </a:rPr>
              <a:t>Zeipel-Lidov-Kozai</a:t>
            </a:r>
            <a:r>
              <a:rPr lang="zh-CN" altLang="en-US" sz="4500" dirty="0">
                <a:solidFill>
                  <a:schemeClr val="bg1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lang="en-US" altLang="zh-CN" sz="4500" dirty="0">
                <a:solidFill>
                  <a:schemeClr val="bg1"/>
                </a:solidFill>
                <a:latin typeface="Arial Hebrew" pitchFamily="2" charset="-79"/>
                <a:cs typeface="Arial Hebrew" pitchFamily="2" charset="-79"/>
              </a:rPr>
              <a:t>cycles:</a:t>
            </a:r>
            <a:r>
              <a:rPr lang="zh-CN" altLang="en-US" sz="4500" dirty="0">
                <a:solidFill>
                  <a:schemeClr val="bg1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lang="en-US" altLang="zh-CN" sz="4500" dirty="0">
                <a:solidFill>
                  <a:schemeClr val="bg1"/>
                </a:solidFill>
                <a:latin typeface="Arial Hebrew" pitchFamily="2" charset="-79"/>
                <a:cs typeface="Arial Hebrew" pitchFamily="2" charset="-79"/>
              </a:rPr>
              <a:t>implications</a:t>
            </a:r>
            <a:r>
              <a:rPr lang="zh-CN" altLang="en-US" sz="4500" dirty="0">
                <a:solidFill>
                  <a:schemeClr val="bg1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lang="en-US" altLang="zh-CN" sz="4500" dirty="0">
                <a:solidFill>
                  <a:schemeClr val="bg1"/>
                </a:solidFill>
                <a:latin typeface="Arial Hebrew" pitchFamily="2" charset="-79"/>
                <a:cs typeface="Arial Hebrew" pitchFamily="2" charset="-79"/>
              </a:rPr>
              <a:t>in</a:t>
            </a:r>
            <a:r>
              <a:rPr lang="zh-CN" altLang="en-US" sz="4500" dirty="0">
                <a:solidFill>
                  <a:schemeClr val="bg1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lang="en-US" altLang="zh-CN" sz="4500" dirty="0">
                <a:solidFill>
                  <a:schemeClr val="bg1"/>
                </a:solidFill>
                <a:latin typeface="Arial Hebrew" pitchFamily="2" charset="-79"/>
                <a:cs typeface="Arial Hebrew" pitchFamily="2" charset="-79"/>
              </a:rPr>
              <a:t>the</a:t>
            </a:r>
            <a:r>
              <a:rPr lang="zh-CN" altLang="en-US" sz="4500" dirty="0">
                <a:solidFill>
                  <a:schemeClr val="bg1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lang="en-US" altLang="zh-CN" sz="4500" dirty="0">
                <a:solidFill>
                  <a:schemeClr val="bg1"/>
                </a:solidFill>
                <a:latin typeface="Arial Hebrew" pitchFamily="2" charset="-79"/>
                <a:cs typeface="Arial Hebrew" pitchFamily="2" charset="-79"/>
              </a:rPr>
              <a:t>HD</a:t>
            </a:r>
            <a:r>
              <a:rPr lang="zh-CN" altLang="en-US" sz="4500" dirty="0">
                <a:solidFill>
                  <a:schemeClr val="bg1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lang="en-US" altLang="zh-CN" sz="4500" dirty="0">
                <a:solidFill>
                  <a:schemeClr val="bg1"/>
                </a:solidFill>
                <a:latin typeface="Arial Hebrew" pitchFamily="2" charset="-79"/>
                <a:cs typeface="Arial Hebrew" pitchFamily="2" charset="-79"/>
              </a:rPr>
              <a:t>41004</a:t>
            </a:r>
            <a:r>
              <a:rPr lang="zh-CN" altLang="en-US" sz="4500" dirty="0">
                <a:solidFill>
                  <a:schemeClr val="bg1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lang="en-US" altLang="zh-CN" sz="4500" dirty="0">
                <a:solidFill>
                  <a:schemeClr val="bg1"/>
                </a:solidFill>
                <a:latin typeface="Arial Hebrew" pitchFamily="2" charset="-79"/>
                <a:cs typeface="Arial Hebrew" pitchFamily="2" charset="-79"/>
              </a:rPr>
              <a:t>system</a:t>
            </a:r>
            <a:endParaRPr lang="en-CN" sz="4500" dirty="0">
              <a:solidFill>
                <a:schemeClr val="bg1"/>
              </a:solidFill>
              <a:latin typeface="Arial Hebrew" pitchFamily="2" charset="-79"/>
              <a:cs typeface="Arial Hebrew" pitchFamily="2" charset="-79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2C7E8E-5246-3DB3-2FEC-CEA08AD874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4480930"/>
            <a:ext cx="9144000" cy="1726707"/>
          </a:xfrm>
        </p:spPr>
        <p:txBody>
          <a:bodyPr>
            <a:normAutofit/>
          </a:bodyPr>
          <a:lstStyle/>
          <a:p>
            <a:r>
              <a:rPr lang="en-US" altLang="zh-CN" sz="3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Reporter:</a:t>
            </a:r>
            <a:r>
              <a:rPr lang="zh-CN" altLang="en-US" sz="3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30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Zhizhen</a:t>
            </a:r>
            <a:r>
              <a:rPr lang="zh-CN" altLang="en-US" sz="3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3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Qin</a:t>
            </a:r>
            <a:r>
              <a:rPr lang="zh-CN" altLang="en-US" sz="3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3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(MSc,</a:t>
            </a:r>
            <a:r>
              <a:rPr lang="zh-CN" altLang="en-US" sz="3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3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SYSU-&gt;</a:t>
            </a:r>
            <a:r>
              <a:rPr lang="zh-CN" altLang="en-US" sz="3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3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PhD,</a:t>
            </a:r>
            <a:r>
              <a:rPr lang="zh-CN" altLang="en-US" sz="3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3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HKU)</a:t>
            </a:r>
          </a:p>
          <a:p>
            <a:r>
              <a:rPr lang="en-US" altLang="zh-CN" sz="3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Supervisor:</a:t>
            </a:r>
            <a:r>
              <a:rPr lang="zh-CN" altLang="en-US" sz="3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3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Shang-Fei</a:t>
            </a:r>
            <a:r>
              <a:rPr lang="zh-CN" altLang="en-US" sz="3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3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Liu</a:t>
            </a:r>
            <a:r>
              <a:rPr lang="zh-CN" altLang="en-US" sz="3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3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(SYSU)</a:t>
            </a:r>
          </a:p>
          <a:p>
            <a:r>
              <a:rPr lang="en-US" altLang="zh-CN" sz="3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Tsinghua</a:t>
            </a:r>
            <a:r>
              <a:rPr lang="zh-CN" altLang="en-US" sz="3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3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University,</a:t>
            </a:r>
            <a:r>
              <a:rPr lang="zh-CN" altLang="en-US" sz="3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3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Department</a:t>
            </a:r>
            <a:r>
              <a:rPr lang="zh-CN" altLang="en-US" sz="3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3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zh-CN" altLang="en-US" sz="3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3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Astronomy,</a:t>
            </a:r>
            <a:r>
              <a:rPr lang="zh-CN" altLang="en-US" sz="3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3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2025.7.7</a:t>
            </a:r>
          </a:p>
        </p:txBody>
      </p:sp>
    </p:spTree>
    <p:extLst>
      <p:ext uri="{BB962C8B-B14F-4D97-AF65-F5344CB8AC3E}">
        <p14:creationId xmlns:p14="http://schemas.microsoft.com/office/powerpoint/2010/main" val="32176853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10EDA-C656-AAFB-86F2-1D6B4532F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en-CN" sz="6000" b="1" dirty="0">
                <a:solidFill>
                  <a:schemeClr val="bg1"/>
                </a:solidFill>
              </a:rPr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26C55-DE0C-3E8F-6BAC-CC51104804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3534"/>
            <a:ext cx="10515600" cy="5217511"/>
          </a:xfrm>
        </p:spPr>
        <p:txBody>
          <a:bodyPr>
            <a:noAutofit/>
          </a:bodyPr>
          <a:lstStyle/>
          <a:p>
            <a:r>
              <a:rPr lang="en-CN" sz="5000" dirty="0">
                <a:solidFill>
                  <a:schemeClr val="bg1"/>
                </a:solidFill>
              </a:rPr>
              <a:t>Backgro</a:t>
            </a:r>
            <a:r>
              <a:rPr lang="en-US" altLang="zh-CN" sz="5000" dirty="0">
                <a:solidFill>
                  <a:schemeClr val="bg1"/>
                </a:solidFill>
              </a:rPr>
              <a:t>und</a:t>
            </a:r>
          </a:p>
          <a:p>
            <a:pPr lvl="1"/>
            <a:r>
              <a:rPr lang="en-US" altLang="zh-CN" sz="5000" dirty="0">
                <a:solidFill>
                  <a:schemeClr val="bg1"/>
                </a:solidFill>
              </a:rPr>
              <a:t>The</a:t>
            </a:r>
            <a:r>
              <a:rPr lang="zh-CN" altLang="en-US" sz="5000" dirty="0">
                <a:solidFill>
                  <a:schemeClr val="bg1"/>
                </a:solidFill>
              </a:rPr>
              <a:t> </a:t>
            </a:r>
            <a:r>
              <a:rPr lang="en-US" altLang="zh-CN" sz="5000" dirty="0">
                <a:solidFill>
                  <a:schemeClr val="bg1"/>
                </a:solidFill>
              </a:rPr>
              <a:t>planets</a:t>
            </a:r>
            <a:r>
              <a:rPr lang="zh-CN" altLang="en-US" sz="5000" dirty="0">
                <a:solidFill>
                  <a:schemeClr val="bg1"/>
                </a:solidFill>
              </a:rPr>
              <a:t> </a:t>
            </a:r>
            <a:r>
              <a:rPr lang="en-US" altLang="zh-CN" sz="5000" dirty="0">
                <a:solidFill>
                  <a:schemeClr val="bg1"/>
                </a:solidFill>
              </a:rPr>
              <a:t>in</a:t>
            </a:r>
            <a:r>
              <a:rPr lang="zh-CN" altLang="en-US" sz="5000" dirty="0">
                <a:solidFill>
                  <a:schemeClr val="bg1"/>
                </a:solidFill>
              </a:rPr>
              <a:t> </a:t>
            </a:r>
            <a:r>
              <a:rPr lang="en-US" altLang="zh-CN" sz="5000" dirty="0">
                <a:solidFill>
                  <a:schemeClr val="bg1"/>
                </a:solidFill>
              </a:rPr>
              <a:t>the</a:t>
            </a:r>
            <a:r>
              <a:rPr lang="zh-CN" altLang="en-US" sz="5000" dirty="0">
                <a:solidFill>
                  <a:schemeClr val="bg1"/>
                </a:solidFill>
              </a:rPr>
              <a:t> </a:t>
            </a:r>
            <a:r>
              <a:rPr lang="en-US" altLang="zh-CN" sz="5000" dirty="0">
                <a:solidFill>
                  <a:schemeClr val="bg1"/>
                </a:solidFill>
              </a:rPr>
              <a:t>binary</a:t>
            </a:r>
            <a:r>
              <a:rPr lang="zh-CN" altLang="en-US" sz="5000" dirty="0">
                <a:solidFill>
                  <a:schemeClr val="bg1"/>
                </a:solidFill>
              </a:rPr>
              <a:t> </a:t>
            </a:r>
            <a:r>
              <a:rPr lang="en-US" altLang="zh-CN" sz="5000" dirty="0">
                <a:solidFill>
                  <a:schemeClr val="bg1"/>
                </a:solidFill>
              </a:rPr>
              <a:t>systems</a:t>
            </a:r>
          </a:p>
          <a:p>
            <a:pPr lvl="1"/>
            <a:r>
              <a:rPr lang="en-US" altLang="zh-CN" sz="5000" dirty="0">
                <a:solidFill>
                  <a:schemeClr val="bg1"/>
                </a:solidFill>
              </a:rPr>
              <a:t>Von</a:t>
            </a:r>
            <a:r>
              <a:rPr lang="zh-CN" altLang="en-US" sz="5000" dirty="0">
                <a:solidFill>
                  <a:schemeClr val="bg1"/>
                </a:solidFill>
              </a:rPr>
              <a:t> </a:t>
            </a:r>
            <a:r>
              <a:rPr lang="en-US" altLang="zh-CN" sz="5000" dirty="0" err="1">
                <a:solidFill>
                  <a:schemeClr val="bg1"/>
                </a:solidFill>
              </a:rPr>
              <a:t>Zeipel-Lidov-Kozai</a:t>
            </a:r>
            <a:r>
              <a:rPr lang="zh-CN" altLang="en-US" sz="5000" dirty="0">
                <a:solidFill>
                  <a:schemeClr val="bg1"/>
                </a:solidFill>
              </a:rPr>
              <a:t> </a:t>
            </a:r>
            <a:r>
              <a:rPr lang="en-US" altLang="zh-CN" sz="5000" dirty="0">
                <a:solidFill>
                  <a:schemeClr val="bg1"/>
                </a:solidFill>
              </a:rPr>
              <a:t>Mechanism</a:t>
            </a:r>
            <a:endParaRPr lang="en-CN" altLang="zh-CN" sz="5000" dirty="0">
              <a:solidFill>
                <a:schemeClr val="bg1"/>
              </a:solidFill>
            </a:endParaRPr>
          </a:p>
          <a:p>
            <a:r>
              <a:rPr lang="en-US" altLang="zh-CN" sz="5000" dirty="0">
                <a:solidFill>
                  <a:schemeClr val="bg1"/>
                </a:solidFill>
              </a:rPr>
              <a:t>Implications</a:t>
            </a:r>
            <a:r>
              <a:rPr lang="zh-CN" altLang="en-US" sz="5000" dirty="0">
                <a:solidFill>
                  <a:schemeClr val="bg1"/>
                </a:solidFill>
              </a:rPr>
              <a:t> </a:t>
            </a:r>
            <a:r>
              <a:rPr lang="en-US" altLang="zh-CN" sz="5000" dirty="0">
                <a:solidFill>
                  <a:schemeClr val="bg1"/>
                </a:solidFill>
              </a:rPr>
              <a:t>in</a:t>
            </a:r>
            <a:r>
              <a:rPr lang="zh-CN" altLang="en-US" sz="5000" dirty="0">
                <a:solidFill>
                  <a:schemeClr val="bg1"/>
                </a:solidFill>
              </a:rPr>
              <a:t> </a:t>
            </a:r>
            <a:r>
              <a:rPr lang="en-US" altLang="zh-CN" sz="5000" dirty="0">
                <a:solidFill>
                  <a:schemeClr val="bg1"/>
                </a:solidFill>
              </a:rPr>
              <a:t>the</a:t>
            </a:r>
            <a:r>
              <a:rPr lang="zh-CN" altLang="en-US" sz="5000" dirty="0">
                <a:solidFill>
                  <a:schemeClr val="bg1"/>
                </a:solidFill>
              </a:rPr>
              <a:t> </a:t>
            </a:r>
            <a:r>
              <a:rPr lang="en-US" altLang="zh-CN" sz="5000" dirty="0">
                <a:solidFill>
                  <a:schemeClr val="bg1"/>
                </a:solidFill>
              </a:rPr>
              <a:t>HD</a:t>
            </a:r>
            <a:r>
              <a:rPr lang="zh-CN" altLang="en-US" sz="5000" dirty="0">
                <a:solidFill>
                  <a:schemeClr val="bg1"/>
                </a:solidFill>
              </a:rPr>
              <a:t> </a:t>
            </a:r>
            <a:r>
              <a:rPr lang="en-US" altLang="zh-CN" sz="5000" dirty="0">
                <a:solidFill>
                  <a:schemeClr val="bg1"/>
                </a:solidFill>
              </a:rPr>
              <a:t>41004</a:t>
            </a:r>
            <a:r>
              <a:rPr lang="zh-CN" altLang="en-US" sz="5000" dirty="0">
                <a:solidFill>
                  <a:schemeClr val="bg1"/>
                </a:solidFill>
              </a:rPr>
              <a:t> </a:t>
            </a:r>
            <a:r>
              <a:rPr lang="en-US" altLang="zh-CN" sz="5000" dirty="0">
                <a:solidFill>
                  <a:schemeClr val="bg1"/>
                </a:solidFill>
              </a:rPr>
              <a:t>system</a:t>
            </a:r>
          </a:p>
          <a:p>
            <a:pPr lvl="1"/>
            <a:r>
              <a:rPr lang="en-US" altLang="zh-CN" sz="5000" dirty="0">
                <a:solidFill>
                  <a:schemeClr val="bg1"/>
                </a:solidFill>
              </a:rPr>
              <a:t>Simulations</a:t>
            </a:r>
          </a:p>
          <a:p>
            <a:pPr lvl="1"/>
            <a:r>
              <a:rPr lang="en-US" altLang="zh-CN" sz="5000" dirty="0">
                <a:solidFill>
                  <a:schemeClr val="bg1"/>
                </a:solidFill>
              </a:rPr>
              <a:t>Results</a:t>
            </a:r>
          </a:p>
          <a:p>
            <a:r>
              <a:rPr lang="en-US" altLang="zh-CN" sz="5000" dirty="0">
                <a:solidFill>
                  <a:schemeClr val="bg1"/>
                </a:solidFill>
              </a:rPr>
              <a:t>Conclusions</a:t>
            </a:r>
          </a:p>
        </p:txBody>
      </p:sp>
    </p:spTree>
    <p:extLst>
      <p:ext uri="{BB962C8B-B14F-4D97-AF65-F5344CB8AC3E}">
        <p14:creationId xmlns:p14="http://schemas.microsoft.com/office/powerpoint/2010/main" val="29539743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60B5C-104F-B82D-80D1-87C40FD95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E197E-DEE4-440D-46D9-CD3CBFC3B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chemeClr val="bg1"/>
                </a:solidFill>
              </a:rPr>
              <a:t>The</a:t>
            </a:r>
            <a:r>
              <a:rPr lang="zh-CN" altLang="en-US" b="1" dirty="0">
                <a:solidFill>
                  <a:schemeClr val="bg1"/>
                </a:solidFill>
              </a:rPr>
              <a:t> </a:t>
            </a:r>
            <a:r>
              <a:rPr lang="en-US" altLang="zh-CN" b="1" dirty="0">
                <a:solidFill>
                  <a:schemeClr val="bg1"/>
                </a:solidFill>
              </a:rPr>
              <a:t>planets</a:t>
            </a:r>
            <a:r>
              <a:rPr lang="zh-CN" altLang="en-US" b="1" dirty="0">
                <a:solidFill>
                  <a:schemeClr val="bg1"/>
                </a:solidFill>
              </a:rPr>
              <a:t> </a:t>
            </a:r>
            <a:r>
              <a:rPr lang="en-US" altLang="zh-CN" b="1" dirty="0">
                <a:solidFill>
                  <a:schemeClr val="bg1"/>
                </a:solidFill>
              </a:rPr>
              <a:t>in</a:t>
            </a:r>
            <a:r>
              <a:rPr lang="zh-CN" altLang="en-US" b="1" dirty="0">
                <a:solidFill>
                  <a:schemeClr val="bg1"/>
                </a:solidFill>
              </a:rPr>
              <a:t> </a:t>
            </a:r>
            <a:r>
              <a:rPr lang="en-US" altLang="zh-CN" b="1" dirty="0">
                <a:solidFill>
                  <a:schemeClr val="bg1"/>
                </a:solidFill>
              </a:rPr>
              <a:t>the</a:t>
            </a:r>
            <a:r>
              <a:rPr lang="zh-CN" altLang="en-US" b="1" dirty="0">
                <a:solidFill>
                  <a:schemeClr val="bg1"/>
                </a:solidFill>
              </a:rPr>
              <a:t> </a:t>
            </a:r>
            <a:r>
              <a:rPr lang="en-US" altLang="zh-CN" b="1" dirty="0">
                <a:solidFill>
                  <a:schemeClr val="bg1"/>
                </a:solidFill>
              </a:rPr>
              <a:t>binary</a:t>
            </a:r>
            <a:r>
              <a:rPr lang="zh-CN" altLang="en-US" b="1" dirty="0">
                <a:solidFill>
                  <a:schemeClr val="bg1"/>
                </a:solidFill>
              </a:rPr>
              <a:t> </a:t>
            </a:r>
            <a:r>
              <a:rPr lang="en-US" altLang="zh-CN" b="1" dirty="0">
                <a:solidFill>
                  <a:schemeClr val="bg1"/>
                </a:solidFill>
              </a:rPr>
              <a:t>systems</a:t>
            </a:r>
            <a:endParaRPr lang="en-CN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C9247-E94B-DF67-CA94-E451D3B0F7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3202"/>
            <a:ext cx="10515600" cy="5143587"/>
          </a:xfrm>
        </p:spPr>
        <p:txBody>
          <a:bodyPr>
            <a:noAutofit/>
          </a:bodyPr>
          <a:lstStyle/>
          <a:p>
            <a:r>
              <a:rPr lang="en-US" altLang="zh-CN" sz="2500" dirty="0">
                <a:solidFill>
                  <a:schemeClr val="bg1"/>
                </a:solidFill>
              </a:rPr>
              <a:t>Binary</a:t>
            </a:r>
            <a:r>
              <a:rPr lang="zh-CN" altLang="en-US" sz="2500" dirty="0">
                <a:solidFill>
                  <a:schemeClr val="bg1"/>
                </a:solidFill>
              </a:rPr>
              <a:t> </a:t>
            </a:r>
            <a:r>
              <a:rPr lang="en-US" altLang="zh-CN" sz="2500" dirty="0">
                <a:solidFill>
                  <a:schemeClr val="bg1"/>
                </a:solidFill>
              </a:rPr>
              <a:t>or</a:t>
            </a:r>
            <a:r>
              <a:rPr lang="zh-CN" altLang="en-US" sz="2500" dirty="0">
                <a:solidFill>
                  <a:schemeClr val="bg1"/>
                </a:solidFill>
              </a:rPr>
              <a:t> </a:t>
            </a:r>
            <a:r>
              <a:rPr lang="en-US" altLang="zh-CN" sz="2500" dirty="0">
                <a:solidFill>
                  <a:schemeClr val="bg1"/>
                </a:solidFill>
              </a:rPr>
              <a:t>multiple</a:t>
            </a:r>
            <a:r>
              <a:rPr lang="zh-CN" altLang="en-US" sz="2500" dirty="0">
                <a:solidFill>
                  <a:schemeClr val="bg1"/>
                </a:solidFill>
              </a:rPr>
              <a:t> </a:t>
            </a:r>
            <a:r>
              <a:rPr lang="en-US" altLang="zh-CN" sz="2500" dirty="0">
                <a:solidFill>
                  <a:schemeClr val="bg1"/>
                </a:solidFill>
              </a:rPr>
              <a:t>star</a:t>
            </a:r>
            <a:r>
              <a:rPr lang="zh-CN" altLang="en-US" sz="2500" dirty="0">
                <a:solidFill>
                  <a:schemeClr val="bg1"/>
                </a:solidFill>
              </a:rPr>
              <a:t> </a:t>
            </a:r>
            <a:r>
              <a:rPr lang="en-US" altLang="zh-CN" sz="2500" dirty="0">
                <a:solidFill>
                  <a:schemeClr val="bg1"/>
                </a:solidFill>
              </a:rPr>
              <a:t>systems</a:t>
            </a:r>
            <a:r>
              <a:rPr lang="zh-CN" altLang="en-US" sz="2500" dirty="0">
                <a:solidFill>
                  <a:schemeClr val="bg1"/>
                </a:solidFill>
              </a:rPr>
              <a:t> </a:t>
            </a:r>
            <a:r>
              <a:rPr lang="en-US" altLang="zh-CN" sz="2500" dirty="0">
                <a:solidFill>
                  <a:schemeClr val="bg1"/>
                </a:solidFill>
              </a:rPr>
              <a:t>are</a:t>
            </a:r>
            <a:r>
              <a:rPr lang="zh-CN" altLang="en-US" sz="2500" dirty="0">
                <a:solidFill>
                  <a:schemeClr val="bg1"/>
                </a:solidFill>
              </a:rPr>
              <a:t> </a:t>
            </a:r>
            <a:r>
              <a:rPr lang="en-US" altLang="zh-CN" sz="2500" dirty="0">
                <a:solidFill>
                  <a:schemeClr val="bg1"/>
                </a:solidFill>
              </a:rPr>
              <a:t>common</a:t>
            </a:r>
            <a:r>
              <a:rPr lang="zh-CN" altLang="en-US" sz="2500" dirty="0">
                <a:solidFill>
                  <a:schemeClr val="bg1"/>
                </a:solidFill>
              </a:rPr>
              <a:t> </a:t>
            </a:r>
            <a:r>
              <a:rPr lang="en-US" altLang="zh-CN" sz="2500" dirty="0">
                <a:solidFill>
                  <a:schemeClr val="bg1"/>
                </a:solidFill>
              </a:rPr>
              <a:t>in</a:t>
            </a:r>
            <a:r>
              <a:rPr lang="zh-CN" altLang="en-US" sz="2500" dirty="0">
                <a:solidFill>
                  <a:schemeClr val="bg1"/>
                </a:solidFill>
              </a:rPr>
              <a:t> </a:t>
            </a:r>
            <a:r>
              <a:rPr lang="en-US" altLang="zh-CN" sz="2500" dirty="0">
                <a:solidFill>
                  <a:schemeClr val="bg1"/>
                </a:solidFill>
              </a:rPr>
              <a:t>universe</a:t>
            </a:r>
            <a:r>
              <a:rPr lang="zh-CN" altLang="en-US" sz="2500" dirty="0">
                <a:solidFill>
                  <a:schemeClr val="bg1"/>
                </a:solidFill>
              </a:rPr>
              <a:t> </a:t>
            </a:r>
            <a:r>
              <a:rPr lang="en-US" altLang="zh-CN" sz="2500" dirty="0">
                <a:solidFill>
                  <a:schemeClr val="bg1"/>
                </a:solidFill>
              </a:rPr>
              <a:t>–</a:t>
            </a:r>
            <a:r>
              <a:rPr lang="zh-CN" altLang="en-US" sz="2500" dirty="0">
                <a:solidFill>
                  <a:schemeClr val="bg1"/>
                </a:solidFill>
              </a:rPr>
              <a:t> </a:t>
            </a:r>
            <a:r>
              <a:rPr lang="en-US" altLang="zh-CN" sz="2500" dirty="0">
                <a:solidFill>
                  <a:schemeClr val="bg1"/>
                </a:solidFill>
              </a:rPr>
              <a:t>a</a:t>
            </a:r>
            <a:r>
              <a:rPr lang="zh-CN" altLang="en-US" sz="2500" dirty="0">
                <a:solidFill>
                  <a:schemeClr val="bg1"/>
                </a:solidFill>
              </a:rPr>
              <a:t> </a:t>
            </a:r>
            <a:r>
              <a:rPr lang="en-US" altLang="zh-CN" sz="2500" dirty="0">
                <a:solidFill>
                  <a:schemeClr val="bg1"/>
                </a:solidFill>
              </a:rPr>
              <a:t>small</a:t>
            </a:r>
            <a:r>
              <a:rPr lang="zh-CN" altLang="en-US" sz="2500" dirty="0">
                <a:solidFill>
                  <a:schemeClr val="bg1"/>
                </a:solidFill>
              </a:rPr>
              <a:t> </a:t>
            </a:r>
            <a:r>
              <a:rPr lang="en-US" altLang="zh-CN" sz="2500" dirty="0">
                <a:solidFill>
                  <a:schemeClr val="bg1"/>
                </a:solidFill>
              </a:rPr>
              <a:t>number</a:t>
            </a:r>
            <a:r>
              <a:rPr lang="zh-CN" altLang="en-US" sz="2500" dirty="0">
                <a:solidFill>
                  <a:schemeClr val="bg1"/>
                </a:solidFill>
              </a:rPr>
              <a:t> </a:t>
            </a:r>
            <a:r>
              <a:rPr lang="en-US" altLang="zh-CN" sz="2500" dirty="0">
                <a:solidFill>
                  <a:schemeClr val="bg1"/>
                </a:solidFill>
              </a:rPr>
              <a:t>of</a:t>
            </a:r>
            <a:r>
              <a:rPr lang="zh-CN" altLang="en-US" sz="2500" dirty="0">
                <a:solidFill>
                  <a:schemeClr val="bg1"/>
                </a:solidFill>
              </a:rPr>
              <a:t> </a:t>
            </a:r>
            <a:r>
              <a:rPr lang="en-US" altLang="zh-CN" sz="2500" dirty="0">
                <a:solidFill>
                  <a:schemeClr val="bg1"/>
                </a:solidFill>
              </a:rPr>
              <a:t>planets</a:t>
            </a:r>
            <a:r>
              <a:rPr lang="zh-CN" altLang="en-US" sz="2500" dirty="0">
                <a:solidFill>
                  <a:schemeClr val="bg1"/>
                </a:solidFill>
              </a:rPr>
              <a:t> </a:t>
            </a:r>
            <a:r>
              <a:rPr lang="en-US" altLang="zh-CN" sz="2500" dirty="0">
                <a:solidFill>
                  <a:schemeClr val="bg1"/>
                </a:solidFill>
              </a:rPr>
              <a:t>in</a:t>
            </a:r>
            <a:r>
              <a:rPr lang="zh-CN" altLang="en-US" sz="2500" dirty="0">
                <a:solidFill>
                  <a:schemeClr val="bg1"/>
                </a:solidFill>
              </a:rPr>
              <a:t> </a:t>
            </a:r>
            <a:r>
              <a:rPr lang="en-US" altLang="zh-CN" sz="2500" dirty="0">
                <a:solidFill>
                  <a:schemeClr val="bg1"/>
                </a:solidFill>
              </a:rPr>
              <a:t>such</a:t>
            </a:r>
            <a:r>
              <a:rPr lang="zh-CN" altLang="en-US" sz="2500" dirty="0">
                <a:solidFill>
                  <a:schemeClr val="bg1"/>
                </a:solidFill>
              </a:rPr>
              <a:t> </a:t>
            </a:r>
            <a:r>
              <a:rPr lang="en-US" altLang="zh-CN" sz="2500" dirty="0">
                <a:solidFill>
                  <a:schemeClr val="bg1"/>
                </a:solidFill>
              </a:rPr>
              <a:t>systems</a:t>
            </a:r>
            <a:r>
              <a:rPr lang="zh-CN" altLang="en-US" sz="2500" dirty="0">
                <a:solidFill>
                  <a:schemeClr val="bg1"/>
                </a:solidFill>
              </a:rPr>
              <a:t> </a:t>
            </a:r>
            <a:r>
              <a:rPr lang="en-US" altLang="zh-CN" sz="2500" dirty="0">
                <a:solidFill>
                  <a:schemeClr val="bg1"/>
                </a:solidFill>
              </a:rPr>
              <a:t>are</a:t>
            </a:r>
            <a:r>
              <a:rPr lang="zh-CN" altLang="en-US" sz="2500" dirty="0">
                <a:solidFill>
                  <a:schemeClr val="bg1"/>
                </a:solidFill>
              </a:rPr>
              <a:t> </a:t>
            </a:r>
            <a:r>
              <a:rPr lang="en-US" altLang="zh-CN" sz="2500" dirty="0">
                <a:solidFill>
                  <a:schemeClr val="bg1"/>
                </a:solidFill>
              </a:rPr>
              <a:t>discovered.</a:t>
            </a:r>
          </a:p>
          <a:p>
            <a:endParaRPr lang="en-US" sz="2500" dirty="0">
              <a:solidFill>
                <a:schemeClr val="bg1"/>
              </a:solidFill>
            </a:endParaRPr>
          </a:p>
          <a:p>
            <a:endParaRPr lang="en-US" sz="2500" dirty="0">
              <a:solidFill>
                <a:schemeClr val="bg1"/>
              </a:solidFill>
            </a:endParaRPr>
          </a:p>
          <a:p>
            <a:endParaRPr lang="en-US" sz="2500" dirty="0">
              <a:solidFill>
                <a:schemeClr val="bg1"/>
              </a:solidFill>
            </a:endParaRPr>
          </a:p>
          <a:p>
            <a:endParaRPr lang="en-US" sz="2500" dirty="0">
              <a:solidFill>
                <a:schemeClr val="bg1"/>
              </a:solidFill>
            </a:endParaRPr>
          </a:p>
          <a:p>
            <a:endParaRPr lang="en-US" sz="2500" dirty="0">
              <a:solidFill>
                <a:schemeClr val="bg1"/>
              </a:solidFill>
            </a:endParaRPr>
          </a:p>
          <a:p>
            <a:endParaRPr lang="en-US" sz="2500" dirty="0">
              <a:solidFill>
                <a:schemeClr val="bg1"/>
              </a:solidFill>
            </a:endParaRPr>
          </a:p>
          <a:p>
            <a:r>
              <a:rPr lang="en-US" altLang="zh-CN" sz="2500" dirty="0">
                <a:solidFill>
                  <a:schemeClr val="bg1"/>
                </a:solidFill>
              </a:rPr>
              <a:t>The</a:t>
            </a:r>
            <a:r>
              <a:rPr lang="zh-CN" altLang="en-US" sz="2500" dirty="0">
                <a:solidFill>
                  <a:schemeClr val="bg1"/>
                </a:solidFill>
              </a:rPr>
              <a:t> </a:t>
            </a:r>
            <a:r>
              <a:rPr lang="en-US" altLang="zh-CN" sz="2500" dirty="0">
                <a:solidFill>
                  <a:schemeClr val="bg1"/>
                </a:solidFill>
              </a:rPr>
              <a:t>complex</a:t>
            </a:r>
            <a:r>
              <a:rPr lang="zh-CN" altLang="en-US" sz="2500" dirty="0">
                <a:solidFill>
                  <a:schemeClr val="bg1"/>
                </a:solidFill>
              </a:rPr>
              <a:t> </a:t>
            </a:r>
            <a:r>
              <a:rPr lang="en-US" altLang="zh-CN" sz="2500" dirty="0">
                <a:solidFill>
                  <a:schemeClr val="bg1"/>
                </a:solidFill>
              </a:rPr>
              <a:t>dynamical</a:t>
            </a:r>
            <a:r>
              <a:rPr lang="zh-CN" altLang="en-US" sz="2500" dirty="0">
                <a:solidFill>
                  <a:schemeClr val="bg1"/>
                </a:solidFill>
              </a:rPr>
              <a:t> </a:t>
            </a:r>
            <a:r>
              <a:rPr lang="en-US" altLang="zh-CN" sz="2500" dirty="0">
                <a:solidFill>
                  <a:schemeClr val="bg1"/>
                </a:solidFill>
              </a:rPr>
              <a:t>environment</a:t>
            </a:r>
            <a:r>
              <a:rPr lang="zh-CN" altLang="en-US" sz="2500" dirty="0">
                <a:solidFill>
                  <a:schemeClr val="bg1"/>
                </a:solidFill>
              </a:rPr>
              <a:t> </a:t>
            </a:r>
            <a:r>
              <a:rPr lang="en-US" altLang="zh-CN" sz="2500" dirty="0">
                <a:solidFill>
                  <a:schemeClr val="bg1"/>
                </a:solidFill>
              </a:rPr>
              <a:t>motivate</a:t>
            </a:r>
            <a:r>
              <a:rPr lang="zh-CN" altLang="en-US" sz="2500" dirty="0">
                <a:solidFill>
                  <a:schemeClr val="bg1"/>
                </a:solidFill>
              </a:rPr>
              <a:t> </a:t>
            </a:r>
            <a:r>
              <a:rPr lang="en-US" altLang="zh-CN" sz="2500" dirty="0">
                <a:solidFill>
                  <a:schemeClr val="bg1"/>
                </a:solidFill>
              </a:rPr>
              <a:t>astronomers</a:t>
            </a:r>
            <a:r>
              <a:rPr lang="zh-CN" altLang="en-US" sz="2500" dirty="0">
                <a:solidFill>
                  <a:schemeClr val="bg1"/>
                </a:solidFill>
              </a:rPr>
              <a:t> </a:t>
            </a:r>
            <a:r>
              <a:rPr lang="en-US" altLang="zh-CN" sz="2500" dirty="0">
                <a:solidFill>
                  <a:schemeClr val="bg1"/>
                </a:solidFill>
              </a:rPr>
              <a:t>to</a:t>
            </a:r>
            <a:r>
              <a:rPr lang="zh-CN" altLang="en-US" sz="2500" dirty="0">
                <a:solidFill>
                  <a:schemeClr val="bg1"/>
                </a:solidFill>
              </a:rPr>
              <a:t> </a:t>
            </a:r>
            <a:r>
              <a:rPr lang="en-US" altLang="zh-CN" sz="2500" dirty="0">
                <a:solidFill>
                  <a:schemeClr val="bg1"/>
                </a:solidFill>
              </a:rPr>
              <a:t>discuss</a:t>
            </a:r>
            <a:r>
              <a:rPr lang="zh-CN" altLang="en-US" sz="2500" dirty="0">
                <a:solidFill>
                  <a:schemeClr val="bg1"/>
                </a:solidFill>
              </a:rPr>
              <a:t> </a:t>
            </a:r>
            <a:r>
              <a:rPr lang="en-US" altLang="zh-CN" sz="2500" dirty="0">
                <a:solidFill>
                  <a:schemeClr val="bg1"/>
                </a:solidFill>
              </a:rPr>
              <a:t>the</a:t>
            </a:r>
            <a:r>
              <a:rPr lang="zh-CN" altLang="en-US" sz="2500" dirty="0">
                <a:solidFill>
                  <a:schemeClr val="bg1"/>
                </a:solidFill>
              </a:rPr>
              <a:t> </a:t>
            </a:r>
            <a:r>
              <a:rPr lang="en-US" altLang="zh-CN" sz="2500" dirty="0">
                <a:solidFill>
                  <a:schemeClr val="bg1"/>
                </a:solidFill>
              </a:rPr>
              <a:t>stability</a:t>
            </a:r>
            <a:r>
              <a:rPr lang="zh-CN" altLang="en-US" sz="2500" dirty="0">
                <a:solidFill>
                  <a:schemeClr val="bg1"/>
                </a:solidFill>
              </a:rPr>
              <a:t> </a:t>
            </a:r>
            <a:r>
              <a:rPr lang="en-US" altLang="zh-CN" sz="2500" dirty="0">
                <a:solidFill>
                  <a:schemeClr val="bg1"/>
                </a:solidFill>
              </a:rPr>
              <a:t>and</a:t>
            </a:r>
            <a:r>
              <a:rPr lang="zh-CN" altLang="en-US" sz="2500" dirty="0">
                <a:solidFill>
                  <a:schemeClr val="bg1"/>
                </a:solidFill>
              </a:rPr>
              <a:t> </a:t>
            </a:r>
            <a:r>
              <a:rPr lang="en-US" altLang="zh-CN" sz="2500" dirty="0">
                <a:solidFill>
                  <a:schemeClr val="bg1"/>
                </a:solidFill>
              </a:rPr>
              <a:t>evolution</a:t>
            </a:r>
            <a:r>
              <a:rPr lang="zh-CN" altLang="en-US" sz="2500" dirty="0">
                <a:solidFill>
                  <a:schemeClr val="bg1"/>
                </a:solidFill>
              </a:rPr>
              <a:t> </a:t>
            </a:r>
            <a:r>
              <a:rPr lang="en-US" altLang="zh-CN" sz="2500" dirty="0">
                <a:solidFill>
                  <a:schemeClr val="bg1"/>
                </a:solidFill>
              </a:rPr>
              <a:t>in</a:t>
            </a:r>
            <a:r>
              <a:rPr lang="zh-CN" altLang="en-US" sz="2500" dirty="0">
                <a:solidFill>
                  <a:schemeClr val="bg1"/>
                </a:solidFill>
              </a:rPr>
              <a:t> </a:t>
            </a:r>
            <a:r>
              <a:rPr lang="en-US" altLang="zh-CN" sz="2500" dirty="0">
                <a:solidFill>
                  <a:schemeClr val="bg1"/>
                </a:solidFill>
              </a:rPr>
              <a:t>such</a:t>
            </a:r>
            <a:r>
              <a:rPr lang="zh-CN" altLang="en-US" sz="2500" dirty="0">
                <a:solidFill>
                  <a:schemeClr val="bg1"/>
                </a:solidFill>
              </a:rPr>
              <a:t> </a:t>
            </a:r>
            <a:r>
              <a:rPr lang="en-US" altLang="zh-CN" sz="2500" dirty="0">
                <a:solidFill>
                  <a:schemeClr val="bg1"/>
                </a:solidFill>
              </a:rPr>
              <a:t>systems</a:t>
            </a:r>
            <a:r>
              <a:rPr lang="zh-CN" altLang="en-US" sz="2500" dirty="0">
                <a:solidFill>
                  <a:schemeClr val="bg1"/>
                </a:solidFill>
              </a:rPr>
              <a:t> </a:t>
            </a:r>
            <a:r>
              <a:rPr lang="en-US" altLang="zh-CN" sz="2500" dirty="0">
                <a:solidFill>
                  <a:schemeClr val="bg1"/>
                </a:solidFill>
              </a:rPr>
              <a:t>.</a:t>
            </a:r>
          </a:p>
          <a:p>
            <a:r>
              <a:rPr lang="en-US" altLang="zh-CN" sz="2500" dirty="0">
                <a:solidFill>
                  <a:schemeClr val="bg1"/>
                </a:solidFill>
              </a:rPr>
              <a:t>Most</a:t>
            </a:r>
            <a:r>
              <a:rPr lang="zh-CN" altLang="en-US" sz="2500" dirty="0">
                <a:solidFill>
                  <a:schemeClr val="bg1"/>
                </a:solidFill>
              </a:rPr>
              <a:t> </a:t>
            </a:r>
            <a:r>
              <a:rPr lang="en-US" altLang="zh-CN" sz="2500" dirty="0">
                <a:solidFill>
                  <a:schemeClr val="bg1"/>
                </a:solidFill>
              </a:rPr>
              <a:t>planets</a:t>
            </a:r>
            <a:r>
              <a:rPr lang="zh-CN" altLang="en-US" sz="2500" dirty="0">
                <a:solidFill>
                  <a:schemeClr val="bg1"/>
                </a:solidFill>
              </a:rPr>
              <a:t> </a:t>
            </a:r>
            <a:r>
              <a:rPr lang="en-US" altLang="zh-CN" sz="2500" dirty="0">
                <a:solidFill>
                  <a:schemeClr val="bg1"/>
                </a:solidFill>
              </a:rPr>
              <a:t>are</a:t>
            </a:r>
            <a:r>
              <a:rPr lang="zh-CN" altLang="en-US" sz="2500" dirty="0">
                <a:solidFill>
                  <a:schemeClr val="bg1"/>
                </a:solidFill>
              </a:rPr>
              <a:t> </a:t>
            </a:r>
            <a:r>
              <a:rPr lang="en-US" altLang="zh-CN" sz="2500" dirty="0">
                <a:solidFill>
                  <a:schemeClr val="bg1"/>
                </a:solidFill>
              </a:rPr>
              <a:t>S-type,</a:t>
            </a:r>
            <a:r>
              <a:rPr lang="zh-CN" altLang="en-US" sz="2500" dirty="0">
                <a:solidFill>
                  <a:schemeClr val="bg1"/>
                </a:solidFill>
              </a:rPr>
              <a:t> </a:t>
            </a:r>
            <a:r>
              <a:rPr lang="en-US" altLang="zh-CN" sz="2500" dirty="0">
                <a:solidFill>
                  <a:schemeClr val="bg1"/>
                </a:solidFill>
              </a:rPr>
              <a:t>and</a:t>
            </a:r>
            <a:r>
              <a:rPr lang="zh-CN" altLang="en-US" sz="2500" dirty="0">
                <a:solidFill>
                  <a:schemeClr val="bg1"/>
                </a:solidFill>
              </a:rPr>
              <a:t> </a:t>
            </a:r>
            <a:r>
              <a:rPr lang="en-US" altLang="zh-CN" sz="2500" dirty="0">
                <a:solidFill>
                  <a:schemeClr val="bg1"/>
                </a:solidFill>
              </a:rPr>
              <a:t>discovered</a:t>
            </a:r>
            <a:r>
              <a:rPr lang="zh-CN" altLang="en-US" sz="2500" dirty="0">
                <a:solidFill>
                  <a:schemeClr val="bg1"/>
                </a:solidFill>
              </a:rPr>
              <a:t> </a:t>
            </a:r>
            <a:r>
              <a:rPr lang="en-US" altLang="zh-CN" sz="2500" dirty="0">
                <a:solidFill>
                  <a:schemeClr val="bg1"/>
                </a:solidFill>
              </a:rPr>
              <a:t>by</a:t>
            </a:r>
            <a:r>
              <a:rPr lang="zh-CN" altLang="en-US" sz="2500" dirty="0">
                <a:solidFill>
                  <a:schemeClr val="bg1"/>
                </a:solidFill>
              </a:rPr>
              <a:t> </a:t>
            </a:r>
            <a:r>
              <a:rPr lang="en-US" altLang="zh-CN" sz="2500" dirty="0">
                <a:solidFill>
                  <a:schemeClr val="bg1"/>
                </a:solidFill>
              </a:rPr>
              <a:t>radial</a:t>
            </a:r>
            <a:r>
              <a:rPr lang="zh-CN" altLang="en-US" sz="2500" dirty="0">
                <a:solidFill>
                  <a:schemeClr val="bg1"/>
                </a:solidFill>
              </a:rPr>
              <a:t> </a:t>
            </a:r>
            <a:r>
              <a:rPr lang="en-US" altLang="zh-CN" sz="2500" dirty="0">
                <a:solidFill>
                  <a:schemeClr val="bg1"/>
                </a:solidFill>
              </a:rPr>
              <a:t>velocity</a:t>
            </a:r>
            <a:r>
              <a:rPr lang="zh-CN" altLang="en-US" sz="2500" dirty="0">
                <a:solidFill>
                  <a:schemeClr val="bg1"/>
                </a:solidFill>
              </a:rPr>
              <a:t> </a:t>
            </a:r>
            <a:r>
              <a:rPr lang="en-US" altLang="zh-CN" sz="2500" dirty="0">
                <a:solidFill>
                  <a:schemeClr val="bg1"/>
                </a:solidFill>
              </a:rPr>
              <a:t>measurements.</a:t>
            </a:r>
          </a:p>
          <a:p>
            <a:endParaRPr lang="en-CN" sz="2500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59EE1D-80AD-B0B4-3FF1-0771F79A16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9610" y="2482443"/>
            <a:ext cx="2887361" cy="225575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C24F382-55F1-9914-F801-31198196967D}"/>
              </a:ext>
            </a:extLst>
          </p:cNvPr>
          <p:cNvSpPr txBox="1"/>
          <p:nvPr/>
        </p:nvSpPr>
        <p:spPr>
          <a:xfrm>
            <a:off x="1647152" y="4738194"/>
            <a:ext cx="1992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Schwarz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et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al.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2011</a:t>
            </a:r>
            <a:endParaRPr lang="en-CN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EEB88A7-76DC-FE5F-AE02-6699B5E200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9789" y="2396078"/>
            <a:ext cx="2385780" cy="242847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8FE51FC-EEC3-C627-7947-B341C17B05A2}"/>
              </a:ext>
            </a:extLst>
          </p:cNvPr>
          <p:cNvSpPr txBox="1"/>
          <p:nvPr/>
        </p:nvSpPr>
        <p:spPr>
          <a:xfrm>
            <a:off x="5099861" y="4738194"/>
            <a:ext cx="1980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Chauvin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et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al.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2023</a:t>
            </a:r>
            <a:endParaRPr lang="en-CN" dirty="0">
              <a:solidFill>
                <a:schemeClr val="bg1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00FD61B-3561-9CA7-B1B2-6A64F98F99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7762" y="2207778"/>
            <a:ext cx="2974628" cy="261677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34F5F20-3DBB-152A-8554-632561B89D17}"/>
              </a:ext>
            </a:extLst>
          </p:cNvPr>
          <p:cNvSpPr txBox="1"/>
          <p:nvPr/>
        </p:nvSpPr>
        <p:spPr>
          <a:xfrm>
            <a:off x="8514869" y="4824556"/>
            <a:ext cx="1831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Huang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et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al.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2022</a:t>
            </a:r>
            <a:endParaRPr lang="en-CN" dirty="0">
              <a:solidFill>
                <a:schemeClr val="bg1"/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2EF2B32-5970-DA80-CEE5-B24A105F94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3530" y="2185970"/>
            <a:ext cx="4023092" cy="2638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450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A0D94-89F4-2F3B-E01C-3F49BA3FE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F35EDD-4EF6-486A-A6FB-33F2800FD28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8097"/>
                <a:ext cx="10515600" cy="5034778"/>
              </a:xfrm>
            </p:spPr>
            <p:txBody>
              <a:bodyPr>
                <a:normAutofit/>
              </a:bodyPr>
              <a:lstStyle/>
              <a:p>
                <a:r>
                  <a:rPr lang="en-CN" dirty="0">
                    <a:solidFill>
                      <a:schemeClr val="bg1"/>
                    </a:solidFill>
                  </a:rPr>
                  <a:t>So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me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planets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might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be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misaligned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or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retrograde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with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eccentricity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–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Cephei,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𝜈</m:t>
                    </m:r>
                  </m:oMath>
                </a14:m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Oct,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HD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80606b…</a:t>
                </a:r>
              </a:p>
              <a:p>
                <a:endParaRPr lang="en-US" dirty="0">
                  <a:solidFill>
                    <a:schemeClr val="bg1"/>
                  </a:solidFill>
                </a:endParaRPr>
              </a:p>
              <a:p>
                <a:endParaRPr lang="en-US" dirty="0">
                  <a:solidFill>
                    <a:schemeClr val="bg1"/>
                  </a:solidFill>
                </a:endParaRPr>
              </a:p>
              <a:p>
                <a:endParaRPr lang="en-US" dirty="0">
                  <a:solidFill>
                    <a:schemeClr val="bg1"/>
                  </a:solidFill>
                </a:endParaRPr>
              </a:p>
              <a:p>
                <a:endParaRPr lang="en-US" dirty="0">
                  <a:solidFill>
                    <a:schemeClr val="bg1"/>
                  </a:solidFill>
                </a:endParaRPr>
              </a:p>
              <a:p>
                <a:endParaRPr lang="en-US" dirty="0">
                  <a:solidFill>
                    <a:schemeClr val="bg1"/>
                  </a:solidFill>
                </a:endParaRPr>
              </a:p>
              <a:p>
                <a:endParaRPr lang="en-US" dirty="0">
                  <a:solidFill>
                    <a:schemeClr val="bg1"/>
                  </a:solidFill>
                </a:endParaRPr>
              </a:p>
              <a:p>
                <a:r>
                  <a:rPr lang="en-US" altLang="zh-CN" dirty="0">
                    <a:solidFill>
                      <a:schemeClr val="bg1"/>
                    </a:solidFill>
                  </a:rPr>
                  <a:t>The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evolution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of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misaligned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or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retrograde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hierarchical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three-body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systems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–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von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 err="1">
                    <a:solidFill>
                      <a:schemeClr val="bg1"/>
                    </a:solidFill>
                  </a:rPr>
                  <a:t>Zeipel-Lidov-Kozai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mechanism</a:t>
                </a:r>
                <a:endParaRPr lang="en-CN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F35EDD-4EF6-486A-A6FB-33F2800FD2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8097"/>
                <a:ext cx="10515600" cy="5034778"/>
              </a:xfrm>
              <a:blipFill>
                <a:blip r:embed="rId3"/>
                <a:stretch>
                  <a:fillRect l="-1086" t="-201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15AAD9AE-DBD4-606A-72A5-4E0377AA6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chemeClr val="bg1"/>
                </a:solidFill>
              </a:rPr>
              <a:t>The</a:t>
            </a:r>
            <a:r>
              <a:rPr lang="zh-CN" altLang="en-US" b="1" dirty="0">
                <a:solidFill>
                  <a:schemeClr val="bg1"/>
                </a:solidFill>
              </a:rPr>
              <a:t> </a:t>
            </a:r>
            <a:r>
              <a:rPr lang="en-US" altLang="zh-CN" b="1" dirty="0">
                <a:solidFill>
                  <a:schemeClr val="bg1"/>
                </a:solidFill>
              </a:rPr>
              <a:t>planets</a:t>
            </a:r>
            <a:r>
              <a:rPr lang="zh-CN" altLang="en-US" b="1" dirty="0">
                <a:solidFill>
                  <a:schemeClr val="bg1"/>
                </a:solidFill>
              </a:rPr>
              <a:t> </a:t>
            </a:r>
            <a:r>
              <a:rPr lang="en-US" altLang="zh-CN" b="1" dirty="0">
                <a:solidFill>
                  <a:schemeClr val="bg1"/>
                </a:solidFill>
              </a:rPr>
              <a:t>in</a:t>
            </a:r>
            <a:r>
              <a:rPr lang="zh-CN" altLang="en-US" b="1" dirty="0">
                <a:solidFill>
                  <a:schemeClr val="bg1"/>
                </a:solidFill>
              </a:rPr>
              <a:t> </a:t>
            </a:r>
            <a:r>
              <a:rPr lang="en-US" altLang="zh-CN" b="1" dirty="0">
                <a:solidFill>
                  <a:schemeClr val="bg1"/>
                </a:solidFill>
              </a:rPr>
              <a:t>the</a:t>
            </a:r>
            <a:r>
              <a:rPr lang="zh-CN" altLang="en-US" b="1" dirty="0">
                <a:solidFill>
                  <a:schemeClr val="bg1"/>
                </a:solidFill>
              </a:rPr>
              <a:t> </a:t>
            </a:r>
            <a:r>
              <a:rPr lang="en-US" altLang="zh-CN" b="1" dirty="0">
                <a:solidFill>
                  <a:schemeClr val="bg1"/>
                </a:solidFill>
              </a:rPr>
              <a:t>binary</a:t>
            </a:r>
            <a:r>
              <a:rPr lang="zh-CN" altLang="en-US" b="1" dirty="0">
                <a:solidFill>
                  <a:schemeClr val="bg1"/>
                </a:solidFill>
              </a:rPr>
              <a:t> </a:t>
            </a:r>
            <a:r>
              <a:rPr lang="en-US" altLang="zh-CN" b="1" dirty="0">
                <a:solidFill>
                  <a:schemeClr val="bg1"/>
                </a:solidFill>
              </a:rPr>
              <a:t>systems</a:t>
            </a:r>
            <a:endParaRPr lang="en-CN" b="1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CEB2C4-FD06-488A-FA89-89F4A492E6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9353" y="2445324"/>
            <a:ext cx="2504203" cy="243952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3880387-DBB9-83B3-98A3-A1CE09AD73EB}"/>
              </a:ext>
            </a:extLst>
          </p:cNvPr>
          <p:cNvSpPr txBox="1"/>
          <p:nvPr/>
        </p:nvSpPr>
        <p:spPr>
          <a:xfrm>
            <a:off x="4690946" y="4913071"/>
            <a:ext cx="2301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solidFill>
                  <a:schemeClr val="bg1"/>
                </a:solidFill>
              </a:rPr>
              <a:t>Cheng&amp;Lee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et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al.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2025</a:t>
            </a:r>
            <a:endParaRPr lang="en-CN" dirty="0">
              <a:solidFill>
                <a:schemeClr val="bg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E66B1D7-9F66-4EA6-B1A2-FD5DB3AD12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4198" y="2417096"/>
            <a:ext cx="3821027" cy="246774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0ECF960-97AC-8F37-463D-87A53D35C9BD}"/>
              </a:ext>
            </a:extLst>
          </p:cNvPr>
          <p:cNvSpPr txBox="1"/>
          <p:nvPr/>
        </p:nvSpPr>
        <p:spPr>
          <a:xfrm>
            <a:off x="8293992" y="4913071"/>
            <a:ext cx="2524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Naoz et al. (2011a</a:t>
            </a:r>
            <a:r>
              <a:rPr lang="en-US" dirty="0">
                <a:solidFill>
                  <a:schemeClr val="bg1"/>
                </a:solidFill>
              </a:rPr>
              <a:t>,</a:t>
            </a:r>
            <a:r>
              <a:rPr lang="en-US" dirty="0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2013</a:t>
            </a:r>
            <a:r>
              <a:rPr lang="en-US" dirty="0">
                <a:solidFill>
                  <a:schemeClr val="bg1"/>
                </a:solidFill>
              </a:rPr>
              <a:t>) </a:t>
            </a:r>
            <a:endParaRPr lang="en-CN" dirty="0">
              <a:solidFill>
                <a:schemeClr val="bg1"/>
              </a:solidFill>
            </a:endParaRPr>
          </a:p>
        </p:txBody>
      </p:sp>
      <p:pic>
        <p:nvPicPr>
          <p:cNvPr id="2054" name="Picture 6" descr="Astronomers Discover Misaligned Planets in Distant System">
            <a:extLst>
              <a:ext uri="{FF2B5EF4-FFF2-40B4-BE49-F238E27FC236}">
                <a16:creationId xmlns:a16="http://schemas.microsoft.com/office/drawing/2014/main" id="{D81A2B8A-E7F4-BCDD-F0AF-2F86FE3166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500" y="2445324"/>
            <a:ext cx="3257212" cy="2439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32EE767-7B7E-8D63-8201-2E746F3C5A25}"/>
              </a:ext>
            </a:extLst>
          </p:cNvPr>
          <p:cNvSpPr txBox="1"/>
          <p:nvPr/>
        </p:nvSpPr>
        <p:spPr>
          <a:xfrm>
            <a:off x="1646461" y="4913071"/>
            <a:ext cx="1807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Huber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et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al.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2013</a:t>
            </a:r>
            <a:endParaRPr lang="en-C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3458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B4B81-BC70-FBDF-C73C-31BC8E306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D2FEA-4424-94A0-9423-63C702179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>
                <a:solidFill>
                  <a:schemeClr val="bg1"/>
                </a:solidFill>
              </a:rPr>
              <a:t>Vo</a:t>
            </a:r>
            <a:r>
              <a:rPr lang="en-US" altLang="zh-CN" dirty="0">
                <a:solidFill>
                  <a:schemeClr val="bg1"/>
                </a:solidFill>
              </a:rPr>
              <a:t>n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 err="1">
                <a:solidFill>
                  <a:schemeClr val="bg1"/>
                </a:solidFill>
              </a:rPr>
              <a:t>Zeipel-Kozai-Lidov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(</a:t>
            </a:r>
            <a:r>
              <a:rPr lang="en-US" altLang="zh-CN" dirty="0" err="1">
                <a:solidFill>
                  <a:schemeClr val="bg1"/>
                </a:solidFill>
              </a:rPr>
              <a:t>vZLK</a:t>
            </a:r>
            <a:r>
              <a:rPr lang="en-US" altLang="zh-CN" dirty="0">
                <a:solidFill>
                  <a:schemeClr val="bg1"/>
                </a:solidFill>
              </a:rPr>
              <a:t>)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mechanism</a:t>
            </a:r>
            <a:endParaRPr lang="en-CN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4EF66B-8EF4-A9B9-AAB4-727157A42C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876389"/>
              </a:xfrm>
            </p:spPr>
            <p:txBody>
              <a:bodyPr/>
              <a:lstStyle/>
              <a:p>
                <a:r>
                  <a:rPr lang="en-CN" dirty="0">
                    <a:solidFill>
                      <a:schemeClr val="bg1"/>
                    </a:solidFill>
                  </a:rPr>
                  <a:t>vZLK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mechanism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-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oscillation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in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eccentricity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and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inclination.</a:t>
                </a:r>
              </a:p>
              <a:p>
                <a:endParaRPr lang="en-US" dirty="0">
                  <a:solidFill>
                    <a:schemeClr val="bg1"/>
                  </a:solidFill>
                </a:endParaRPr>
              </a:p>
              <a:p>
                <a:endParaRPr lang="en-US" dirty="0">
                  <a:solidFill>
                    <a:schemeClr val="bg1"/>
                  </a:solidFill>
                </a:endParaRPr>
              </a:p>
              <a:p>
                <a:endParaRPr lang="en-US" dirty="0">
                  <a:solidFill>
                    <a:schemeClr val="bg1"/>
                  </a:solidFill>
                </a:endParaRPr>
              </a:p>
              <a:p>
                <a:endParaRPr lang="en-US" dirty="0">
                  <a:solidFill>
                    <a:schemeClr val="bg1"/>
                  </a:solidFill>
                </a:endParaRPr>
              </a:p>
              <a:p>
                <a:r>
                  <a:rPr lang="en-US" altLang="zh-CN" dirty="0" err="1">
                    <a:solidFill>
                      <a:schemeClr val="bg1"/>
                    </a:solidFill>
                  </a:rPr>
                  <a:t>vZLK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timescale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-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vZLK</m:t>
                        </m:r>
                      </m:sub>
                    </m:sSub>
                    <m:r>
                      <a:rPr lang="en-US" altLang="zh-CN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∼</m:t>
                    </m:r>
                    <m:f>
                      <m:fPr>
                        <m:ctrlPr>
                          <a:rPr lang="en-US" altLang="zh-CN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US" altLang="zh-CN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sSup>
                      <m:sSupPr>
                        <m:ctrlPr>
                          <a:rPr lang="en-US" altLang="zh-CN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zh-CN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US" altLang="zh-CN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b>
                                      <m:sSubPr>
                                        <m:ctrlPr>
                                          <a:rPr lang="en-US" altLang="zh-CN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rad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zh-CN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ad>
                      <m:radPr>
                        <m:degHide m:val="on"/>
                        <m:ctrlPr>
                          <a:rPr lang="en-US" altLang="zh-CN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num>
                          <m:den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G</m:t>
                            </m:r>
                            <m:sSubSup>
                              <m:sSubSupPr>
                                <m:ctrlPr>
                                  <a:rPr lang="en-US" altLang="zh-CN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altLang="zh-CN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den>
                        </m:f>
                      </m:e>
                    </m:rad>
                    <m:rad>
                      <m:radPr>
                        <m:degHide m:val="on"/>
                        <m:ctrlP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altLang="zh-CN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sSub>
                                  <m:sSubPr>
                                    <m:ctrlPr>
                                      <a:rPr lang="en-US" altLang="zh-CN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altLang="zh-CN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rad>
                  </m:oMath>
                </a14:m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-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governed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by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the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binary’s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eccentricity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and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period.</a:t>
                </a:r>
              </a:p>
              <a:p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Onset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of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oscillation: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39.2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sup>
                    </m:sSup>
                  </m:oMath>
                </a14:m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-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140.8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sup>
                    </m:sSup>
                  </m:oMath>
                </a14:m>
                <a:r>
                  <a:rPr lang="en-US" altLang="zh-CN" dirty="0">
                    <a:solidFill>
                      <a:schemeClr val="bg1"/>
                    </a:solidFill>
                  </a:rPr>
                  <a:t>,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locked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in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 err="1">
                    <a:solidFill>
                      <a:schemeClr val="bg1"/>
                    </a:solidFill>
                  </a:rPr>
                  <a:t>libration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(like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MMR).</a:t>
                </a:r>
                <a:endParaRPr lang="en-CN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4EF66B-8EF4-A9B9-AAB4-727157A42C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876389"/>
              </a:xfrm>
              <a:blipFill>
                <a:blip r:embed="rId3"/>
                <a:stretch>
                  <a:fillRect l="-1086" t="-2078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>
            <a:extLst>
              <a:ext uri="{FF2B5EF4-FFF2-40B4-BE49-F238E27FC236}">
                <a16:creationId xmlns:a16="http://schemas.microsoft.com/office/drawing/2014/main" id="{7B340F40-E783-1571-3FDD-E058D21154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412702"/>
            <a:ext cx="9683372" cy="1839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7591839-939B-B6E5-2E5B-022A400222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296243"/>
            <a:ext cx="3861575" cy="395604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1067A0C-30F9-71B2-5EA6-0C8A15C15515}"/>
              </a:ext>
            </a:extLst>
          </p:cNvPr>
          <p:cNvSpPr txBox="1"/>
          <p:nvPr/>
        </p:nvSpPr>
        <p:spPr>
          <a:xfrm>
            <a:off x="1772848" y="4263818"/>
            <a:ext cx="2258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Smallwood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et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al.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2022</a:t>
            </a:r>
            <a:endParaRPr lang="en-CN" dirty="0">
              <a:solidFill>
                <a:schemeClr val="bg1"/>
              </a:solidFill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E66849DA-BF2F-7B64-D144-C4DF851E59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3608" y="53734"/>
            <a:ext cx="5613445" cy="4210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80E9549-ECF4-7BF6-C672-7016EC21C5A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8542" y="98991"/>
            <a:ext cx="4960889" cy="411956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CEE407D-423E-C9EC-8D3A-A64CE65E27B5}"/>
              </a:ext>
            </a:extLst>
          </p:cNvPr>
          <p:cNvSpPr txBox="1"/>
          <p:nvPr/>
        </p:nvSpPr>
        <p:spPr>
          <a:xfrm>
            <a:off x="1772848" y="4247375"/>
            <a:ext cx="1779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altLang="zh-CN" dirty="0">
                <a:solidFill>
                  <a:schemeClr val="bg1"/>
                </a:solidFill>
              </a:rPr>
              <a:t>Satyal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et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al.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2014</a:t>
            </a:r>
            <a:endParaRPr lang="en-C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7485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68499-6C99-7144-BDD5-60D6BA9AA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44143-A546-2B7C-DA23-1F10BD184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b="1" dirty="0">
                <a:solidFill>
                  <a:schemeClr val="bg1"/>
                </a:solidFill>
              </a:rPr>
              <a:t>Im</a:t>
            </a:r>
            <a:r>
              <a:rPr lang="en-US" altLang="zh-CN" b="1" dirty="0">
                <a:solidFill>
                  <a:schemeClr val="bg1"/>
                </a:solidFill>
              </a:rPr>
              <a:t>plications</a:t>
            </a:r>
            <a:r>
              <a:rPr lang="zh-CN" altLang="en-US" b="1" dirty="0">
                <a:solidFill>
                  <a:schemeClr val="bg1"/>
                </a:solidFill>
              </a:rPr>
              <a:t> </a:t>
            </a:r>
            <a:r>
              <a:rPr lang="en-US" altLang="zh-CN" b="1" dirty="0">
                <a:solidFill>
                  <a:schemeClr val="bg1"/>
                </a:solidFill>
              </a:rPr>
              <a:t>in</a:t>
            </a:r>
            <a:r>
              <a:rPr lang="zh-CN" altLang="en-US" b="1" dirty="0">
                <a:solidFill>
                  <a:schemeClr val="bg1"/>
                </a:solidFill>
              </a:rPr>
              <a:t> </a:t>
            </a:r>
            <a:r>
              <a:rPr lang="en-US" altLang="zh-CN" b="1" dirty="0">
                <a:solidFill>
                  <a:schemeClr val="bg1"/>
                </a:solidFill>
              </a:rPr>
              <a:t>the</a:t>
            </a:r>
            <a:r>
              <a:rPr lang="zh-CN" altLang="en-US" b="1" dirty="0">
                <a:solidFill>
                  <a:schemeClr val="bg1"/>
                </a:solidFill>
              </a:rPr>
              <a:t> </a:t>
            </a:r>
            <a:r>
              <a:rPr lang="en-US" altLang="zh-CN" b="1" dirty="0">
                <a:solidFill>
                  <a:schemeClr val="bg1"/>
                </a:solidFill>
              </a:rPr>
              <a:t>HD</a:t>
            </a:r>
            <a:r>
              <a:rPr lang="zh-CN" altLang="en-US" b="1" dirty="0">
                <a:solidFill>
                  <a:schemeClr val="bg1"/>
                </a:solidFill>
              </a:rPr>
              <a:t> </a:t>
            </a:r>
            <a:r>
              <a:rPr lang="en-US" altLang="zh-CN" b="1" dirty="0">
                <a:solidFill>
                  <a:schemeClr val="bg1"/>
                </a:solidFill>
              </a:rPr>
              <a:t>41004</a:t>
            </a:r>
            <a:r>
              <a:rPr lang="zh-CN" altLang="en-US" b="1" dirty="0">
                <a:solidFill>
                  <a:schemeClr val="bg1"/>
                </a:solidFill>
              </a:rPr>
              <a:t> </a:t>
            </a:r>
            <a:r>
              <a:rPr lang="en-US" altLang="zh-CN" b="1" dirty="0">
                <a:solidFill>
                  <a:schemeClr val="bg1"/>
                </a:solidFill>
              </a:rPr>
              <a:t>system</a:t>
            </a:r>
            <a:endParaRPr lang="en-CN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CA174-101C-1A63-6A95-3E2694D388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</a:rPr>
              <a:t>HD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41004: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a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hierarchical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four-body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system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–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both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star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hosts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a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planet</a:t>
            </a:r>
          </a:p>
          <a:p>
            <a:r>
              <a:rPr lang="en-US" altLang="zh-CN" dirty="0">
                <a:solidFill>
                  <a:schemeClr val="bg1"/>
                </a:solidFill>
              </a:rPr>
              <a:t>Approximation: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unrestricted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three-body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simulation</a:t>
            </a:r>
            <a:endParaRPr lang="en-CN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610501F-07FF-0FAB-432D-F9990A8701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96" y="3012711"/>
            <a:ext cx="10041807" cy="316425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7647304-74A0-C94D-EB13-4715A90FCF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199" y="1359900"/>
            <a:ext cx="4333408" cy="48465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5B5DAE1-91DA-4077-6D06-4F260A1DD7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1607" y="1825625"/>
            <a:ext cx="6285567" cy="43808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77EA235-33FD-10A9-BB24-3DDA9ADE9F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90311" y="6172091"/>
            <a:ext cx="4705688" cy="640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37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D1C0E-932F-8005-EFBA-3D687F813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26281-55CE-DC3F-2A7D-42E4988BC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627" y="365125"/>
            <a:ext cx="11302582" cy="1460500"/>
          </a:xfrm>
        </p:spPr>
        <p:txBody>
          <a:bodyPr>
            <a:normAutofit/>
          </a:bodyPr>
          <a:lstStyle/>
          <a:p>
            <a:r>
              <a:rPr lang="en-US" altLang="zh-CN" sz="4000" b="1" dirty="0">
                <a:solidFill>
                  <a:schemeClr val="bg1"/>
                </a:solidFill>
              </a:rPr>
              <a:t>Stability</a:t>
            </a:r>
            <a:r>
              <a:rPr lang="zh-CN" altLang="en-US" sz="4000" b="1" dirty="0">
                <a:solidFill>
                  <a:schemeClr val="bg1"/>
                </a:solidFill>
              </a:rPr>
              <a:t> </a:t>
            </a:r>
            <a:r>
              <a:rPr lang="en-US" altLang="zh-CN" sz="4000" b="1" dirty="0">
                <a:solidFill>
                  <a:schemeClr val="bg1"/>
                </a:solidFill>
              </a:rPr>
              <a:t>-</a:t>
            </a:r>
            <a:r>
              <a:rPr lang="zh-CN" altLang="en-US" sz="4000" b="1" dirty="0">
                <a:solidFill>
                  <a:schemeClr val="bg1"/>
                </a:solidFill>
              </a:rPr>
              <a:t> </a:t>
            </a:r>
            <a:r>
              <a:rPr lang="en-US" altLang="zh-CN" sz="4000" b="1" dirty="0">
                <a:solidFill>
                  <a:schemeClr val="bg1"/>
                </a:solidFill>
                <a:highlight>
                  <a:srgbClr val="FF0000"/>
                </a:highlight>
              </a:rPr>
              <a:t>Can</a:t>
            </a:r>
            <a:r>
              <a:rPr lang="zh-CN" altLang="en-US" sz="4000" b="1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4000" b="1" dirty="0">
                <a:solidFill>
                  <a:schemeClr val="bg1"/>
                </a:solidFill>
                <a:highlight>
                  <a:srgbClr val="FF0000"/>
                </a:highlight>
              </a:rPr>
              <a:t>the</a:t>
            </a:r>
            <a:r>
              <a:rPr lang="zh-CN" altLang="en-US" sz="4000" b="1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4000" b="1" dirty="0">
                <a:solidFill>
                  <a:schemeClr val="bg1"/>
                </a:solidFill>
                <a:highlight>
                  <a:srgbClr val="FF0000"/>
                </a:highlight>
              </a:rPr>
              <a:t>system</a:t>
            </a:r>
            <a:r>
              <a:rPr lang="zh-CN" altLang="en-US" sz="4000" b="1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4000" b="1" dirty="0">
                <a:solidFill>
                  <a:schemeClr val="bg1"/>
                </a:solidFill>
                <a:highlight>
                  <a:srgbClr val="FF0000"/>
                </a:highlight>
              </a:rPr>
              <a:t>be</a:t>
            </a:r>
            <a:r>
              <a:rPr lang="zh-CN" altLang="en-US" sz="4000" b="1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4000" b="1" dirty="0">
                <a:solidFill>
                  <a:schemeClr val="bg1"/>
                </a:solidFill>
                <a:highlight>
                  <a:srgbClr val="FF0000"/>
                </a:highlight>
              </a:rPr>
              <a:t>misaligned</a:t>
            </a:r>
            <a:r>
              <a:rPr lang="zh-CN" altLang="en-US" sz="4000" b="1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4000" b="1" dirty="0">
                <a:solidFill>
                  <a:schemeClr val="bg1"/>
                </a:solidFill>
                <a:highlight>
                  <a:srgbClr val="FF0000"/>
                </a:highlight>
              </a:rPr>
              <a:t>and</a:t>
            </a:r>
            <a:r>
              <a:rPr lang="zh-CN" altLang="en-US" sz="4000" b="1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4000" b="1" dirty="0">
                <a:solidFill>
                  <a:schemeClr val="bg1"/>
                </a:solidFill>
                <a:highlight>
                  <a:srgbClr val="FF0000"/>
                </a:highlight>
              </a:rPr>
              <a:t>stable?</a:t>
            </a:r>
            <a:endParaRPr lang="en-CN" sz="4000" b="1" dirty="0">
              <a:solidFill>
                <a:schemeClr val="bg1"/>
              </a:solidFill>
              <a:highlight>
                <a:srgbClr val="FF00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999FA8-49DC-6983-E3F4-B88F58CBFE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</a:rPr>
              <a:t>Using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the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MEGNO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chaos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indicator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–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quick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to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identify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unstable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orbits.</a:t>
            </a:r>
            <a:endParaRPr lang="en-CN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4AFC83-547D-23A4-DE17-22EF9C130E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476236"/>
            <a:ext cx="5645879" cy="401663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1A4F8E9-EA8C-69D9-CC2B-2638D79EE11A}"/>
                  </a:ext>
                </a:extLst>
              </p:cNvPr>
              <p:cNvSpPr txBox="1"/>
              <p:nvPr/>
            </p:nvSpPr>
            <p:spPr>
              <a:xfrm>
                <a:off x="6690474" y="2476237"/>
                <a:ext cx="5181735" cy="17851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750" dirty="0">
                    <a:solidFill>
                      <a:schemeClr val="bg1"/>
                    </a:solidFill>
                  </a:rPr>
                  <a:t>Unstable</a:t>
                </a:r>
                <a:r>
                  <a:rPr lang="zh-CN" altLang="en-US" sz="2750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sz="2750" dirty="0">
                    <a:solidFill>
                      <a:schemeClr val="bg1"/>
                    </a:solidFill>
                  </a:rPr>
                  <a:t>regions:</a:t>
                </a:r>
              </a:p>
              <a:p>
                <a:r>
                  <a:rPr lang="en-US" altLang="zh-CN" sz="2750" dirty="0">
                    <a:solidFill>
                      <a:schemeClr val="bg1"/>
                    </a:solidFill>
                  </a:rPr>
                  <a:t>1.</a:t>
                </a:r>
                <a:r>
                  <a:rPr lang="zh-CN" altLang="en-US" sz="2750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sz="2750" dirty="0">
                    <a:solidFill>
                      <a:schemeClr val="bg1"/>
                    </a:solidFill>
                  </a:rPr>
                  <a:t>Mutual</a:t>
                </a:r>
                <a:r>
                  <a:rPr lang="zh-CN" altLang="en-US" sz="2750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sz="2750" dirty="0">
                    <a:solidFill>
                      <a:schemeClr val="bg1"/>
                    </a:solidFill>
                  </a:rPr>
                  <a:t>inclination</a:t>
                </a:r>
                <a:r>
                  <a:rPr lang="zh-CN" altLang="en-US" sz="2750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sz="2750" dirty="0">
                    <a:solidFill>
                      <a:schemeClr val="bg1"/>
                    </a:solidFill>
                  </a:rPr>
                  <a:t>up</a:t>
                </a:r>
                <a:r>
                  <a:rPr lang="zh-CN" altLang="en-US" sz="2750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sz="2750" dirty="0">
                    <a:solidFill>
                      <a:schemeClr val="bg1"/>
                    </a:solidFill>
                  </a:rPr>
                  <a:t>to</a:t>
                </a:r>
                <a:r>
                  <a:rPr lang="zh-CN" altLang="en-US" sz="2750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sz="2750" dirty="0">
                    <a:solidFill>
                      <a:schemeClr val="bg1"/>
                    </a:solidFill>
                  </a:rPr>
                  <a:t>75</a:t>
                </a:r>
                <a:r>
                  <a:rPr lang="zh-CN" altLang="en-US" sz="2750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sz="2750" dirty="0">
                    <a:solidFill>
                      <a:schemeClr val="bg1"/>
                    </a:solidFill>
                  </a:rPr>
                  <a:t>deg</a:t>
                </a:r>
              </a:p>
              <a:p>
                <a:r>
                  <a:rPr lang="en-US" altLang="zh-CN" sz="2750" dirty="0">
                    <a:solidFill>
                      <a:schemeClr val="bg1"/>
                    </a:solidFill>
                  </a:rPr>
                  <a:t>2.</a:t>
                </a:r>
                <a:r>
                  <a:rPr lang="zh-CN" altLang="en-US" sz="2750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sz="2750" dirty="0">
                    <a:solidFill>
                      <a:schemeClr val="bg1"/>
                    </a:solidFill>
                  </a:rPr>
                  <a:t>Mutual</a:t>
                </a:r>
                <a:r>
                  <a:rPr lang="zh-CN" altLang="en-US" sz="2750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sz="2750" dirty="0">
                    <a:solidFill>
                      <a:schemeClr val="bg1"/>
                    </a:solidFill>
                  </a:rPr>
                  <a:t>inclination</a:t>
                </a:r>
                <a:r>
                  <a:rPr lang="zh-CN" altLang="en-US" sz="2750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sz="2750" dirty="0">
                    <a:solidFill>
                      <a:schemeClr val="bg1"/>
                    </a:solidFill>
                  </a:rPr>
                  <a:t>around</a:t>
                </a:r>
                <a:r>
                  <a:rPr lang="zh-CN" altLang="en-US" sz="2750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sz="2750" dirty="0">
                    <a:solidFill>
                      <a:schemeClr val="bg1"/>
                    </a:solidFill>
                  </a:rPr>
                  <a:t>40deg</a:t>
                </a:r>
                <a:endParaRPr lang="en-CN" altLang="zh-CN" sz="2750" dirty="0">
                  <a:solidFill>
                    <a:schemeClr val="bg1"/>
                  </a:solidFill>
                </a:endParaRPr>
              </a:p>
              <a:p>
                <a:r>
                  <a:rPr lang="en-US" altLang="zh-CN" sz="2750" dirty="0">
                    <a:solidFill>
                      <a:schemeClr val="bg1"/>
                    </a:solidFill>
                  </a:rPr>
                  <a:t>3.</a:t>
                </a:r>
                <a:r>
                  <a:rPr lang="zh-CN" altLang="en-US" sz="2750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sz="2750" dirty="0">
                    <a:solidFill>
                      <a:schemeClr val="bg1"/>
                    </a:solidFill>
                  </a:rPr>
                  <a:t>Eccentric</a:t>
                </a:r>
                <a:r>
                  <a:rPr lang="zh-CN" altLang="en-US" sz="2750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sz="2750" dirty="0">
                    <a:solidFill>
                      <a:schemeClr val="bg1"/>
                    </a:solidFill>
                  </a:rPr>
                  <a:t>close</a:t>
                </a:r>
                <a:r>
                  <a:rPr lang="zh-CN" altLang="en-US" sz="2750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sz="2750" dirty="0">
                    <a:solidFill>
                      <a:schemeClr val="bg1"/>
                    </a:solidFill>
                  </a:rPr>
                  <a:t>orbits</a:t>
                </a:r>
                <a:r>
                  <a:rPr lang="zh-CN" altLang="en-US" sz="2750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sz="2750" dirty="0">
                    <a:solidFill>
                      <a:schemeClr val="bg1"/>
                    </a:solidFill>
                  </a:rPr>
                  <a:t>of</a:t>
                </a:r>
                <a:r>
                  <a:rPr lang="zh-CN" altLang="en-US" sz="2750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sz="2750" dirty="0">
                    <a:solidFill>
                      <a:schemeClr val="bg1"/>
                    </a:solidFill>
                  </a:rPr>
                  <a:t>B</a:t>
                </a:r>
                <a:r>
                  <a:rPr lang="zh-CN" altLang="en-US" sz="2750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sz="2750" dirty="0">
                    <a:solidFill>
                      <a:schemeClr val="bg1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75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75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75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750" dirty="0">
                    <a:solidFill>
                      <a:schemeClr val="bg1"/>
                    </a:solidFill>
                  </a:rPr>
                  <a:t>)</a:t>
                </a:r>
                <a:endParaRPr lang="en-CN" sz="275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1A4F8E9-EA8C-69D9-CC2B-2638D79EE1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0474" y="2476237"/>
                <a:ext cx="5181735" cy="1785104"/>
              </a:xfrm>
              <a:prstGeom prst="rect">
                <a:avLst/>
              </a:prstGeom>
              <a:blipFill>
                <a:blip r:embed="rId4"/>
                <a:stretch>
                  <a:fillRect l="-2445" t="-2817" r="-2200" b="-8451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A4919A14-40C3-FA68-6654-B600B15DC0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8553" y="4292119"/>
            <a:ext cx="2572788" cy="222559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5B02D0B-CA19-0BA3-6F06-458F51D2A3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1341" y="4318690"/>
            <a:ext cx="2674205" cy="216997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A3CC78C-3EE4-1906-11B7-61DC42CC0707}"/>
              </a:ext>
            </a:extLst>
          </p:cNvPr>
          <p:cNvSpPr txBox="1"/>
          <p:nvPr/>
        </p:nvSpPr>
        <p:spPr>
          <a:xfrm>
            <a:off x="8391706" y="6488668"/>
            <a:ext cx="1779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altLang="zh-CN" dirty="0">
                <a:solidFill>
                  <a:schemeClr val="bg1"/>
                </a:solidFill>
              </a:rPr>
              <a:t>Satyal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et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al.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2014</a:t>
            </a:r>
            <a:endParaRPr lang="en-C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07647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0F3A9-04B1-636E-D94C-6E42C712B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8863A-B054-8B04-36B7-15C235EA2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4800" b="1" dirty="0">
                <a:solidFill>
                  <a:schemeClr val="bg1"/>
                </a:solidFill>
              </a:rPr>
              <a:t>Observation</a:t>
            </a:r>
            <a:r>
              <a:rPr lang="zh-CN" altLang="en-US" sz="4800" b="1" dirty="0">
                <a:solidFill>
                  <a:schemeClr val="bg1"/>
                </a:solidFill>
              </a:rPr>
              <a:t> </a:t>
            </a:r>
            <a:r>
              <a:rPr lang="en-US" altLang="zh-CN" sz="4800" b="1" dirty="0">
                <a:solidFill>
                  <a:schemeClr val="bg1"/>
                </a:solidFill>
              </a:rPr>
              <a:t>-</a:t>
            </a:r>
            <a:r>
              <a:rPr lang="zh-CN" altLang="en-US" sz="4800" b="1" dirty="0">
                <a:solidFill>
                  <a:schemeClr val="bg1"/>
                </a:solidFill>
              </a:rPr>
              <a:t>  </a:t>
            </a:r>
            <a:r>
              <a:rPr lang="en-US" altLang="zh-CN" sz="4800" b="1" dirty="0">
                <a:solidFill>
                  <a:schemeClr val="bg1"/>
                </a:solidFill>
                <a:highlight>
                  <a:srgbClr val="FF0000"/>
                </a:highlight>
              </a:rPr>
              <a:t>Can</a:t>
            </a:r>
            <a:r>
              <a:rPr lang="zh-CN" altLang="en-US" sz="4800" b="1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4800" b="1" dirty="0">
                <a:solidFill>
                  <a:schemeClr val="bg1"/>
                </a:solidFill>
                <a:highlight>
                  <a:srgbClr val="FF0000"/>
                </a:highlight>
              </a:rPr>
              <a:t>the</a:t>
            </a:r>
            <a:r>
              <a:rPr lang="zh-CN" altLang="en-US" sz="4800" b="1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4800" b="1" dirty="0">
                <a:solidFill>
                  <a:schemeClr val="bg1"/>
                </a:solidFill>
                <a:highlight>
                  <a:srgbClr val="FF0000"/>
                </a:highlight>
              </a:rPr>
              <a:t>misaligned</a:t>
            </a:r>
            <a:r>
              <a:rPr lang="zh-CN" altLang="en-US" sz="4800" b="1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4800" b="1" dirty="0">
                <a:solidFill>
                  <a:schemeClr val="bg1"/>
                </a:solidFill>
                <a:highlight>
                  <a:srgbClr val="FF0000"/>
                </a:highlight>
              </a:rPr>
              <a:t>configuration</a:t>
            </a:r>
            <a:r>
              <a:rPr lang="zh-CN" altLang="en-US" sz="4800" b="1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4800" b="1" dirty="0">
                <a:solidFill>
                  <a:schemeClr val="bg1"/>
                </a:solidFill>
                <a:highlight>
                  <a:srgbClr val="FF0000"/>
                </a:highlight>
              </a:rPr>
              <a:t>fit</a:t>
            </a:r>
            <a:r>
              <a:rPr lang="zh-CN" altLang="en-US" sz="4800" b="1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4800" b="1" dirty="0">
                <a:solidFill>
                  <a:schemeClr val="bg1"/>
                </a:solidFill>
                <a:highlight>
                  <a:srgbClr val="FF0000"/>
                </a:highlight>
              </a:rPr>
              <a:t>the</a:t>
            </a:r>
            <a:r>
              <a:rPr lang="zh-CN" altLang="en-US" sz="4800" b="1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4800" b="1" dirty="0">
                <a:solidFill>
                  <a:schemeClr val="bg1"/>
                </a:solidFill>
                <a:highlight>
                  <a:srgbClr val="FF0000"/>
                </a:highlight>
              </a:rPr>
              <a:t>radial</a:t>
            </a:r>
            <a:r>
              <a:rPr lang="zh-CN" altLang="en-US" sz="4800" b="1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4800" b="1" dirty="0">
                <a:solidFill>
                  <a:schemeClr val="bg1"/>
                </a:solidFill>
                <a:highlight>
                  <a:srgbClr val="FF0000"/>
                </a:highlight>
              </a:rPr>
              <a:t>velocity</a:t>
            </a:r>
            <a:r>
              <a:rPr lang="zh-CN" altLang="en-US" sz="4800" b="1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4800" b="1" dirty="0">
                <a:solidFill>
                  <a:schemeClr val="bg1"/>
                </a:solidFill>
                <a:highlight>
                  <a:srgbClr val="FF0000"/>
                </a:highlight>
              </a:rPr>
              <a:t>data?</a:t>
            </a:r>
            <a:endParaRPr lang="en-CN" sz="4800" b="1" dirty="0">
              <a:solidFill>
                <a:schemeClr val="bg1"/>
              </a:solidFill>
              <a:highlight>
                <a:srgbClr val="FF00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155E6-1054-5A1A-80B2-88CD554310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</a:rPr>
              <a:t>Existing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RV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data: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planetary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signals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primary,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weak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constraints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on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the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HD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41004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B.</a:t>
            </a:r>
            <a:endParaRPr lang="en-CN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0EA56E1-0F4A-E13A-BDB7-82F5D56231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9568"/>
          <a:stretch>
            <a:fillRect/>
          </a:stretch>
        </p:blipFill>
        <p:spPr>
          <a:xfrm>
            <a:off x="597628" y="2937509"/>
            <a:ext cx="5498372" cy="323945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9C61CB4-46F7-1605-6F00-7CEBDA3567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3747" b="49568"/>
          <a:stretch>
            <a:fillRect/>
          </a:stretch>
        </p:blipFill>
        <p:spPr>
          <a:xfrm>
            <a:off x="5889985" y="2937509"/>
            <a:ext cx="5704387" cy="323945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6766ADB-A7D6-E410-31B6-A82CCC69BDF8}"/>
                  </a:ext>
                </a:extLst>
              </p:cNvPr>
              <p:cNvSpPr txBox="1"/>
              <p:nvPr/>
            </p:nvSpPr>
            <p:spPr>
              <a:xfrm>
                <a:off x="1870159" y="6277431"/>
                <a:ext cx="3441520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=22</m:t>
                    </m:r>
                    <m:r>
                      <m:rPr>
                        <m:sty m:val="p"/>
                      </m:rPr>
                      <a:rPr lang="en-US" altLang="zh-CN" sz="22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AU</m:t>
                    </m:r>
                  </m:oMath>
                </a14:m>
                <a:r>
                  <a:rPr lang="en-US" altLang="zh-CN" sz="2200" dirty="0">
                    <a:solidFill>
                      <a:schemeClr val="bg1"/>
                    </a:solidFill>
                  </a:rPr>
                  <a:t>,</a:t>
                </a:r>
                <a:r>
                  <a:rPr lang="zh-CN" altLang="en-US" sz="2200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sz="2200" dirty="0">
                    <a:solidFill>
                      <a:schemeClr val="bg1"/>
                    </a:solidFill>
                  </a:rPr>
                  <a:t>different</a:t>
                </a:r>
                <a:r>
                  <a:rPr lang="zh-CN" altLang="en-US" sz="2200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2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initial</m:t>
                        </m:r>
                      </m:sub>
                    </m:sSub>
                  </m:oMath>
                </a14:m>
                <a:endParaRPr lang="en-CN" sz="2200" i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6766ADB-A7D6-E410-31B6-A82CCC69BD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0159" y="6277431"/>
                <a:ext cx="3441520" cy="430887"/>
              </a:xfrm>
              <a:prstGeom prst="rect">
                <a:avLst/>
              </a:prstGeom>
              <a:blipFill>
                <a:blip r:embed="rId4"/>
                <a:stretch>
                  <a:fillRect t="-8824" b="-3235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DA3D13E-9016-56F1-B3B5-C38D5288AA00}"/>
                  </a:ext>
                </a:extLst>
              </p:cNvPr>
              <p:cNvSpPr txBox="1"/>
              <p:nvPr/>
            </p:nvSpPr>
            <p:spPr>
              <a:xfrm>
                <a:off x="7265523" y="6234746"/>
                <a:ext cx="2953309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=22</m:t>
                    </m:r>
                    <m:r>
                      <m:rPr>
                        <m:sty m:val="p"/>
                      </m:rPr>
                      <a:rPr lang="en-US" altLang="zh-CN" sz="22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AU</m:t>
                    </m:r>
                  </m:oMath>
                </a14:m>
                <a:r>
                  <a:rPr lang="en-US" altLang="zh-CN" sz="2200" dirty="0">
                    <a:solidFill>
                      <a:schemeClr val="bg1"/>
                    </a:solidFill>
                  </a:rPr>
                  <a:t>,</a:t>
                </a:r>
                <a:r>
                  <a:rPr lang="zh-CN" altLang="en-US" sz="2200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sz="2200" dirty="0">
                    <a:solidFill>
                      <a:schemeClr val="bg1"/>
                    </a:solidFill>
                  </a:rPr>
                  <a:t>different</a:t>
                </a:r>
                <a:r>
                  <a:rPr lang="zh-CN" altLang="en-US" sz="2200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CN" sz="2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CN" sz="2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DA3D13E-9016-56F1-B3B5-C38D5288AA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5523" y="6234746"/>
                <a:ext cx="2953309" cy="430887"/>
              </a:xfrm>
              <a:prstGeom prst="rect">
                <a:avLst/>
              </a:prstGeom>
              <a:blipFill>
                <a:blip r:embed="rId5"/>
                <a:stretch>
                  <a:fillRect t="-11765" b="-2941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64128088-0FE5-4BBC-48C4-7672C0BE21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1613" y="102319"/>
            <a:ext cx="5704387" cy="665336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CA02879-D59C-5F75-E5E2-73F5696F2D5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0" y="102319"/>
            <a:ext cx="5716569" cy="6653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889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C6D5A-3E3E-EEAE-CE02-EAD85BAB5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N" sz="4800" b="1" dirty="0">
                <a:solidFill>
                  <a:schemeClr val="bg1"/>
                </a:solidFill>
              </a:rPr>
              <a:t>F</a:t>
            </a:r>
            <a:r>
              <a:rPr lang="en-US" altLang="zh-CN" sz="4800" b="1" dirty="0">
                <a:solidFill>
                  <a:schemeClr val="bg1"/>
                </a:solidFill>
              </a:rPr>
              <a:t>rom</a:t>
            </a:r>
            <a:r>
              <a:rPr lang="zh-CN" altLang="en-US" sz="4800" b="1" dirty="0">
                <a:solidFill>
                  <a:schemeClr val="bg1"/>
                </a:solidFill>
              </a:rPr>
              <a:t> </a:t>
            </a:r>
            <a:r>
              <a:rPr lang="en-US" altLang="zh-CN" sz="4800" b="1" dirty="0">
                <a:solidFill>
                  <a:schemeClr val="bg1"/>
                </a:solidFill>
              </a:rPr>
              <a:t>simulations,</a:t>
            </a:r>
            <a:r>
              <a:rPr lang="zh-CN" altLang="en-US" sz="4800" b="1" dirty="0">
                <a:solidFill>
                  <a:schemeClr val="bg1"/>
                </a:solidFill>
              </a:rPr>
              <a:t> </a:t>
            </a:r>
            <a:r>
              <a:rPr lang="en-US" altLang="zh-CN" sz="4800" b="1" dirty="0">
                <a:solidFill>
                  <a:schemeClr val="bg1"/>
                </a:solidFill>
              </a:rPr>
              <a:t>we</a:t>
            </a:r>
            <a:r>
              <a:rPr lang="zh-CN" altLang="en-US" sz="4800" b="1" dirty="0">
                <a:solidFill>
                  <a:schemeClr val="bg1"/>
                </a:solidFill>
              </a:rPr>
              <a:t> </a:t>
            </a:r>
            <a:r>
              <a:rPr lang="en-US" altLang="zh-CN" sz="4800" b="1" dirty="0">
                <a:solidFill>
                  <a:schemeClr val="bg1"/>
                </a:solidFill>
              </a:rPr>
              <a:t>know:</a:t>
            </a:r>
            <a:endParaRPr lang="en-CN" sz="4800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5396C1-A2B3-43CF-ED6F-68F6C13DD2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8313" y="1718831"/>
            <a:ext cx="10775373" cy="4667250"/>
          </a:xfrm>
        </p:spPr>
        <p:txBody>
          <a:bodyPr>
            <a:noAutofit/>
          </a:bodyPr>
          <a:lstStyle/>
          <a:p>
            <a:r>
              <a:rPr lang="en-US" altLang="zh-CN" sz="3200" dirty="0">
                <a:solidFill>
                  <a:schemeClr val="bg1"/>
                </a:solidFill>
              </a:rPr>
              <a:t>The</a:t>
            </a:r>
            <a:r>
              <a:rPr lang="zh-CN" altLang="en-US" sz="3200" dirty="0">
                <a:solidFill>
                  <a:schemeClr val="bg1"/>
                </a:solidFill>
              </a:rPr>
              <a:t> </a:t>
            </a:r>
            <a:r>
              <a:rPr lang="en-US" altLang="zh-CN" sz="3200" dirty="0">
                <a:solidFill>
                  <a:schemeClr val="bg1"/>
                </a:solidFill>
              </a:rPr>
              <a:t>system</a:t>
            </a:r>
            <a:r>
              <a:rPr lang="zh-CN" altLang="en-US" sz="3200" dirty="0">
                <a:solidFill>
                  <a:schemeClr val="bg1"/>
                </a:solidFill>
              </a:rPr>
              <a:t> </a:t>
            </a:r>
            <a:r>
              <a:rPr lang="en-US" altLang="zh-CN" sz="3200" dirty="0">
                <a:solidFill>
                  <a:schemeClr val="bg1"/>
                </a:solidFill>
              </a:rPr>
              <a:t>can</a:t>
            </a:r>
            <a:r>
              <a:rPr lang="zh-CN" altLang="en-US" sz="3200" dirty="0">
                <a:solidFill>
                  <a:schemeClr val="bg1"/>
                </a:solidFill>
              </a:rPr>
              <a:t> </a:t>
            </a:r>
            <a:r>
              <a:rPr lang="en-US" altLang="zh-CN" sz="3200" dirty="0">
                <a:solidFill>
                  <a:schemeClr val="bg1"/>
                </a:solidFill>
              </a:rPr>
              <a:t>be</a:t>
            </a:r>
            <a:r>
              <a:rPr lang="zh-CN" altLang="en-US" sz="3200" dirty="0">
                <a:solidFill>
                  <a:schemeClr val="bg1"/>
                </a:solidFill>
              </a:rPr>
              <a:t> </a:t>
            </a:r>
            <a:r>
              <a:rPr lang="en-US" altLang="zh-CN" sz="3200" dirty="0">
                <a:solidFill>
                  <a:schemeClr val="bg1"/>
                </a:solidFill>
              </a:rPr>
              <a:t>stable</a:t>
            </a:r>
            <a:r>
              <a:rPr lang="zh-CN" altLang="en-US" sz="3200" dirty="0">
                <a:solidFill>
                  <a:schemeClr val="bg1"/>
                </a:solidFill>
              </a:rPr>
              <a:t> </a:t>
            </a:r>
            <a:r>
              <a:rPr lang="en-US" altLang="zh-CN" sz="3200" dirty="0">
                <a:solidFill>
                  <a:schemeClr val="bg1"/>
                </a:solidFill>
              </a:rPr>
              <a:t>in</a:t>
            </a:r>
            <a:r>
              <a:rPr lang="zh-CN" altLang="en-US" sz="3200" dirty="0">
                <a:solidFill>
                  <a:schemeClr val="bg1"/>
                </a:solidFill>
              </a:rPr>
              <a:t> </a:t>
            </a:r>
            <a:r>
              <a:rPr lang="en-US" altLang="zh-CN" sz="3200" dirty="0">
                <a:solidFill>
                  <a:schemeClr val="bg1"/>
                </a:solidFill>
              </a:rPr>
              <a:t>a</a:t>
            </a:r>
            <a:r>
              <a:rPr lang="zh-CN" altLang="en-US" sz="3200" dirty="0">
                <a:solidFill>
                  <a:schemeClr val="bg1"/>
                </a:solidFill>
              </a:rPr>
              <a:t> </a:t>
            </a:r>
            <a:r>
              <a:rPr lang="en-US" altLang="zh-CN" sz="3200" dirty="0">
                <a:solidFill>
                  <a:schemeClr val="bg1"/>
                </a:solidFill>
              </a:rPr>
              <a:t>compact</a:t>
            </a:r>
            <a:r>
              <a:rPr lang="zh-CN" altLang="en-US" sz="3200" dirty="0">
                <a:solidFill>
                  <a:schemeClr val="bg1"/>
                </a:solidFill>
              </a:rPr>
              <a:t> </a:t>
            </a:r>
            <a:r>
              <a:rPr lang="en-US" altLang="zh-CN" sz="3200" dirty="0">
                <a:solidFill>
                  <a:schemeClr val="bg1"/>
                </a:solidFill>
              </a:rPr>
              <a:t>eccentric</a:t>
            </a:r>
            <a:r>
              <a:rPr lang="zh-CN" altLang="en-US" sz="3200" dirty="0">
                <a:solidFill>
                  <a:schemeClr val="bg1"/>
                </a:solidFill>
              </a:rPr>
              <a:t> </a:t>
            </a:r>
            <a:r>
              <a:rPr lang="en-US" altLang="zh-CN" sz="3200" dirty="0">
                <a:solidFill>
                  <a:schemeClr val="bg1"/>
                </a:solidFill>
              </a:rPr>
              <a:t>configuration</a:t>
            </a:r>
            <a:r>
              <a:rPr lang="zh-CN" altLang="en-US" sz="3200" dirty="0">
                <a:solidFill>
                  <a:schemeClr val="bg1"/>
                </a:solidFill>
              </a:rPr>
              <a:t> </a:t>
            </a:r>
            <a:r>
              <a:rPr lang="en-US" altLang="zh-CN" sz="3200" dirty="0">
                <a:solidFill>
                  <a:schemeClr val="bg1"/>
                </a:solidFill>
              </a:rPr>
              <a:t>with</a:t>
            </a:r>
            <a:r>
              <a:rPr lang="zh-CN" altLang="en-US" sz="3200" dirty="0">
                <a:solidFill>
                  <a:schemeClr val="bg1"/>
                </a:solidFill>
              </a:rPr>
              <a:t> </a:t>
            </a:r>
            <a:r>
              <a:rPr lang="en-US" altLang="zh-CN" sz="3200" dirty="0">
                <a:solidFill>
                  <a:schemeClr val="bg1"/>
                </a:solidFill>
              </a:rPr>
              <a:t>planets</a:t>
            </a:r>
            <a:r>
              <a:rPr lang="zh-CN" altLang="en-US" sz="3200" dirty="0">
                <a:solidFill>
                  <a:schemeClr val="bg1"/>
                </a:solidFill>
              </a:rPr>
              <a:t> </a:t>
            </a:r>
            <a:r>
              <a:rPr lang="en-US" altLang="zh-CN" sz="3200" dirty="0">
                <a:solidFill>
                  <a:schemeClr val="bg1"/>
                </a:solidFill>
              </a:rPr>
              <a:t>misaligned.</a:t>
            </a:r>
          </a:p>
          <a:p>
            <a:r>
              <a:rPr lang="en-US" altLang="zh-CN" sz="3200" dirty="0">
                <a:solidFill>
                  <a:schemeClr val="bg1"/>
                </a:solidFill>
              </a:rPr>
              <a:t>The</a:t>
            </a:r>
            <a:r>
              <a:rPr lang="zh-CN" altLang="en-US" sz="3200" dirty="0">
                <a:solidFill>
                  <a:schemeClr val="bg1"/>
                </a:solidFill>
              </a:rPr>
              <a:t> </a:t>
            </a:r>
            <a:r>
              <a:rPr lang="en-US" altLang="zh-CN" sz="3200" dirty="0">
                <a:solidFill>
                  <a:schemeClr val="bg1"/>
                </a:solidFill>
              </a:rPr>
              <a:t>RV</a:t>
            </a:r>
            <a:r>
              <a:rPr lang="zh-CN" altLang="en-US" sz="3200" dirty="0">
                <a:solidFill>
                  <a:schemeClr val="bg1"/>
                </a:solidFill>
              </a:rPr>
              <a:t> </a:t>
            </a:r>
            <a:r>
              <a:rPr lang="en-US" altLang="zh-CN" sz="3200" dirty="0">
                <a:solidFill>
                  <a:schemeClr val="bg1"/>
                </a:solidFill>
              </a:rPr>
              <a:t>of</a:t>
            </a:r>
            <a:r>
              <a:rPr lang="zh-CN" altLang="en-US" sz="3200" dirty="0">
                <a:solidFill>
                  <a:schemeClr val="bg1"/>
                </a:solidFill>
              </a:rPr>
              <a:t> </a:t>
            </a:r>
            <a:r>
              <a:rPr lang="en-US" altLang="zh-CN" sz="3200" dirty="0">
                <a:solidFill>
                  <a:schemeClr val="bg1"/>
                </a:solidFill>
              </a:rPr>
              <a:t>HD</a:t>
            </a:r>
            <a:r>
              <a:rPr lang="zh-CN" altLang="en-US" sz="3200" dirty="0">
                <a:solidFill>
                  <a:schemeClr val="bg1"/>
                </a:solidFill>
              </a:rPr>
              <a:t> </a:t>
            </a:r>
            <a:r>
              <a:rPr lang="en-US" altLang="zh-CN" sz="3200" dirty="0">
                <a:solidFill>
                  <a:schemeClr val="bg1"/>
                </a:solidFill>
              </a:rPr>
              <a:t>41004</a:t>
            </a:r>
            <a:r>
              <a:rPr lang="zh-CN" altLang="en-US" sz="3200" dirty="0">
                <a:solidFill>
                  <a:schemeClr val="bg1"/>
                </a:solidFill>
              </a:rPr>
              <a:t> </a:t>
            </a:r>
            <a:r>
              <a:rPr lang="en-US" altLang="zh-CN" sz="3200" dirty="0">
                <a:solidFill>
                  <a:schemeClr val="bg1"/>
                </a:solidFill>
              </a:rPr>
              <a:t>A</a:t>
            </a:r>
            <a:r>
              <a:rPr lang="zh-CN" altLang="en-US" sz="3200" dirty="0">
                <a:solidFill>
                  <a:schemeClr val="bg1"/>
                </a:solidFill>
              </a:rPr>
              <a:t> </a:t>
            </a:r>
            <a:r>
              <a:rPr lang="en-US" altLang="zh-CN" sz="3200" dirty="0">
                <a:solidFill>
                  <a:schemeClr val="bg1"/>
                </a:solidFill>
              </a:rPr>
              <a:t>can</a:t>
            </a:r>
            <a:r>
              <a:rPr lang="zh-CN" altLang="en-US" sz="3200" dirty="0">
                <a:solidFill>
                  <a:schemeClr val="bg1"/>
                </a:solidFill>
              </a:rPr>
              <a:t> </a:t>
            </a:r>
            <a:r>
              <a:rPr lang="en-US" altLang="zh-CN" sz="3200" dirty="0">
                <a:solidFill>
                  <a:schemeClr val="bg1"/>
                </a:solidFill>
              </a:rPr>
              <a:t>fit</a:t>
            </a:r>
            <a:r>
              <a:rPr lang="zh-CN" altLang="en-US" sz="3200" dirty="0">
                <a:solidFill>
                  <a:schemeClr val="bg1"/>
                </a:solidFill>
              </a:rPr>
              <a:t> </a:t>
            </a:r>
            <a:r>
              <a:rPr lang="en-US" altLang="zh-CN" sz="3200" dirty="0">
                <a:solidFill>
                  <a:schemeClr val="bg1"/>
                </a:solidFill>
              </a:rPr>
              <a:t>different</a:t>
            </a:r>
            <a:r>
              <a:rPr lang="zh-CN" altLang="en-US" sz="3200" dirty="0">
                <a:solidFill>
                  <a:schemeClr val="bg1"/>
                </a:solidFill>
              </a:rPr>
              <a:t> </a:t>
            </a:r>
            <a:r>
              <a:rPr lang="en-US" altLang="zh-CN" sz="3200" dirty="0">
                <a:solidFill>
                  <a:schemeClr val="bg1"/>
                </a:solidFill>
              </a:rPr>
              <a:t>system</a:t>
            </a:r>
            <a:r>
              <a:rPr lang="zh-CN" altLang="en-US" sz="3200" dirty="0">
                <a:solidFill>
                  <a:schemeClr val="bg1"/>
                </a:solidFill>
              </a:rPr>
              <a:t> </a:t>
            </a:r>
            <a:r>
              <a:rPr lang="en-US" altLang="zh-CN" sz="3200" dirty="0">
                <a:solidFill>
                  <a:schemeClr val="bg1"/>
                </a:solidFill>
              </a:rPr>
              <a:t>configurations.</a:t>
            </a:r>
          </a:p>
          <a:p>
            <a:r>
              <a:rPr lang="en-US" altLang="zh-CN" sz="3200" dirty="0">
                <a:solidFill>
                  <a:schemeClr val="bg1"/>
                </a:solidFill>
              </a:rPr>
              <a:t>In</a:t>
            </a:r>
            <a:r>
              <a:rPr lang="zh-CN" altLang="en-US" sz="3200" dirty="0">
                <a:solidFill>
                  <a:schemeClr val="bg1"/>
                </a:solidFill>
              </a:rPr>
              <a:t> </a:t>
            </a:r>
            <a:r>
              <a:rPr lang="en-US" altLang="zh-CN" sz="3200" dirty="0">
                <a:solidFill>
                  <a:schemeClr val="bg1"/>
                </a:solidFill>
              </a:rPr>
              <a:t>misaligned</a:t>
            </a:r>
            <a:r>
              <a:rPr lang="zh-CN" altLang="en-US" sz="3200" dirty="0">
                <a:solidFill>
                  <a:schemeClr val="bg1"/>
                </a:solidFill>
              </a:rPr>
              <a:t> </a:t>
            </a:r>
            <a:r>
              <a:rPr lang="en-US" altLang="zh-CN" sz="3200" dirty="0">
                <a:solidFill>
                  <a:schemeClr val="bg1"/>
                </a:solidFill>
              </a:rPr>
              <a:t>systems,</a:t>
            </a:r>
            <a:r>
              <a:rPr lang="zh-CN" altLang="en-US" sz="3200" dirty="0">
                <a:solidFill>
                  <a:schemeClr val="bg1"/>
                </a:solidFill>
              </a:rPr>
              <a:t> </a:t>
            </a:r>
            <a:r>
              <a:rPr lang="en-US" altLang="zh-CN" sz="3200" dirty="0">
                <a:solidFill>
                  <a:schemeClr val="bg1"/>
                </a:solidFill>
              </a:rPr>
              <a:t>the</a:t>
            </a:r>
            <a:r>
              <a:rPr lang="zh-CN" altLang="en-US" sz="3200" dirty="0">
                <a:solidFill>
                  <a:schemeClr val="bg1"/>
                </a:solidFill>
              </a:rPr>
              <a:t> </a:t>
            </a:r>
            <a:r>
              <a:rPr lang="en-US" altLang="zh-CN" sz="3200" dirty="0" err="1">
                <a:solidFill>
                  <a:schemeClr val="bg1"/>
                </a:solidFill>
              </a:rPr>
              <a:t>vZLK</a:t>
            </a:r>
            <a:r>
              <a:rPr lang="zh-CN" altLang="en-US" sz="3200" dirty="0">
                <a:solidFill>
                  <a:schemeClr val="bg1"/>
                </a:solidFill>
              </a:rPr>
              <a:t> </a:t>
            </a:r>
            <a:r>
              <a:rPr lang="en-US" altLang="zh-CN" sz="3200" dirty="0">
                <a:solidFill>
                  <a:schemeClr val="bg1"/>
                </a:solidFill>
              </a:rPr>
              <a:t>governs</a:t>
            </a:r>
            <a:r>
              <a:rPr lang="zh-CN" altLang="en-US" sz="3200" dirty="0">
                <a:solidFill>
                  <a:schemeClr val="bg1"/>
                </a:solidFill>
              </a:rPr>
              <a:t> </a:t>
            </a:r>
            <a:r>
              <a:rPr lang="en-US" altLang="zh-CN" sz="3200" dirty="0">
                <a:solidFill>
                  <a:schemeClr val="bg1"/>
                </a:solidFill>
              </a:rPr>
              <a:t>the</a:t>
            </a:r>
            <a:r>
              <a:rPr lang="zh-CN" altLang="en-US" sz="3200" dirty="0">
                <a:solidFill>
                  <a:schemeClr val="bg1"/>
                </a:solidFill>
              </a:rPr>
              <a:t> </a:t>
            </a:r>
            <a:r>
              <a:rPr lang="en-US" altLang="zh-CN" sz="3200" dirty="0">
                <a:solidFill>
                  <a:schemeClr val="bg1"/>
                </a:solidFill>
              </a:rPr>
              <a:t>evolution</a:t>
            </a:r>
            <a:r>
              <a:rPr lang="zh-CN" altLang="en-US" sz="3200" dirty="0">
                <a:solidFill>
                  <a:schemeClr val="bg1"/>
                </a:solidFill>
              </a:rPr>
              <a:t> </a:t>
            </a:r>
            <a:r>
              <a:rPr lang="en-US" altLang="zh-CN" sz="3200" dirty="0">
                <a:solidFill>
                  <a:schemeClr val="bg1"/>
                </a:solidFill>
              </a:rPr>
              <a:t>pathway.</a:t>
            </a:r>
          </a:p>
          <a:p>
            <a:r>
              <a:rPr lang="en-US" altLang="zh-CN" sz="3200" dirty="0">
                <a:solidFill>
                  <a:schemeClr val="bg1"/>
                </a:solidFill>
                <a:highlight>
                  <a:srgbClr val="FF0000"/>
                </a:highlight>
              </a:rPr>
              <a:t>Can</a:t>
            </a:r>
            <a:r>
              <a:rPr lang="zh-CN" altLang="en-US" sz="3200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3200" dirty="0" err="1">
                <a:solidFill>
                  <a:schemeClr val="bg1"/>
                </a:solidFill>
                <a:highlight>
                  <a:srgbClr val="FF0000"/>
                </a:highlight>
              </a:rPr>
              <a:t>vZLK</a:t>
            </a:r>
            <a:r>
              <a:rPr lang="zh-CN" altLang="en-US" sz="3200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3200" dirty="0">
                <a:solidFill>
                  <a:schemeClr val="bg1"/>
                </a:solidFill>
                <a:highlight>
                  <a:srgbClr val="FF0000"/>
                </a:highlight>
              </a:rPr>
              <a:t>exist</a:t>
            </a:r>
            <a:r>
              <a:rPr lang="zh-CN" altLang="en-US" sz="3200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3200" dirty="0">
                <a:solidFill>
                  <a:schemeClr val="bg1"/>
                </a:solidFill>
                <a:highlight>
                  <a:srgbClr val="FF0000"/>
                </a:highlight>
              </a:rPr>
              <a:t>in</a:t>
            </a:r>
            <a:r>
              <a:rPr lang="zh-CN" altLang="en-US" sz="3200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3200" dirty="0">
                <a:solidFill>
                  <a:schemeClr val="bg1"/>
                </a:solidFill>
                <a:highlight>
                  <a:srgbClr val="FF0000"/>
                </a:highlight>
              </a:rPr>
              <a:t>this</a:t>
            </a:r>
            <a:r>
              <a:rPr lang="zh-CN" altLang="en-US" sz="3200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3200" dirty="0">
                <a:solidFill>
                  <a:schemeClr val="bg1"/>
                </a:solidFill>
                <a:highlight>
                  <a:srgbClr val="FF0000"/>
                </a:highlight>
              </a:rPr>
              <a:t>system?</a:t>
            </a:r>
            <a:r>
              <a:rPr lang="zh-CN" altLang="en-US" sz="3200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3200" dirty="0">
                <a:solidFill>
                  <a:schemeClr val="bg1"/>
                </a:solidFill>
                <a:highlight>
                  <a:srgbClr val="FF0000"/>
                </a:highlight>
              </a:rPr>
              <a:t>–</a:t>
            </a:r>
            <a:r>
              <a:rPr lang="zh-CN" altLang="en-US" sz="3200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3200" dirty="0">
                <a:solidFill>
                  <a:schemeClr val="bg1"/>
                </a:solidFill>
                <a:highlight>
                  <a:srgbClr val="FF0000"/>
                </a:highlight>
              </a:rPr>
              <a:t>Simulations</a:t>
            </a:r>
            <a:r>
              <a:rPr lang="zh-CN" altLang="en-US" sz="3200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3200" dirty="0">
                <a:solidFill>
                  <a:schemeClr val="bg1"/>
                </a:solidFill>
                <a:highlight>
                  <a:srgbClr val="FF0000"/>
                </a:highlight>
              </a:rPr>
              <a:t>do</a:t>
            </a:r>
            <a:r>
              <a:rPr lang="zh-CN" altLang="en-US" sz="3200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3200" dirty="0">
                <a:solidFill>
                  <a:schemeClr val="bg1"/>
                </a:solidFill>
                <a:highlight>
                  <a:srgbClr val="FF0000"/>
                </a:highlight>
              </a:rPr>
              <a:t>not</a:t>
            </a:r>
            <a:r>
              <a:rPr lang="zh-CN" altLang="en-US" sz="3200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3200" dirty="0">
                <a:solidFill>
                  <a:schemeClr val="bg1"/>
                </a:solidFill>
                <a:highlight>
                  <a:srgbClr val="FF0000"/>
                </a:highlight>
              </a:rPr>
              <a:t>reject</a:t>
            </a:r>
            <a:r>
              <a:rPr lang="zh-CN" altLang="en-US" sz="3200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3200" dirty="0">
                <a:solidFill>
                  <a:schemeClr val="bg1"/>
                </a:solidFill>
                <a:highlight>
                  <a:srgbClr val="FF0000"/>
                </a:highlight>
              </a:rPr>
              <a:t>this</a:t>
            </a:r>
            <a:r>
              <a:rPr lang="zh-CN" altLang="en-US" sz="3200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3200" dirty="0">
                <a:solidFill>
                  <a:schemeClr val="bg1"/>
                </a:solidFill>
                <a:highlight>
                  <a:srgbClr val="FF0000"/>
                </a:highlight>
              </a:rPr>
              <a:t>assumption.</a:t>
            </a:r>
          </a:p>
          <a:p>
            <a:r>
              <a:rPr lang="en-US" altLang="zh-CN" sz="3200" dirty="0">
                <a:solidFill>
                  <a:schemeClr val="bg1"/>
                </a:solidFill>
                <a:highlight>
                  <a:srgbClr val="FF0000"/>
                </a:highlight>
              </a:rPr>
              <a:t>What are</a:t>
            </a:r>
            <a:r>
              <a:rPr lang="zh-CN" altLang="en-US" sz="3200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3200" dirty="0">
                <a:solidFill>
                  <a:schemeClr val="bg1"/>
                </a:solidFill>
                <a:highlight>
                  <a:srgbClr val="FF0000"/>
                </a:highlight>
              </a:rPr>
              <a:t>the</a:t>
            </a:r>
            <a:r>
              <a:rPr lang="zh-CN" altLang="en-US" sz="3200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3200" dirty="0">
                <a:solidFill>
                  <a:schemeClr val="bg1"/>
                </a:solidFill>
                <a:highlight>
                  <a:srgbClr val="FF0000"/>
                </a:highlight>
              </a:rPr>
              <a:t>observational</a:t>
            </a:r>
            <a:r>
              <a:rPr lang="zh-CN" altLang="en-US" sz="3200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3200" dirty="0">
                <a:solidFill>
                  <a:schemeClr val="bg1"/>
                </a:solidFill>
                <a:highlight>
                  <a:srgbClr val="FF0000"/>
                </a:highlight>
              </a:rPr>
              <a:t>signatures</a:t>
            </a:r>
            <a:r>
              <a:rPr lang="zh-CN" altLang="en-US" sz="3200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3200" dirty="0">
                <a:solidFill>
                  <a:schemeClr val="bg1"/>
                </a:solidFill>
                <a:highlight>
                  <a:srgbClr val="FF0000"/>
                </a:highlight>
              </a:rPr>
              <a:t>of</a:t>
            </a:r>
            <a:r>
              <a:rPr lang="zh-CN" altLang="en-US" sz="3200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3200" dirty="0" err="1">
                <a:solidFill>
                  <a:schemeClr val="bg1"/>
                </a:solidFill>
                <a:highlight>
                  <a:srgbClr val="FF0000"/>
                </a:highlight>
              </a:rPr>
              <a:t>vZLK</a:t>
            </a:r>
            <a:r>
              <a:rPr lang="zh-CN" altLang="en-US" sz="3200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3200" dirty="0">
                <a:solidFill>
                  <a:schemeClr val="bg1"/>
                </a:solidFill>
                <a:highlight>
                  <a:srgbClr val="FF0000"/>
                </a:highlight>
              </a:rPr>
              <a:t>planets?</a:t>
            </a:r>
          </a:p>
          <a:p>
            <a:r>
              <a:rPr lang="en-US" altLang="zh-CN" sz="3200" dirty="0">
                <a:solidFill>
                  <a:schemeClr val="bg1"/>
                </a:solidFill>
                <a:highlight>
                  <a:srgbClr val="FF0000"/>
                </a:highlight>
              </a:rPr>
              <a:t>Could</a:t>
            </a:r>
            <a:r>
              <a:rPr lang="zh-CN" altLang="en-US" sz="3200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3200" dirty="0">
                <a:solidFill>
                  <a:schemeClr val="bg1"/>
                </a:solidFill>
                <a:highlight>
                  <a:srgbClr val="FF0000"/>
                </a:highlight>
              </a:rPr>
              <a:t>the</a:t>
            </a:r>
            <a:r>
              <a:rPr lang="zh-CN" altLang="en-US" sz="3200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3200" dirty="0">
                <a:solidFill>
                  <a:schemeClr val="bg1"/>
                </a:solidFill>
                <a:highlight>
                  <a:srgbClr val="FF0000"/>
                </a:highlight>
              </a:rPr>
              <a:t>signatures</a:t>
            </a:r>
            <a:r>
              <a:rPr lang="zh-CN" altLang="en-US" sz="3200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3200" dirty="0">
                <a:solidFill>
                  <a:schemeClr val="bg1"/>
                </a:solidFill>
                <a:highlight>
                  <a:srgbClr val="FF0000"/>
                </a:highlight>
              </a:rPr>
              <a:t>be</a:t>
            </a:r>
            <a:r>
              <a:rPr lang="zh-CN" altLang="en-US" sz="3200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3200" dirty="0">
                <a:solidFill>
                  <a:schemeClr val="bg1"/>
                </a:solidFill>
                <a:highlight>
                  <a:srgbClr val="FF0000"/>
                </a:highlight>
              </a:rPr>
              <a:t>observed</a:t>
            </a:r>
            <a:r>
              <a:rPr lang="zh-CN" altLang="en-US" sz="3200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3200" dirty="0">
                <a:solidFill>
                  <a:schemeClr val="bg1"/>
                </a:solidFill>
                <a:highlight>
                  <a:srgbClr val="FF0000"/>
                </a:highlight>
              </a:rPr>
              <a:t>by</a:t>
            </a:r>
            <a:r>
              <a:rPr lang="zh-CN" altLang="en-US" sz="3200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3200" dirty="0">
                <a:solidFill>
                  <a:schemeClr val="bg1"/>
                </a:solidFill>
                <a:highlight>
                  <a:srgbClr val="FF0000"/>
                </a:highlight>
              </a:rPr>
              <a:t>current</a:t>
            </a:r>
            <a:r>
              <a:rPr lang="zh-CN" altLang="en-US" sz="3200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3200" dirty="0">
                <a:solidFill>
                  <a:schemeClr val="bg1"/>
                </a:solidFill>
                <a:highlight>
                  <a:srgbClr val="FF0000"/>
                </a:highlight>
              </a:rPr>
              <a:t>or</a:t>
            </a:r>
            <a:r>
              <a:rPr lang="zh-CN" altLang="en-US" sz="3200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3200" dirty="0">
                <a:solidFill>
                  <a:schemeClr val="bg1"/>
                </a:solidFill>
                <a:highlight>
                  <a:srgbClr val="FF0000"/>
                </a:highlight>
              </a:rPr>
              <a:t>future</a:t>
            </a:r>
            <a:r>
              <a:rPr lang="zh-CN" altLang="en-US" sz="3200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3200" dirty="0">
                <a:solidFill>
                  <a:schemeClr val="bg1"/>
                </a:solidFill>
                <a:highlight>
                  <a:srgbClr val="FF0000"/>
                </a:highlight>
              </a:rPr>
              <a:t>instruments?</a:t>
            </a:r>
            <a:endParaRPr lang="en-CN" sz="3200" dirty="0">
              <a:solidFill>
                <a:schemeClr val="bg1"/>
              </a:solidFill>
              <a:highlight>
                <a:srgbClr val="FF0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6885872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7E28D-C656-8FE5-C605-4252CBE15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582E7-F54A-34FA-A6F9-B595DE20C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N" sz="4800" b="1" dirty="0">
                <a:solidFill>
                  <a:schemeClr val="bg1"/>
                </a:solidFill>
              </a:rPr>
              <a:t>Radial</a:t>
            </a:r>
            <a:r>
              <a:rPr lang="zh-CN" altLang="en-US" sz="4800" b="1" dirty="0">
                <a:solidFill>
                  <a:schemeClr val="bg1"/>
                </a:solidFill>
              </a:rPr>
              <a:t> </a:t>
            </a:r>
            <a:r>
              <a:rPr lang="en-US" altLang="zh-CN" sz="4800" b="1" dirty="0">
                <a:solidFill>
                  <a:schemeClr val="bg1"/>
                </a:solidFill>
              </a:rPr>
              <a:t>Velocity</a:t>
            </a:r>
            <a:r>
              <a:rPr lang="zh-CN" altLang="en-US" sz="4800" b="1" dirty="0">
                <a:solidFill>
                  <a:schemeClr val="bg1"/>
                </a:solidFill>
              </a:rPr>
              <a:t> </a:t>
            </a:r>
            <a:r>
              <a:rPr lang="en-US" altLang="zh-CN" sz="4800" b="1" dirty="0">
                <a:solidFill>
                  <a:schemeClr val="bg1"/>
                </a:solidFill>
              </a:rPr>
              <a:t>Measurements</a:t>
            </a:r>
            <a:endParaRPr lang="en-CN" sz="4800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4A04D6-7B71-CF03-8683-F84EEDD196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Radial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Velocity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of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a hierarchical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three-body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system:</a:t>
            </a:r>
          </a:p>
          <a:p>
            <a:endParaRPr lang="en-US" altLang="zh-CN" dirty="0">
              <a:solidFill>
                <a:schemeClr val="bg1"/>
              </a:solidFill>
            </a:endParaRPr>
          </a:p>
          <a:p>
            <a:endParaRPr lang="en-US" altLang="zh-CN" dirty="0">
              <a:solidFill>
                <a:schemeClr val="bg1"/>
              </a:solidFill>
            </a:endParaRPr>
          </a:p>
          <a:p>
            <a:endParaRPr lang="en-US" altLang="zh-CN" dirty="0">
              <a:solidFill>
                <a:schemeClr val="bg1"/>
              </a:solidFill>
            </a:endParaRPr>
          </a:p>
          <a:p>
            <a:endParaRPr lang="en-US" altLang="zh-CN" dirty="0">
              <a:solidFill>
                <a:schemeClr val="bg1"/>
              </a:solidFill>
            </a:endParaRPr>
          </a:p>
          <a:p>
            <a:endParaRPr lang="en-US" altLang="zh-CN" dirty="0">
              <a:solidFill>
                <a:schemeClr val="bg1"/>
              </a:solidFill>
            </a:endParaRPr>
          </a:p>
          <a:p>
            <a:endParaRPr lang="en-US" altLang="zh-CN" dirty="0">
              <a:solidFill>
                <a:schemeClr val="bg1"/>
              </a:solidFill>
            </a:endParaRPr>
          </a:p>
          <a:p>
            <a:endParaRPr lang="en-US" altLang="zh-CN" dirty="0">
              <a:solidFill>
                <a:schemeClr val="bg1"/>
              </a:solidFill>
            </a:endParaRPr>
          </a:p>
          <a:p>
            <a:r>
              <a:rPr lang="en-US" altLang="zh-CN" dirty="0" err="1">
                <a:solidFill>
                  <a:schemeClr val="bg1"/>
                </a:solidFill>
              </a:rPr>
              <a:t>vZLK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oscillation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modulates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the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eccentricity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and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inclination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in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thousands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of years.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E309AA1-59F0-4FF9-5C2A-92FA82F6D3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852" y="2525546"/>
            <a:ext cx="5988961" cy="200255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2243AF4-8977-AE1D-9483-D9626E979DB3}"/>
              </a:ext>
            </a:extLst>
          </p:cNvPr>
          <p:cNvSpPr txBox="1"/>
          <p:nvPr/>
        </p:nvSpPr>
        <p:spPr>
          <a:xfrm>
            <a:off x="3174485" y="4663042"/>
            <a:ext cx="1699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solidFill>
                  <a:schemeClr val="bg1"/>
                </a:solidFill>
              </a:rPr>
              <a:t>Lee&amp;Peale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2003</a:t>
            </a:r>
            <a:endParaRPr lang="en-CN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252388-EE5D-7305-E4FA-721660E5E8C4}"/>
              </a:ext>
            </a:extLst>
          </p:cNvPr>
          <p:cNvSpPr txBox="1"/>
          <p:nvPr/>
        </p:nvSpPr>
        <p:spPr>
          <a:xfrm>
            <a:off x="7210465" y="2584983"/>
            <a:ext cx="4621314" cy="2002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000" dirty="0">
                <a:solidFill>
                  <a:schemeClr val="bg1"/>
                </a:solidFill>
                <a:highlight>
                  <a:srgbClr val="FF0000"/>
                </a:highlight>
              </a:rPr>
              <a:t>The</a:t>
            </a:r>
            <a:r>
              <a:rPr lang="zh-CN" altLang="en-US" sz="3000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3000" dirty="0">
                <a:solidFill>
                  <a:schemeClr val="bg1"/>
                </a:solidFill>
                <a:highlight>
                  <a:srgbClr val="FF0000"/>
                </a:highlight>
              </a:rPr>
              <a:t>eccentricity</a:t>
            </a:r>
            <a:r>
              <a:rPr lang="zh-CN" altLang="en-US" sz="3000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3000" dirty="0">
                <a:solidFill>
                  <a:schemeClr val="bg1"/>
                </a:solidFill>
                <a:highlight>
                  <a:srgbClr val="FF0000"/>
                </a:highlight>
              </a:rPr>
              <a:t>shapes</a:t>
            </a:r>
            <a:r>
              <a:rPr lang="zh-CN" altLang="en-US" sz="3000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3000" dirty="0">
                <a:solidFill>
                  <a:schemeClr val="bg1"/>
                </a:solidFill>
                <a:highlight>
                  <a:srgbClr val="FF0000"/>
                </a:highlight>
              </a:rPr>
              <a:t>the</a:t>
            </a:r>
            <a:r>
              <a:rPr lang="zh-CN" altLang="en-US" sz="3000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3000" dirty="0">
                <a:solidFill>
                  <a:schemeClr val="bg1"/>
                </a:solidFill>
                <a:highlight>
                  <a:srgbClr val="FF0000"/>
                </a:highlight>
              </a:rPr>
              <a:t>RV</a:t>
            </a:r>
            <a:r>
              <a:rPr lang="zh-CN" altLang="en-US" sz="3000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3000" dirty="0">
                <a:solidFill>
                  <a:schemeClr val="bg1"/>
                </a:solidFill>
                <a:highlight>
                  <a:srgbClr val="FF0000"/>
                </a:highlight>
              </a:rPr>
              <a:t>curve.</a:t>
            </a:r>
          </a:p>
          <a:p>
            <a:r>
              <a:rPr lang="en-US" altLang="zh-CN" sz="3000" dirty="0">
                <a:solidFill>
                  <a:schemeClr val="bg1"/>
                </a:solidFill>
                <a:highlight>
                  <a:srgbClr val="FF0000"/>
                </a:highlight>
              </a:rPr>
              <a:t>Mass</a:t>
            </a:r>
            <a:r>
              <a:rPr lang="zh-CN" altLang="en-US" sz="3000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3000" dirty="0">
                <a:solidFill>
                  <a:schemeClr val="bg1"/>
                </a:solidFill>
                <a:highlight>
                  <a:srgbClr val="FF0000"/>
                </a:highlight>
              </a:rPr>
              <a:t>and</a:t>
            </a:r>
            <a:r>
              <a:rPr lang="zh-CN" altLang="en-US" sz="3000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3000" dirty="0">
                <a:solidFill>
                  <a:schemeClr val="bg1"/>
                </a:solidFill>
                <a:highlight>
                  <a:srgbClr val="FF0000"/>
                </a:highlight>
              </a:rPr>
              <a:t>inclination</a:t>
            </a:r>
            <a:r>
              <a:rPr lang="zh-CN" altLang="en-US" sz="3000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3000" dirty="0">
                <a:solidFill>
                  <a:schemeClr val="bg1"/>
                </a:solidFill>
                <a:highlight>
                  <a:srgbClr val="FF0000"/>
                </a:highlight>
              </a:rPr>
              <a:t>are</a:t>
            </a:r>
            <a:r>
              <a:rPr lang="zh-CN" altLang="en-US" sz="3000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3000" dirty="0">
                <a:solidFill>
                  <a:schemeClr val="bg1"/>
                </a:solidFill>
                <a:highlight>
                  <a:srgbClr val="FF0000"/>
                </a:highlight>
              </a:rPr>
              <a:t>degenerate.</a:t>
            </a:r>
            <a:r>
              <a:rPr lang="zh-CN" altLang="en-US" sz="3000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endParaRPr lang="en-CN" sz="3000" dirty="0">
              <a:solidFill>
                <a:schemeClr val="bg1"/>
              </a:solidFill>
              <a:highlight>
                <a:srgbClr val="FF0000"/>
              </a:highlight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828366D-8D59-F77C-77D6-FB28ADB8ADA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859" r="-379"/>
          <a:stretch>
            <a:fillRect/>
          </a:stretch>
        </p:blipFill>
        <p:spPr>
          <a:xfrm>
            <a:off x="838200" y="205599"/>
            <a:ext cx="10813473" cy="512947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6A110A3-0012-104B-4138-E7F727AF4EE8}"/>
              </a:ext>
            </a:extLst>
          </p:cNvPr>
          <p:cNvSpPr txBox="1"/>
          <p:nvPr/>
        </p:nvSpPr>
        <p:spPr>
          <a:xfrm>
            <a:off x="925943" y="1415363"/>
            <a:ext cx="1061950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000" dirty="0">
                <a:solidFill>
                  <a:schemeClr val="bg1"/>
                </a:solidFill>
                <a:highlight>
                  <a:srgbClr val="FF0000"/>
                </a:highlight>
              </a:rPr>
              <a:t>In</a:t>
            </a:r>
            <a:r>
              <a:rPr lang="zh-CN" altLang="en-US" sz="3000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3000" dirty="0" err="1">
                <a:solidFill>
                  <a:schemeClr val="bg1"/>
                </a:solidFill>
                <a:highlight>
                  <a:srgbClr val="FF0000"/>
                </a:highlight>
              </a:rPr>
              <a:t>unrestrecited</a:t>
            </a:r>
            <a:r>
              <a:rPr lang="zh-CN" altLang="en-US" sz="3000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3000" dirty="0">
                <a:solidFill>
                  <a:schemeClr val="bg1"/>
                </a:solidFill>
                <a:highlight>
                  <a:srgbClr val="FF0000"/>
                </a:highlight>
              </a:rPr>
              <a:t>three-body</a:t>
            </a:r>
            <a:r>
              <a:rPr lang="zh-CN" altLang="en-US" sz="3000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3000" dirty="0">
                <a:solidFill>
                  <a:schemeClr val="bg1"/>
                </a:solidFill>
                <a:highlight>
                  <a:srgbClr val="FF0000"/>
                </a:highlight>
              </a:rPr>
              <a:t>simulations,</a:t>
            </a:r>
            <a:r>
              <a:rPr lang="zh-CN" altLang="en-US" sz="3000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3000" dirty="0">
                <a:solidFill>
                  <a:schemeClr val="bg1"/>
                </a:solidFill>
                <a:highlight>
                  <a:srgbClr val="FF0000"/>
                </a:highlight>
              </a:rPr>
              <a:t>the</a:t>
            </a:r>
            <a:r>
              <a:rPr lang="zh-CN" altLang="en-US" sz="3000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3000" dirty="0" err="1">
                <a:solidFill>
                  <a:schemeClr val="bg1"/>
                </a:solidFill>
                <a:highlight>
                  <a:srgbClr val="FF0000"/>
                </a:highlight>
              </a:rPr>
              <a:t>vZLK</a:t>
            </a:r>
            <a:r>
              <a:rPr lang="zh-CN" altLang="en-US" sz="3000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3000" dirty="0">
                <a:solidFill>
                  <a:schemeClr val="bg1"/>
                </a:solidFill>
                <a:highlight>
                  <a:srgbClr val="FF0000"/>
                </a:highlight>
              </a:rPr>
              <a:t>timescale</a:t>
            </a:r>
            <a:r>
              <a:rPr lang="zh-CN" altLang="en-US" sz="3000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3000" dirty="0">
                <a:solidFill>
                  <a:schemeClr val="bg1"/>
                </a:solidFill>
                <a:highlight>
                  <a:srgbClr val="FF0000"/>
                </a:highlight>
              </a:rPr>
              <a:t>decreases</a:t>
            </a:r>
            <a:r>
              <a:rPr lang="zh-CN" altLang="en-US" sz="3000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3000" dirty="0">
                <a:solidFill>
                  <a:schemeClr val="bg1"/>
                </a:solidFill>
                <a:highlight>
                  <a:srgbClr val="FF0000"/>
                </a:highlight>
              </a:rPr>
              <a:t>with</a:t>
            </a:r>
            <a:r>
              <a:rPr lang="zh-CN" altLang="en-US" sz="3000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3000" dirty="0">
                <a:solidFill>
                  <a:schemeClr val="bg1"/>
                </a:solidFill>
                <a:highlight>
                  <a:srgbClr val="FF0000"/>
                </a:highlight>
              </a:rPr>
              <a:t>inclination,</a:t>
            </a:r>
            <a:r>
              <a:rPr lang="zh-CN" altLang="en-US" sz="3000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3000" dirty="0">
                <a:solidFill>
                  <a:schemeClr val="bg1"/>
                </a:solidFill>
                <a:highlight>
                  <a:srgbClr val="FF0000"/>
                </a:highlight>
              </a:rPr>
              <a:t>with</a:t>
            </a:r>
            <a:r>
              <a:rPr lang="zh-CN" altLang="en-US" sz="3000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3000" dirty="0">
                <a:solidFill>
                  <a:schemeClr val="bg1"/>
                </a:solidFill>
                <a:highlight>
                  <a:srgbClr val="FF0000"/>
                </a:highlight>
              </a:rPr>
              <a:t>larger</a:t>
            </a:r>
            <a:r>
              <a:rPr lang="zh-CN" altLang="en-US" sz="3000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3000" dirty="0">
                <a:solidFill>
                  <a:schemeClr val="bg1"/>
                </a:solidFill>
                <a:highlight>
                  <a:srgbClr val="FF0000"/>
                </a:highlight>
              </a:rPr>
              <a:t>inclination</a:t>
            </a:r>
            <a:r>
              <a:rPr lang="zh-CN" altLang="en-US" sz="3000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3000" dirty="0">
                <a:solidFill>
                  <a:schemeClr val="bg1"/>
                </a:solidFill>
                <a:highlight>
                  <a:srgbClr val="FF0000"/>
                </a:highlight>
              </a:rPr>
              <a:t>oscillation</a:t>
            </a:r>
            <a:r>
              <a:rPr lang="zh-CN" altLang="en-US" sz="3000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3000" dirty="0">
                <a:solidFill>
                  <a:schemeClr val="bg1"/>
                </a:solidFill>
                <a:highlight>
                  <a:srgbClr val="FF0000"/>
                </a:highlight>
              </a:rPr>
              <a:t>range.</a:t>
            </a:r>
          </a:p>
          <a:p>
            <a:endParaRPr lang="en-US" altLang="zh-CN" sz="3000" dirty="0">
              <a:solidFill>
                <a:schemeClr val="bg1"/>
              </a:solidFill>
              <a:highlight>
                <a:srgbClr val="FF0000"/>
              </a:highlight>
            </a:endParaRPr>
          </a:p>
          <a:p>
            <a:r>
              <a:rPr lang="en-US" altLang="zh-CN" sz="3000" dirty="0">
                <a:solidFill>
                  <a:schemeClr val="bg1"/>
                </a:solidFill>
                <a:highlight>
                  <a:srgbClr val="FF0000"/>
                </a:highlight>
              </a:rPr>
              <a:t>The</a:t>
            </a:r>
            <a:r>
              <a:rPr lang="zh-CN" altLang="en-US" sz="3000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3000" dirty="0">
                <a:solidFill>
                  <a:schemeClr val="bg1"/>
                </a:solidFill>
                <a:highlight>
                  <a:srgbClr val="FF0000"/>
                </a:highlight>
              </a:rPr>
              <a:t>planets</a:t>
            </a:r>
            <a:r>
              <a:rPr lang="zh-CN" altLang="en-US" sz="3000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3000" dirty="0">
                <a:solidFill>
                  <a:schemeClr val="bg1"/>
                </a:solidFill>
                <a:highlight>
                  <a:srgbClr val="FF0000"/>
                </a:highlight>
              </a:rPr>
              <a:t>in</a:t>
            </a:r>
            <a:r>
              <a:rPr lang="zh-CN" altLang="en-US" sz="3000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3000" dirty="0">
                <a:solidFill>
                  <a:schemeClr val="bg1"/>
                </a:solidFill>
                <a:highlight>
                  <a:srgbClr val="FF0000"/>
                </a:highlight>
              </a:rPr>
              <a:t>compact</a:t>
            </a:r>
            <a:r>
              <a:rPr lang="zh-CN" altLang="en-US" sz="3000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3000" dirty="0">
                <a:solidFill>
                  <a:schemeClr val="bg1"/>
                </a:solidFill>
                <a:highlight>
                  <a:srgbClr val="FF0000"/>
                </a:highlight>
              </a:rPr>
              <a:t>and</a:t>
            </a:r>
            <a:r>
              <a:rPr lang="zh-CN" altLang="en-US" sz="3000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3000" dirty="0">
                <a:solidFill>
                  <a:schemeClr val="bg1"/>
                </a:solidFill>
                <a:highlight>
                  <a:srgbClr val="FF0000"/>
                </a:highlight>
              </a:rPr>
              <a:t>eccentric</a:t>
            </a:r>
            <a:r>
              <a:rPr lang="zh-CN" altLang="en-US" sz="3000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3000" dirty="0">
                <a:solidFill>
                  <a:schemeClr val="bg1"/>
                </a:solidFill>
                <a:highlight>
                  <a:srgbClr val="FF0000"/>
                </a:highlight>
              </a:rPr>
              <a:t>binaries</a:t>
            </a:r>
            <a:r>
              <a:rPr lang="zh-CN" altLang="en-US" sz="3000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3000" dirty="0">
                <a:solidFill>
                  <a:schemeClr val="bg1"/>
                </a:solidFill>
                <a:highlight>
                  <a:srgbClr val="FF0000"/>
                </a:highlight>
              </a:rPr>
              <a:t>are</a:t>
            </a:r>
            <a:r>
              <a:rPr lang="zh-CN" altLang="en-US" sz="3000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3000" dirty="0">
                <a:solidFill>
                  <a:schemeClr val="bg1"/>
                </a:solidFill>
                <a:highlight>
                  <a:srgbClr val="FF0000"/>
                </a:highlight>
              </a:rPr>
              <a:t>more</a:t>
            </a:r>
            <a:r>
              <a:rPr lang="zh-CN" altLang="en-US" sz="3000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3000" dirty="0">
                <a:solidFill>
                  <a:schemeClr val="bg1"/>
                </a:solidFill>
                <a:highlight>
                  <a:srgbClr val="FF0000"/>
                </a:highlight>
              </a:rPr>
              <a:t>sensitive</a:t>
            </a:r>
            <a:r>
              <a:rPr lang="zh-CN" altLang="en-US" sz="3000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3000" dirty="0">
                <a:solidFill>
                  <a:schemeClr val="bg1"/>
                </a:solidFill>
                <a:highlight>
                  <a:srgbClr val="FF0000"/>
                </a:highlight>
              </a:rPr>
              <a:t>to</a:t>
            </a:r>
            <a:r>
              <a:rPr lang="zh-CN" altLang="en-US" sz="3000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3000" dirty="0">
                <a:solidFill>
                  <a:schemeClr val="bg1"/>
                </a:solidFill>
                <a:highlight>
                  <a:srgbClr val="FF0000"/>
                </a:highlight>
              </a:rPr>
              <a:t>the</a:t>
            </a:r>
            <a:r>
              <a:rPr lang="zh-CN" altLang="en-US" sz="3000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3000" dirty="0">
                <a:solidFill>
                  <a:schemeClr val="bg1"/>
                </a:solidFill>
                <a:highlight>
                  <a:srgbClr val="FF0000"/>
                </a:highlight>
              </a:rPr>
              <a:t>RV</a:t>
            </a:r>
            <a:r>
              <a:rPr lang="zh-CN" altLang="en-US" sz="3000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3000" dirty="0">
                <a:solidFill>
                  <a:schemeClr val="bg1"/>
                </a:solidFill>
                <a:highlight>
                  <a:srgbClr val="FF0000"/>
                </a:highlight>
              </a:rPr>
              <a:t>measurements:</a:t>
            </a:r>
            <a:r>
              <a:rPr lang="zh-CN" altLang="en-US" sz="3000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3000" dirty="0">
                <a:solidFill>
                  <a:schemeClr val="bg1"/>
                </a:solidFill>
                <a:highlight>
                  <a:srgbClr val="FF0000"/>
                </a:highlight>
              </a:rPr>
              <a:t>larger</a:t>
            </a:r>
            <a:r>
              <a:rPr lang="zh-CN" altLang="en-US" sz="3000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3000" dirty="0">
                <a:solidFill>
                  <a:schemeClr val="bg1"/>
                </a:solidFill>
                <a:highlight>
                  <a:srgbClr val="FF0000"/>
                </a:highlight>
              </a:rPr>
              <a:t>oscillation</a:t>
            </a:r>
            <a:r>
              <a:rPr lang="zh-CN" altLang="en-US" sz="3000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3000" dirty="0">
                <a:solidFill>
                  <a:schemeClr val="bg1"/>
                </a:solidFill>
                <a:highlight>
                  <a:srgbClr val="FF0000"/>
                </a:highlight>
              </a:rPr>
              <a:t>range,</a:t>
            </a:r>
            <a:r>
              <a:rPr lang="zh-CN" altLang="en-US" sz="3000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3000" dirty="0">
                <a:solidFill>
                  <a:schemeClr val="bg1"/>
                </a:solidFill>
                <a:highlight>
                  <a:srgbClr val="FF0000"/>
                </a:highlight>
              </a:rPr>
              <a:t>smaller</a:t>
            </a:r>
            <a:r>
              <a:rPr lang="zh-CN" altLang="en-US" sz="3000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3000" dirty="0" err="1">
                <a:solidFill>
                  <a:schemeClr val="bg1"/>
                </a:solidFill>
                <a:highlight>
                  <a:srgbClr val="FF0000"/>
                </a:highlight>
              </a:rPr>
              <a:t>vZLK</a:t>
            </a:r>
            <a:r>
              <a:rPr lang="zh-CN" altLang="en-US" sz="3000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3000" dirty="0">
                <a:solidFill>
                  <a:schemeClr val="bg1"/>
                </a:solidFill>
                <a:highlight>
                  <a:srgbClr val="FF0000"/>
                </a:highlight>
              </a:rPr>
              <a:t>timescale.</a:t>
            </a:r>
            <a:endParaRPr lang="en-CN" sz="3000" dirty="0">
              <a:solidFill>
                <a:schemeClr val="bg1"/>
              </a:solidFill>
              <a:highlight>
                <a:srgbClr val="FF0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562404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F78A9-377B-2283-D7ED-F9F6C8454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372B2-318D-D295-6B5C-36FB606C9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err="1">
                <a:solidFill>
                  <a:schemeClr val="bg1"/>
                </a:solidFill>
              </a:rPr>
              <a:t>vZLK</a:t>
            </a:r>
            <a:r>
              <a:rPr lang="en-US" altLang="zh-CN" b="1" dirty="0">
                <a:solidFill>
                  <a:schemeClr val="bg1"/>
                </a:solidFill>
              </a:rPr>
              <a:t>-induced</a:t>
            </a:r>
            <a:r>
              <a:rPr lang="zh-CN" altLang="en-US" b="1" dirty="0">
                <a:solidFill>
                  <a:schemeClr val="bg1"/>
                </a:solidFill>
              </a:rPr>
              <a:t> </a:t>
            </a:r>
            <a:r>
              <a:rPr lang="en-US" altLang="zh-CN" b="1" dirty="0">
                <a:solidFill>
                  <a:schemeClr val="bg1"/>
                </a:solidFill>
              </a:rPr>
              <a:t>planetary</a:t>
            </a:r>
            <a:r>
              <a:rPr lang="zh-CN" altLang="en-US" b="1" dirty="0">
                <a:solidFill>
                  <a:schemeClr val="bg1"/>
                </a:solidFill>
              </a:rPr>
              <a:t> </a:t>
            </a:r>
            <a:r>
              <a:rPr lang="en-US" altLang="zh-CN" b="1" dirty="0">
                <a:solidFill>
                  <a:schemeClr val="bg1"/>
                </a:solidFill>
              </a:rPr>
              <a:t>RV</a:t>
            </a:r>
            <a:r>
              <a:rPr lang="zh-CN" altLang="en-US" b="1" dirty="0">
                <a:solidFill>
                  <a:schemeClr val="bg1"/>
                </a:solidFill>
              </a:rPr>
              <a:t> </a:t>
            </a:r>
            <a:r>
              <a:rPr lang="en-US" altLang="zh-CN" b="1" dirty="0">
                <a:solidFill>
                  <a:schemeClr val="bg1"/>
                </a:solidFill>
              </a:rPr>
              <a:t>signatures</a:t>
            </a:r>
            <a:endParaRPr lang="en-CN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935EC7-4863-BB23-60F9-7AE5DF7BFB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237" y="1663411"/>
            <a:ext cx="10903526" cy="4829463"/>
          </a:xfrm>
        </p:spPr>
        <p:txBody>
          <a:bodyPr/>
          <a:lstStyle/>
          <a:p>
            <a:r>
              <a:rPr lang="en-CN" dirty="0">
                <a:solidFill>
                  <a:schemeClr val="bg1"/>
                </a:solidFill>
              </a:rPr>
              <a:t>For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different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inclinations,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the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simulated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RV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of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 err="1">
                <a:solidFill>
                  <a:schemeClr val="bg1"/>
                </a:solidFill>
              </a:rPr>
              <a:t>Ab+B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fits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the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observation.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altLang="zh-CN" dirty="0">
                <a:solidFill>
                  <a:schemeClr val="bg1"/>
                </a:solidFill>
              </a:rPr>
              <a:t>From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the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simulation,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we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can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assess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the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planetary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RV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signals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over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different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timescales.</a:t>
            </a:r>
          </a:p>
          <a:p>
            <a:r>
              <a:rPr lang="en-US" altLang="zh-CN" dirty="0">
                <a:solidFill>
                  <a:schemeClr val="bg1"/>
                </a:solidFill>
              </a:rPr>
              <a:t>Full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cycle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of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 err="1">
                <a:solidFill>
                  <a:schemeClr val="bg1"/>
                </a:solidFill>
              </a:rPr>
              <a:t>vZLK</a:t>
            </a:r>
            <a:r>
              <a:rPr lang="en-US" altLang="zh-CN" dirty="0">
                <a:solidFill>
                  <a:schemeClr val="bg1"/>
                </a:solidFill>
              </a:rPr>
              <a:t>: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  <a:highlight>
                  <a:srgbClr val="FF0000"/>
                </a:highlight>
              </a:rPr>
              <a:t>Changes</a:t>
            </a:r>
            <a:r>
              <a:rPr lang="zh-CN" altLang="en-US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dirty="0">
                <a:solidFill>
                  <a:schemeClr val="bg1"/>
                </a:solidFill>
                <a:highlight>
                  <a:srgbClr val="FF0000"/>
                </a:highlight>
              </a:rPr>
              <a:t>in</a:t>
            </a:r>
            <a:r>
              <a:rPr lang="zh-CN" altLang="en-US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dirty="0">
                <a:solidFill>
                  <a:schemeClr val="bg1"/>
                </a:solidFill>
                <a:highlight>
                  <a:srgbClr val="FF0000"/>
                </a:highlight>
              </a:rPr>
              <a:t>semi-amplitude</a:t>
            </a:r>
            <a:r>
              <a:rPr lang="zh-CN" altLang="en-US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dirty="0">
                <a:solidFill>
                  <a:schemeClr val="bg1"/>
                </a:solidFill>
                <a:highlight>
                  <a:srgbClr val="FF0000"/>
                </a:highlight>
              </a:rPr>
              <a:t>of</a:t>
            </a:r>
            <a:r>
              <a:rPr lang="zh-CN" altLang="en-US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dirty="0">
                <a:solidFill>
                  <a:schemeClr val="bg1"/>
                </a:solidFill>
                <a:highlight>
                  <a:srgbClr val="FF0000"/>
                </a:highlight>
              </a:rPr>
              <a:t>RV</a:t>
            </a:r>
            <a:r>
              <a:rPr lang="zh-CN" altLang="en-US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dirty="0">
                <a:solidFill>
                  <a:schemeClr val="bg1"/>
                </a:solidFill>
                <a:highlight>
                  <a:srgbClr val="FF0000"/>
                </a:highlight>
              </a:rPr>
              <a:t>and</a:t>
            </a:r>
            <a:r>
              <a:rPr lang="zh-CN" altLang="en-US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dirty="0">
                <a:solidFill>
                  <a:schemeClr val="bg1"/>
                </a:solidFill>
                <a:highlight>
                  <a:srgbClr val="FF0000"/>
                </a:highlight>
              </a:rPr>
              <a:t>curve</a:t>
            </a:r>
            <a:r>
              <a:rPr lang="zh-CN" altLang="en-US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dirty="0">
                <a:solidFill>
                  <a:schemeClr val="bg1"/>
                </a:solidFill>
                <a:highlight>
                  <a:srgbClr val="FF0000"/>
                </a:highlight>
              </a:rPr>
              <a:t>shape.</a:t>
            </a:r>
            <a:endParaRPr lang="en-US" dirty="0">
              <a:solidFill>
                <a:schemeClr val="bg1"/>
              </a:solidFill>
              <a:highlight>
                <a:srgbClr val="FF0000"/>
              </a:highlight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CN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C1BFBE-3BD2-1BAA-E053-7864F4B866E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9568"/>
          <a:stretch>
            <a:fillRect/>
          </a:stretch>
        </p:blipFill>
        <p:spPr>
          <a:xfrm>
            <a:off x="838200" y="2178078"/>
            <a:ext cx="4246418" cy="250184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E22FB73-3A9C-FD0A-74C7-DEA6AC00C6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4618" y="2178078"/>
            <a:ext cx="6310208" cy="250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8157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1856A-8D81-E74C-0E9A-45258BDA6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B6064-9A86-FE1F-8157-8D617D561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err="1">
                <a:solidFill>
                  <a:schemeClr val="bg1"/>
                </a:solidFill>
              </a:rPr>
              <a:t>vZLK</a:t>
            </a:r>
            <a:r>
              <a:rPr lang="en-US" altLang="zh-CN" b="1" dirty="0">
                <a:solidFill>
                  <a:schemeClr val="bg1"/>
                </a:solidFill>
              </a:rPr>
              <a:t>-induced</a:t>
            </a:r>
            <a:r>
              <a:rPr lang="zh-CN" altLang="en-US" b="1" dirty="0">
                <a:solidFill>
                  <a:schemeClr val="bg1"/>
                </a:solidFill>
              </a:rPr>
              <a:t> </a:t>
            </a:r>
            <a:r>
              <a:rPr lang="en-US" altLang="zh-CN" b="1" dirty="0">
                <a:solidFill>
                  <a:schemeClr val="bg1"/>
                </a:solidFill>
              </a:rPr>
              <a:t>planetary</a:t>
            </a:r>
            <a:r>
              <a:rPr lang="zh-CN" altLang="en-US" b="1" dirty="0">
                <a:solidFill>
                  <a:schemeClr val="bg1"/>
                </a:solidFill>
              </a:rPr>
              <a:t> </a:t>
            </a:r>
            <a:r>
              <a:rPr lang="en-US" altLang="zh-CN" b="1" dirty="0">
                <a:solidFill>
                  <a:schemeClr val="bg1"/>
                </a:solidFill>
              </a:rPr>
              <a:t>RV</a:t>
            </a:r>
            <a:r>
              <a:rPr lang="zh-CN" altLang="en-US" b="1" dirty="0">
                <a:solidFill>
                  <a:schemeClr val="bg1"/>
                </a:solidFill>
              </a:rPr>
              <a:t> </a:t>
            </a:r>
            <a:r>
              <a:rPr lang="en-US" altLang="zh-CN" b="1" dirty="0">
                <a:solidFill>
                  <a:schemeClr val="bg1"/>
                </a:solidFill>
              </a:rPr>
              <a:t>signatures</a:t>
            </a:r>
            <a:endParaRPr lang="en-CN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676FE9-B60F-9E3F-411F-264C6B758F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3118" y="1825625"/>
            <a:ext cx="10785764" cy="4667250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Observational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decades: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  <a:highlight>
                  <a:srgbClr val="FF0000"/>
                </a:highlight>
              </a:rPr>
              <a:t>1.9m/s/year</a:t>
            </a:r>
            <a:r>
              <a:rPr lang="zh-CN" altLang="en-US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dirty="0">
                <a:solidFill>
                  <a:schemeClr val="bg1"/>
                </a:solidFill>
                <a:highlight>
                  <a:srgbClr val="FF0000"/>
                </a:highlight>
              </a:rPr>
              <a:t>for</a:t>
            </a:r>
            <a:r>
              <a:rPr lang="zh-CN" altLang="en-US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dirty="0">
                <a:solidFill>
                  <a:schemeClr val="bg1"/>
                </a:solidFill>
                <a:highlight>
                  <a:srgbClr val="FF0000"/>
                </a:highlight>
              </a:rPr>
              <a:t>75deg</a:t>
            </a:r>
            <a:r>
              <a:rPr lang="zh-CN" altLang="en-US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dirty="0">
                <a:solidFill>
                  <a:schemeClr val="bg1"/>
                </a:solidFill>
                <a:highlight>
                  <a:srgbClr val="FF0000"/>
                </a:highlight>
              </a:rPr>
              <a:t>in</a:t>
            </a:r>
            <a:r>
              <a:rPr lang="zh-CN" altLang="en-US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dirty="0">
                <a:solidFill>
                  <a:schemeClr val="bg1"/>
                </a:solidFill>
                <a:highlight>
                  <a:srgbClr val="FF0000"/>
                </a:highlight>
              </a:rPr>
              <a:t>circular</a:t>
            </a:r>
            <a:r>
              <a:rPr lang="zh-CN" altLang="en-US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dirty="0">
                <a:solidFill>
                  <a:schemeClr val="bg1"/>
                </a:solidFill>
                <a:highlight>
                  <a:srgbClr val="FF0000"/>
                </a:highlight>
              </a:rPr>
              <a:t>binary.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altLang="zh-CN" dirty="0">
                <a:solidFill>
                  <a:schemeClr val="bg1"/>
                </a:solidFill>
              </a:rPr>
              <a:t>For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larger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binary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separation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or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lower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inclination,</a:t>
            </a:r>
            <a:r>
              <a:rPr lang="zh-CN" altLang="en-US" dirty="0">
                <a:solidFill>
                  <a:schemeClr val="bg1"/>
                </a:solidFill>
              </a:rPr>
              <a:t>  </a:t>
            </a:r>
            <a:r>
              <a:rPr lang="en-US" altLang="zh-CN" dirty="0">
                <a:solidFill>
                  <a:schemeClr val="bg1"/>
                </a:solidFill>
              </a:rPr>
              <a:t>the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RV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drift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decreases.</a:t>
            </a:r>
            <a:endParaRPr lang="en-CN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D5A4B4-72D2-B094-BDE9-CD7822C50C5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1919"/>
          <a:stretch>
            <a:fillRect/>
          </a:stretch>
        </p:blipFill>
        <p:spPr>
          <a:xfrm>
            <a:off x="733063" y="2510559"/>
            <a:ext cx="5362937" cy="329738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39AB2FE-A25E-A3CC-4125-62689C1944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1919"/>
          <a:stretch>
            <a:fillRect/>
          </a:stretch>
        </p:blipFill>
        <p:spPr>
          <a:xfrm>
            <a:off x="6096000" y="2510559"/>
            <a:ext cx="5362937" cy="3297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003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B8663-051C-F7AF-F6E9-638B768DC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023DD-2337-D81B-87B2-DB5342536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800" b="1" dirty="0">
                <a:solidFill>
                  <a:schemeClr val="bg1"/>
                </a:solidFill>
              </a:rPr>
              <a:t>Observational</a:t>
            </a:r>
            <a:r>
              <a:rPr lang="zh-CN" altLang="en-US" sz="3800" b="1" dirty="0">
                <a:solidFill>
                  <a:schemeClr val="bg1"/>
                </a:solidFill>
              </a:rPr>
              <a:t> </a:t>
            </a:r>
            <a:r>
              <a:rPr lang="en-US" altLang="zh-CN" sz="3800" b="1" dirty="0">
                <a:solidFill>
                  <a:schemeClr val="bg1"/>
                </a:solidFill>
              </a:rPr>
              <a:t>Prospects</a:t>
            </a:r>
            <a:r>
              <a:rPr lang="zh-CN" altLang="en-US" sz="3800" b="1" dirty="0">
                <a:solidFill>
                  <a:schemeClr val="bg1"/>
                </a:solidFill>
              </a:rPr>
              <a:t> </a:t>
            </a:r>
            <a:r>
              <a:rPr lang="en-US" altLang="zh-CN" sz="3800" b="1" dirty="0">
                <a:solidFill>
                  <a:schemeClr val="bg1"/>
                </a:solidFill>
              </a:rPr>
              <a:t>for</a:t>
            </a:r>
            <a:r>
              <a:rPr lang="zh-CN" altLang="en-US" sz="3800" b="1" dirty="0">
                <a:solidFill>
                  <a:schemeClr val="bg1"/>
                </a:solidFill>
              </a:rPr>
              <a:t> </a:t>
            </a:r>
            <a:r>
              <a:rPr lang="en-US" altLang="zh-CN" sz="3800" b="1" dirty="0">
                <a:solidFill>
                  <a:schemeClr val="bg1"/>
                </a:solidFill>
              </a:rPr>
              <a:t>Dynamical</a:t>
            </a:r>
            <a:r>
              <a:rPr lang="zh-CN" altLang="en-US" sz="3800" b="1" dirty="0">
                <a:solidFill>
                  <a:schemeClr val="bg1"/>
                </a:solidFill>
              </a:rPr>
              <a:t> </a:t>
            </a:r>
            <a:r>
              <a:rPr lang="en-US" altLang="zh-CN" sz="3800" b="1" dirty="0">
                <a:solidFill>
                  <a:schemeClr val="bg1"/>
                </a:solidFill>
              </a:rPr>
              <a:t>Signatures</a:t>
            </a:r>
            <a:endParaRPr lang="en-CN" sz="3800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D89637-A24B-2E94-70C1-12A9DD08EA1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>
                    <a:solidFill>
                      <a:schemeClr val="bg1"/>
                    </a:solidFill>
                  </a:rPr>
                  <a:t>For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a larger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minimum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mass,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the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peak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semi-amplitude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of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increases.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For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a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smaller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minimum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mass,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it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decreases.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 </a:t>
                </a:r>
                <a:r>
                  <a:rPr lang="en-US" altLang="zh-CN" dirty="0">
                    <a:solidFill>
                      <a:schemeClr val="bg1"/>
                    </a:solidFill>
                    <a:highlight>
                      <a:srgbClr val="FF0000"/>
                    </a:highlight>
                  </a:rPr>
                  <a:t>(below</a:t>
                </a:r>
                <a:r>
                  <a:rPr lang="zh-CN" altLang="en-US" dirty="0">
                    <a:solidFill>
                      <a:schemeClr val="bg1"/>
                    </a:solidFill>
                    <a:highlight>
                      <a:srgbClr val="FF0000"/>
                    </a:highlight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  <a:highlight>
                      <a:srgbClr val="FF0000"/>
                    </a:highlight>
                  </a:rPr>
                  <a:t>0.5</a:t>
                </a:r>
                <a:r>
                  <a:rPr lang="zh-CN" altLang="en-US" dirty="0">
                    <a:solidFill>
                      <a:schemeClr val="bg1"/>
                    </a:solidFill>
                    <a:highlight>
                      <a:srgbClr val="FF0000"/>
                    </a:highlight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  <a:highlight>
                      <a:srgbClr val="FF0000"/>
                    </a:highlight>
                  </a:rPr>
                  <a:t>m/s/year,</a:t>
                </a:r>
                <a:r>
                  <a:rPr lang="zh-CN" altLang="en-US" dirty="0">
                    <a:solidFill>
                      <a:schemeClr val="bg1"/>
                    </a:solidFill>
                    <a:highlight>
                      <a:srgbClr val="FF0000"/>
                    </a:highlight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  <a:highlight>
                      <a:srgbClr val="FF0000"/>
                    </a:highlight>
                  </a:rPr>
                  <a:t>superimposed</a:t>
                </a:r>
                <a:r>
                  <a:rPr lang="zh-CN" altLang="en-US" dirty="0">
                    <a:solidFill>
                      <a:schemeClr val="bg1"/>
                    </a:solidFill>
                    <a:highlight>
                      <a:srgbClr val="FF0000"/>
                    </a:highlight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  <a:highlight>
                      <a:srgbClr val="FF0000"/>
                    </a:highlight>
                  </a:rPr>
                  <a:t>on</a:t>
                </a:r>
                <a:r>
                  <a:rPr lang="zh-CN" altLang="en-US" dirty="0">
                    <a:solidFill>
                      <a:schemeClr val="bg1"/>
                    </a:solidFill>
                    <a:highlight>
                      <a:srgbClr val="FF0000"/>
                    </a:highlight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  <a:highlight>
                      <a:srgbClr val="FF0000"/>
                    </a:highlight>
                  </a:rPr>
                  <a:t>the</a:t>
                </a:r>
                <a:r>
                  <a:rPr lang="zh-CN" altLang="en-US" dirty="0">
                    <a:solidFill>
                      <a:schemeClr val="bg1"/>
                    </a:solidFill>
                    <a:highlight>
                      <a:srgbClr val="FF0000"/>
                    </a:highlight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  <a:highlight>
                      <a:srgbClr val="FF0000"/>
                    </a:highlight>
                  </a:rPr>
                  <a:t>~1.9</a:t>
                </a:r>
                <a:r>
                  <a:rPr lang="zh-CN" altLang="en-US" dirty="0">
                    <a:solidFill>
                      <a:schemeClr val="bg1"/>
                    </a:solidFill>
                    <a:highlight>
                      <a:srgbClr val="FF0000"/>
                    </a:highlight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  <a:highlight>
                      <a:srgbClr val="FF0000"/>
                    </a:highlight>
                  </a:rPr>
                  <a:t>m/s/year</a:t>
                </a:r>
                <a:r>
                  <a:rPr lang="zh-CN" altLang="en-US" dirty="0">
                    <a:solidFill>
                      <a:schemeClr val="bg1"/>
                    </a:solidFill>
                    <a:highlight>
                      <a:srgbClr val="FF0000"/>
                    </a:highlight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  <a:highlight>
                      <a:srgbClr val="FF0000"/>
                    </a:highlight>
                  </a:rPr>
                  <a:t>in</a:t>
                </a:r>
                <a:r>
                  <a:rPr lang="zh-CN" altLang="en-US" dirty="0">
                    <a:solidFill>
                      <a:schemeClr val="bg1"/>
                    </a:solidFill>
                    <a:highlight>
                      <a:srgbClr val="FF0000"/>
                    </a:highlight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  <a:highlight>
                      <a:srgbClr val="FF0000"/>
                    </a:highlight>
                  </a:rPr>
                  <a:t>high</a:t>
                </a:r>
                <a:r>
                  <a:rPr lang="zh-CN" altLang="en-US" dirty="0">
                    <a:solidFill>
                      <a:schemeClr val="bg1"/>
                    </a:solidFill>
                    <a:highlight>
                      <a:srgbClr val="FF0000"/>
                    </a:highlight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  <a:highlight>
                      <a:srgbClr val="FF0000"/>
                    </a:highlight>
                  </a:rPr>
                  <a:t>inclination</a:t>
                </a:r>
                <a:r>
                  <a:rPr lang="zh-CN" altLang="en-US" dirty="0">
                    <a:solidFill>
                      <a:schemeClr val="bg1"/>
                    </a:solidFill>
                    <a:highlight>
                      <a:srgbClr val="FF0000"/>
                    </a:highlight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  <a:highlight>
                      <a:srgbClr val="FF0000"/>
                    </a:highlight>
                  </a:rPr>
                  <a:t>configuration.)</a:t>
                </a:r>
              </a:p>
              <a:p>
                <a:r>
                  <a:rPr lang="en-US" altLang="zh-CN" dirty="0">
                    <a:solidFill>
                      <a:schemeClr val="bg1"/>
                    </a:solidFill>
                  </a:rPr>
                  <a:t>Next-generation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spectrographs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detect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RV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with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chemeClr val="bg1"/>
                        </a:solidFill>
                        <a:highlight>
                          <a:srgbClr val="FF0000"/>
                        </a:highlight>
                        <a:latin typeface="Cambria Math" panose="02040503050406030204" pitchFamily="18" charset="0"/>
                      </a:rPr>
                      <m:t>∼</m:t>
                    </m:r>
                  </m:oMath>
                </a14:m>
                <a:r>
                  <a:rPr lang="en-US" altLang="zh-CN" dirty="0">
                    <a:solidFill>
                      <a:schemeClr val="bg1"/>
                    </a:solidFill>
                    <a:highlight>
                      <a:srgbClr val="FF0000"/>
                    </a:highlight>
                  </a:rPr>
                  <a:t>10</a:t>
                </a:r>
                <a:r>
                  <a:rPr lang="zh-CN" altLang="en-US" dirty="0">
                    <a:solidFill>
                      <a:schemeClr val="bg1"/>
                    </a:solidFill>
                    <a:highlight>
                      <a:srgbClr val="FF0000"/>
                    </a:highlight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  <a:highlight>
                      <a:srgbClr val="FF0000"/>
                    </a:highlight>
                  </a:rPr>
                  <a:t>cm/s</a:t>
                </a:r>
                <a:r>
                  <a:rPr lang="zh-CN" altLang="en-US" dirty="0">
                    <a:solidFill>
                      <a:schemeClr val="bg1"/>
                    </a:solidFill>
                    <a:highlight>
                      <a:srgbClr val="FF0000"/>
                    </a:highlight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  <a:highlight>
                      <a:srgbClr val="FF0000"/>
                    </a:highlight>
                  </a:rPr>
                  <a:t>to</a:t>
                </a:r>
                <a:r>
                  <a:rPr lang="zh-CN" altLang="en-US" dirty="0">
                    <a:solidFill>
                      <a:schemeClr val="bg1"/>
                    </a:solidFill>
                    <a:highlight>
                      <a:srgbClr val="FF0000"/>
                    </a:highlight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  <a:highlight>
                      <a:srgbClr val="FF0000"/>
                    </a:highlight>
                  </a:rPr>
                  <a:t>1</a:t>
                </a:r>
                <a:r>
                  <a:rPr lang="zh-CN" altLang="en-US" dirty="0">
                    <a:solidFill>
                      <a:schemeClr val="bg1"/>
                    </a:solidFill>
                    <a:highlight>
                      <a:srgbClr val="FF0000"/>
                    </a:highlight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  <a:highlight>
                      <a:srgbClr val="FF0000"/>
                    </a:highlight>
                  </a:rPr>
                  <a:t>m/s</a:t>
                </a:r>
                <a:r>
                  <a:rPr lang="zh-CN" altLang="en-US" dirty="0">
                    <a:solidFill>
                      <a:schemeClr val="bg1"/>
                    </a:solidFill>
                    <a:highlight>
                      <a:srgbClr val="FF0000"/>
                    </a:highlight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precision, capture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this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dynamical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influence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on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RV,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  <a:highlight>
                      <a:srgbClr val="FF0000"/>
                    </a:highlight>
                  </a:rPr>
                  <a:t>constrain</a:t>
                </a:r>
                <a:r>
                  <a:rPr lang="zh-CN" altLang="en-US" dirty="0">
                    <a:solidFill>
                      <a:schemeClr val="bg1"/>
                    </a:solidFill>
                    <a:highlight>
                      <a:srgbClr val="FF0000"/>
                    </a:highlight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  <a:highlight>
                      <a:srgbClr val="FF0000"/>
                    </a:highlight>
                  </a:rPr>
                  <a:t>the</a:t>
                </a:r>
                <a:r>
                  <a:rPr lang="zh-CN" altLang="en-US" dirty="0">
                    <a:solidFill>
                      <a:schemeClr val="bg1"/>
                    </a:solidFill>
                    <a:highlight>
                      <a:srgbClr val="FF0000"/>
                    </a:highlight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  <a:highlight>
                      <a:srgbClr val="FF0000"/>
                    </a:highlight>
                  </a:rPr>
                  <a:t>system’s</a:t>
                </a:r>
                <a:r>
                  <a:rPr lang="zh-CN" altLang="en-US" dirty="0">
                    <a:solidFill>
                      <a:schemeClr val="bg1"/>
                    </a:solidFill>
                    <a:highlight>
                      <a:srgbClr val="FF0000"/>
                    </a:highlight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  <a:highlight>
                      <a:srgbClr val="FF0000"/>
                    </a:highlight>
                  </a:rPr>
                  <a:t>configuration,</a:t>
                </a:r>
                <a:r>
                  <a:rPr lang="zh-CN" altLang="en-US" dirty="0">
                    <a:solidFill>
                      <a:schemeClr val="bg1"/>
                    </a:solidFill>
                    <a:highlight>
                      <a:srgbClr val="FF0000"/>
                    </a:highlight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  <a:highlight>
                      <a:srgbClr val="FF0000"/>
                    </a:highlight>
                  </a:rPr>
                  <a:t>or</a:t>
                </a:r>
                <a:r>
                  <a:rPr lang="zh-CN" altLang="en-US" dirty="0">
                    <a:solidFill>
                      <a:schemeClr val="bg1"/>
                    </a:solidFill>
                    <a:highlight>
                      <a:srgbClr val="FF0000"/>
                    </a:highlight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  <a:highlight>
                      <a:srgbClr val="FF0000"/>
                    </a:highlight>
                  </a:rPr>
                  <a:t>break</a:t>
                </a:r>
                <a:r>
                  <a:rPr lang="zh-CN" altLang="en-US" dirty="0">
                    <a:solidFill>
                      <a:schemeClr val="bg1"/>
                    </a:solidFill>
                    <a:highlight>
                      <a:srgbClr val="FF0000"/>
                    </a:highlight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  <a:highlight>
                      <a:srgbClr val="FF0000"/>
                    </a:highlight>
                  </a:rPr>
                  <a:t>the</a:t>
                </a:r>
                <a:r>
                  <a:rPr lang="zh-CN" altLang="en-US" dirty="0">
                    <a:solidFill>
                      <a:schemeClr val="bg1"/>
                    </a:solidFill>
                    <a:highlight>
                      <a:srgbClr val="FF0000"/>
                    </a:highlight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  <a:highlight>
                      <a:srgbClr val="FF0000"/>
                    </a:highlight>
                  </a:rPr>
                  <a:t>mass-inclination degeneracy.</a:t>
                </a:r>
              </a:p>
              <a:p>
                <a:r>
                  <a:rPr lang="en-US" altLang="zh-CN" dirty="0">
                    <a:solidFill>
                      <a:schemeClr val="bg1"/>
                    </a:solidFill>
                  </a:rPr>
                  <a:t>Combined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with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astronomic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data,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both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the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binary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and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planetary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orbits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could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be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constrained.</a:t>
                </a:r>
                <a:r>
                  <a:rPr lang="zh-CN" altLang="en-US" dirty="0">
                    <a:solidFill>
                      <a:schemeClr val="bg1"/>
                    </a:solidFill>
                    <a:highlight>
                      <a:srgbClr val="FF0000"/>
                    </a:highlight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  <a:highlight>
                      <a:srgbClr val="FF0000"/>
                    </a:highlight>
                  </a:rPr>
                  <a:t>Future</a:t>
                </a:r>
                <a:r>
                  <a:rPr lang="zh-CN" altLang="en-US" dirty="0">
                    <a:solidFill>
                      <a:schemeClr val="bg1"/>
                    </a:solidFill>
                    <a:highlight>
                      <a:srgbClr val="FF0000"/>
                    </a:highlight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  <a:highlight>
                      <a:srgbClr val="FF0000"/>
                    </a:highlight>
                  </a:rPr>
                  <a:t>high-cadence</a:t>
                </a:r>
                <a:r>
                  <a:rPr lang="zh-CN" altLang="en-US" dirty="0">
                    <a:solidFill>
                      <a:schemeClr val="bg1"/>
                    </a:solidFill>
                    <a:highlight>
                      <a:srgbClr val="FF0000"/>
                    </a:highlight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  <a:highlight>
                      <a:srgbClr val="FF0000"/>
                    </a:highlight>
                  </a:rPr>
                  <a:t>RV</a:t>
                </a:r>
                <a:r>
                  <a:rPr lang="zh-CN" altLang="en-US" dirty="0">
                    <a:solidFill>
                      <a:schemeClr val="bg1"/>
                    </a:solidFill>
                    <a:highlight>
                      <a:srgbClr val="FF0000"/>
                    </a:highlight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  <a:highlight>
                      <a:srgbClr val="FF0000"/>
                    </a:highlight>
                  </a:rPr>
                  <a:t>observations</a:t>
                </a:r>
                <a:r>
                  <a:rPr lang="zh-CN" altLang="en-US" dirty="0">
                    <a:solidFill>
                      <a:schemeClr val="bg1"/>
                    </a:solidFill>
                    <a:highlight>
                      <a:srgbClr val="FF0000"/>
                    </a:highlight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  <a:highlight>
                      <a:srgbClr val="FF0000"/>
                    </a:highlight>
                  </a:rPr>
                  <a:t>are</a:t>
                </a:r>
                <a:r>
                  <a:rPr lang="zh-CN" altLang="en-US" dirty="0">
                    <a:solidFill>
                      <a:schemeClr val="bg1"/>
                    </a:solidFill>
                    <a:highlight>
                      <a:srgbClr val="FF0000"/>
                    </a:highlight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  <a:highlight>
                      <a:srgbClr val="FF0000"/>
                    </a:highlight>
                  </a:rPr>
                  <a:t>crucial</a:t>
                </a:r>
                <a:r>
                  <a:rPr lang="zh-CN" altLang="en-US" dirty="0">
                    <a:solidFill>
                      <a:schemeClr val="bg1"/>
                    </a:solidFill>
                    <a:highlight>
                      <a:srgbClr val="FF0000"/>
                    </a:highlight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  <a:highlight>
                      <a:srgbClr val="FF0000"/>
                    </a:highlight>
                  </a:rPr>
                  <a:t>for</a:t>
                </a:r>
                <a:r>
                  <a:rPr lang="zh-CN" altLang="en-US" dirty="0">
                    <a:solidFill>
                      <a:schemeClr val="bg1"/>
                    </a:solidFill>
                    <a:highlight>
                      <a:srgbClr val="FF0000"/>
                    </a:highlight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  <a:highlight>
                      <a:srgbClr val="FF0000"/>
                    </a:highlight>
                  </a:rPr>
                  <a:t>detecting</a:t>
                </a:r>
                <a:r>
                  <a:rPr lang="zh-CN" altLang="en-US" dirty="0">
                    <a:solidFill>
                      <a:schemeClr val="bg1"/>
                    </a:solidFill>
                    <a:highlight>
                      <a:srgbClr val="FF0000"/>
                    </a:highlight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  <a:highlight>
                      <a:srgbClr val="FF0000"/>
                    </a:highlight>
                  </a:rPr>
                  <a:t>possible</a:t>
                </a:r>
                <a:r>
                  <a:rPr lang="zh-CN" altLang="en-US" dirty="0">
                    <a:solidFill>
                      <a:schemeClr val="bg1"/>
                    </a:solidFill>
                    <a:highlight>
                      <a:srgbClr val="FF0000"/>
                    </a:highlight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  <a:highlight>
                      <a:srgbClr val="FF0000"/>
                    </a:highlight>
                  </a:rPr>
                  <a:t>RV</a:t>
                </a:r>
                <a:r>
                  <a:rPr lang="zh-CN" altLang="en-US" dirty="0">
                    <a:solidFill>
                      <a:schemeClr val="bg1"/>
                    </a:solidFill>
                    <a:highlight>
                      <a:srgbClr val="FF0000"/>
                    </a:highlight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  <a:highlight>
                      <a:srgbClr val="FF0000"/>
                    </a:highlight>
                  </a:rPr>
                  <a:t>signatures,</a:t>
                </a:r>
                <a:r>
                  <a:rPr lang="zh-CN" altLang="en-US" dirty="0">
                    <a:solidFill>
                      <a:schemeClr val="bg1"/>
                    </a:solidFill>
                    <a:highlight>
                      <a:srgbClr val="FF0000"/>
                    </a:highlight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  <a:highlight>
                      <a:srgbClr val="FF0000"/>
                    </a:highlight>
                  </a:rPr>
                  <a:t>especially</a:t>
                </a:r>
                <a:r>
                  <a:rPr lang="zh-CN" altLang="en-US" dirty="0">
                    <a:solidFill>
                      <a:schemeClr val="bg1"/>
                    </a:solidFill>
                    <a:highlight>
                      <a:srgbClr val="FF0000"/>
                    </a:highlight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  <a:highlight>
                      <a:srgbClr val="FF0000"/>
                    </a:highlight>
                  </a:rPr>
                  <a:t>around</a:t>
                </a:r>
                <a:r>
                  <a:rPr lang="zh-CN" altLang="en-US" dirty="0">
                    <a:solidFill>
                      <a:schemeClr val="bg1"/>
                    </a:solidFill>
                    <a:highlight>
                      <a:srgbClr val="FF0000"/>
                    </a:highlight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  <a:highlight>
                      <a:srgbClr val="FF0000"/>
                    </a:highlight>
                  </a:rPr>
                  <a:t>periastron</a:t>
                </a:r>
                <a:r>
                  <a:rPr lang="zh-CN" altLang="en-US" dirty="0">
                    <a:solidFill>
                      <a:schemeClr val="bg1"/>
                    </a:solidFill>
                    <a:highlight>
                      <a:srgbClr val="FF0000"/>
                    </a:highlight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  <a:highlight>
                      <a:srgbClr val="FF0000"/>
                    </a:highlight>
                  </a:rPr>
                  <a:t>of</a:t>
                </a:r>
                <a:r>
                  <a:rPr lang="zh-CN" altLang="en-US" dirty="0">
                    <a:solidFill>
                      <a:schemeClr val="bg1"/>
                    </a:solidFill>
                    <a:highlight>
                      <a:srgbClr val="FF0000"/>
                    </a:highlight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  <a:highlight>
                      <a:srgbClr val="FF0000"/>
                    </a:highlight>
                  </a:rPr>
                  <a:t>the</a:t>
                </a:r>
                <a:r>
                  <a:rPr lang="zh-CN" altLang="en-US" dirty="0">
                    <a:solidFill>
                      <a:schemeClr val="bg1"/>
                    </a:solidFill>
                    <a:highlight>
                      <a:srgbClr val="FF0000"/>
                    </a:highlight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  <a:highlight>
                      <a:srgbClr val="FF0000"/>
                    </a:highlight>
                  </a:rPr>
                  <a:t>planet</a:t>
                </a:r>
                <a:r>
                  <a:rPr lang="zh-CN" altLang="en-US" dirty="0">
                    <a:solidFill>
                      <a:schemeClr val="bg1"/>
                    </a:solidFill>
                    <a:highlight>
                      <a:srgbClr val="FF0000"/>
                    </a:highlight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  <a:highlight>
                      <a:srgbClr val="FF0000"/>
                    </a:highlight>
                  </a:rPr>
                  <a:t>(where</a:t>
                </a:r>
                <a:r>
                  <a:rPr lang="zh-CN" altLang="en-US" dirty="0">
                    <a:solidFill>
                      <a:schemeClr val="bg1"/>
                    </a:solidFill>
                    <a:highlight>
                      <a:srgbClr val="FF0000"/>
                    </a:highlight>
                  </a:rPr>
                  <a:t> </a:t>
                </a:r>
                <a:r>
                  <a:rPr lang="en-US" altLang="zh-CN" dirty="0" err="1">
                    <a:solidFill>
                      <a:schemeClr val="bg1"/>
                    </a:solidFill>
                    <a:highlight>
                      <a:srgbClr val="FF0000"/>
                    </a:highlight>
                  </a:rPr>
                  <a:t>vZLK</a:t>
                </a:r>
                <a:r>
                  <a:rPr lang="zh-CN" altLang="en-US" dirty="0">
                    <a:solidFill>
                      <a:schemeClr val="bg1"/>
                    </a:solidFill>
                    <a:highlight>
                      <a:srgbClr val="FF0000"/>
                    </a:highlight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  <a:highlight>
                      <a:srgbClr val="FF0000"/>
                    </a:highlight>
                  </a:rPr>
                  <a:t>variations</a:t>
                </a:r>
                <a:r>
                  <a:rPr lang="zh-CN" altLang="en-US" dirty="0">
                    <a:solidFill>
                      <a:schemeClr val="bg1"/>
                    </a:solidFill>
                    <a:highlight>
                      <a:srgbClr val="FF0000"/>
                    </a:highlight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  <a:highlight>
                      <a:srgbClr val="FF0000"/>
                    </a:highlight>
                  </a:rPr>
                  <a:t>are</a:t>
                </a:r>
                <a:r>
                  <a:rPr lang="zh-CN" altLang="en-US" dirty="0">
                    <a:solidFill>
                      <a:schemeClr val="bg1"/>
                    </a:solidFill>
                    <a:highlight>
                      <a:srgbClr val="FF0000"/>
                    </a:highlight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  <a:highlight>
                      <a:srgbClr val="FF0000"/>
                    </a:highlight>
                  </a:rPr>
                  <a:t>most</a:t>
                </a:r>
                <a:r>
                  <a:rPr lang="zh-CN" altLang="en-US" dirty="0">
                    <a:solidFill>
                      <a:schemeClr val="bg1"/>
                    </a:solidFill>
                    <a:highlight>
                      <a:srgbClr val="FF0000"/>
                    </a:highlight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  <a:highlight>
                      <a:srgbClr val="FF0000"/>
                    </a:highlight>
                  </a:rPr>
                  <a:t>pronounced).</a:t>
                </a:r>
                <a:endParaRPr lang="en-CN" dirty="0">
                  <a:solidFill>
                    <a:schemeClr val="bg1"/>
                  </a:solidFill>
                  <a:highlight>
                    <a:srgbClr val="FF0000"/>
                  </a:highlight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D89637-A24B-2E94-70C1-12A9DD08EA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2326" r="-1568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87308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F5475-C1A1-980B-35AB-9AFBC86EA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70837-41E5-0FF6-5FF3-2F7E5DF41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N" sz="4800" b="1" dirty="0">
                <a:solidFill>
                  <a:schemeClr val="bg1"/>
                </a:solidFill>
              </a:rPr>
              <a:t>Im</a:t>
            </a:r>
            <a:r>
              <a:rPr lang="en-US" altLang="zh-CN" sz="4800" b="1" dirty="0">
                <a:solidFill>
                  <a:schemeClr val="bg1"/>
                </a:solidFill>
              </a:rPr>
              <a:t>pacts</a:t>
            </a:r>
            <a:r>
              <a:rPr lang="zh-CN" altLang="en-US" sz="4800" b="1" dirty="0">
                <a:solidFill>
                  <a:schemeClr val="bg1"/>
                </a:solidFill>
              </a:rPr>
              <a:t> </a:t>
            </a:r>
            <a:r>
              <a:rPr lang="en-US" altLang="zh-CN" sz="4800" b="1" dirty="0">
                <a:solidFill>
                  <a:schemeClr val="bg1"/>
                </a:solidFill>
              </a:rPr>
              <a:t>of</a:t>
            </a:r>
            <a:r>
              <a:rPr lang="zh-CN" altLang="en-US" sz="4800" b="1" dirty="0">
                <a:solidFill>
                  <a:schemeClr val="bg1"/>
                </a:solidFill>
              </a:rPr>
              <a:t> </a:t>
            </a:r>
            <a:r>
              <a:rPr lang="en-US" altLang="zh-CN" sz="4800" b="1" dirty="0">
                <a:solidFill>
                  <a:schemeClr val="bg1"/>
                </a:solidFill>
              </a:rPr>
              <a:t>GR</a:t>
            </a:r>
            <a:r>
              <a:rPr lang="zh-CN" altLang="en-US" sz="4800" b="1" dirty="0">
                <a:solidFill>
                  <a:schemeClr val="bg1"/>
                </a:solidFill>
              </a:rPr>
              <a:t> </a:t>
            </a:r>
            <a:r>
              <a:rPr lang="en-US" altLang="zh-CN" sz="4800" b="1" dirty="0">
                <a:solidFill>
                  <a:schemeClr val="bg1"/>
                </a:solidFill>
              </a:rPr>
              <a:t>and</a:t>
            </a:r>
            <a:r>
              <a:rPr lang="zh-CN" altLang="en-US" sz="4800" b="1" dirty="0">
                <a:solidFill>
                  <a:schemeClr val="bg1"/>
                </a:solidFill>
              </a:rPr>
              <a:t> </a:t>
            </a:r>
            <a:r>
              <a:rPr lang="en-US" altLang="zh-CN" sz="4800" b="1" dirty="0">
                <a:solidFill>
                  <a:schemeClr val="bg1"/>
                </a:solidFill>
              </a:rPr>
              <a:t>tidal</a:t>
            </a:r>
            <a:r>
              <a:rPr lang="zh-CN" altLang="en-US" sz="4800" b="1" dirty="0">
                <a:solidFill>
                  <a:schemeClr val="bg1"/>
                </a:solidFill>
              </a:rPr>
              <a:t> </a:t>
            </a:r>
            <a:r>
              <a:rPr lang="en-US" altLang="zh-CN" sz="4800" b="1" dirty="0">
                <a:solidFill>
                  <a:schemeClr val="bg1"/>
                </a:solidFill>
              </a:rPr>
              <a:t>effects</a:t>
            </a:r>
            <a:endParaRPr lang="en-CN" sz="4800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108231-1FFB-40C9-B459-049A9142203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99209" y="1690687"/>
                <a:ext cx="10993582" cy="4802187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altLang="zh-CN" dirty="0">
                    <a:solidFill>
                      <a:schemeClr val="bg1"/>
                    </a:solidFill>
                  </a:rPr>
                  <a:t>GR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or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tidal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effects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could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suppress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the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 err="1">
                    <a:solidFill>
                      <a:schemeClr val="bg1"/>
                    </a:solidFill>
                  </a:rPr>
                  <a:t>vZLK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oscillation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(e.g.,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formation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of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hot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 err="1">
                    <a:solidFill>
                      <a:schemeClr val="bg1"/>
                    </a:solidFill>
                  </a:rPr>
                  <a:t>Jupiters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and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shrinking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the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orbits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of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black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holes).</a:t>
                </a:r>
              </a:p>
              <a:p>
                <a:r>
                  <a:rPr lang="en-US" altLang="zh-CN" dirty="0">
                    <a:solidFill>
                      <a:schemeClr val="bg1"/>
                    </a:solidFill>
                  </a:rPr>
                  <a:t>If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the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precession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rate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of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is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comparable,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the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 err="1">
                    <a:solidFill>
                      <a:schemeClr val="bg1"/>
                    </a:solidFill>
                  </a:rPr>
                  <a:t>vZLK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would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be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suppressed.</a:t>
                </a:r>
              </a:p>
              <a:p>
                <a:endParaRPr lang="en-US" dirty="0">
                  <a:solidFill>
                    <a:schemeClr val="bg1"/>
                  </a:solidFill>
                </a:endParaRPr>
              </a:p>
              <a:p>
                <a:endParaRPr lang="en-US" dirty="0">
                  <a:solidFill>
                    <a:schemeClr val="bg1"/>
                  </a:solidFill>
                </a:endParaRPr>
              </a:p>
              <a:p>
                <a:endParaRPr lang="en-US" dirty="0">
                  <a:solidFill>
                    <a:schemeClr val="bg1"/>
                  </a:solidFill>
                </a:endParaRPr>
              </a:p>
              <a:p>
                <a:r>
                  <a:rPr lang="en-US" altLang="zh-CN" dirty="0">
                    <a:solidFill>
                      <a:schemeClr val="bg1"/>
                    </a:solidFill>
                  </a:rPr>
                  <a:t>In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current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parameters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=1.7</m:t>
                    </m:r>
                    <m:r>
                      <m:rPr>
                        <m:sty m:val="p"/>
                      </m:rPr>
                      <a:rPr lang="en-US" altLang="zh-CN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AU</m:t>
                    </m:r>
                    <m:r>
                      <a:rPr lang="en-US" altLang="zh-CN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.74)</m:t>
                    </m:r>
                  </m:oMath>
                </a14:m>
                <a:r>
                  <a:rPr lang="en-US" altLang="zh-CN" dirty="0">
                    <a:solidFill>
                      <a:schemeClr val="bg1"/>
                    </a:solidFill>
                  </a:rPr>
                  <a:t>,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if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the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 err="1">
                    <a:solidFill>
                      <a:schemeClr val="bg1"/>
                    </a:solidFill>
                  </a:rPr>
                  <a:t>vZLK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operates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in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this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system,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the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 err="1">
                    <a:solidFill>
                      <a:schemeClr val="bg1"/>
                    </a:solidFill>
                  </a:rPr>
                  <a:t>vZLK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oscillation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would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govern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its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evolution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rather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than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short-range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forces.</a:t>
                </a:r>
              </a:p>
              <a:p>
                <a:r>
                  <a:rPr lang="en-US" altLang="zh-CN" dirty="0">
                    <a:solidFill>
                      <a:schemeClr val="bg1"/>
                    </a:solidFill>
                  </a:rPr>
                  <a:t>For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similar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systems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with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closer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planets,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the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short-range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forces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must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be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considered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for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its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dynamical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evolution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(e.g.,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GJ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86,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𝜏</m:t>
                    </m:r>
                    <m:r>
                      <a:rPr lang="zh-CN" altLang="en-US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Bootis</m:t>
                    </m:r>
                  </m:oMath>
                </a14:m>
                <a:r>
                  <a:rPr lang="en-US" altLang="zh-CN" dirty="0">
                    <a:solidFill>
                      <a:schemeClr val="bg1"/>
                    </a:solidFill>
                  </a:rPr>
                  <a:t>).</a:t>
                </a:r>
                <a:endParaRPr lang="en-US" dirty="0">
                  <a:solidFill>
                    <a:schemeClr val="bg1"/>
                  </a:solidFill>
                </a:endParaRPr>
              </a:p>
              <a:p>
                <a:endParaRPr lang="en-CN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108231-1FFB-40C9-B459-049A914220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9209" y="1690687"/>
                <a:ext cx="10993582" cy="4802187"/>
              </a:xfrm>
              <a:blipFill>
                <a:blip r:embed="rId3"/>
                <a:stretch>
                  <a:fillRect l="-1039" t="-2895" r="-196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EC093CA7-9A23-B057-BFDD-27B7C6F43C1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005" b="13887"/>
          <a:stretch>
            <a:fillRect/>
          </a:stretch>
        </p:blipFill>
        <p:spPr>
          <a:xfrm>
            <a:off x="498764" y="3035661"/>
            <a:ext cx="4089668" cy="11920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6345562-0D19-BE20-C134-9DDDA2C461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8432" y="3174206"/>
            <a:ext cx="3249467" cy="9998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BBFC41B-FA50-48C6-595E-D37E4EB1E3C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8997"/>
          <a:stretch>
            <a:fillRect/>
          </a:stretch>
        </p:blipFill>
        <p:spPr>
          <a:xfrm>
            <a:off x="7837899" y="3023034"/>
            <a:ext cx="3754892" cy="13017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836CC51-9088-A6E3-DC1B-BD9872F117C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6879" y="624038"/>
            <a:ext cx="11286357" cy="3700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1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ED1FA-784B-A022-B081-BAB48A928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47CA0-8E98-4468-6A22-E87AEFCAE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218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6000" b="1" dirty="0">
                <a:solidFill>
                  <a:schemeClr val="bg1"/>
                </a:solidFill>
              </a:rPr>
              <a:t>Take-home</a:t>
            </a:r>
            <a:r>
              <a:rPr lang="zh-CN" altLang="en-US" sz="6000" b="1" dirty="0">
                <a:solidFill>
                  <a:schemeClr val="bg1"/>
                </a:solidFill>
              </a:rPr>
              <a:t> </a:t>
            </a:r>
            <a:r>
              <a:rPr lang="en-US" altLang="zh-CN" sz="6000" b="1" dirty="0">
                <a:solidFill>
                  <a:schemeClr val="bg1"/>
                </a:solidFill>
              </a:rPr>
              <a:t>conclusions</a:t>
            </a:r>
            <a:endParaRPr lang="en-CN" sz="6000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C11A41-0DB5-BB93-5346-2535488549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218" y="1517693"/>
            <a:ext cx="11471563" cy="5167312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2600" dirty="0">
                <a:solidFill>
                  <a:schemeClr val="bg1"/>
                </a:solidFill>
              </a:rPr>
              <a:t>The</a:t>
            </a:r>
            <a:r>
              <a:rPr lang="zh-CN" altLang="en-US" sz="2600" dirty="0">
                <a:solidFill>
                  <a:schemeClr val="bg1"/>
                </a:solidFill>
              </a:rPr>
              <a:t> </a:t>
            </a:r>
            <a:r>
              <a:rPr lang="en-US" altLang="zh-CN" sz="2600" dirty="0">
                <a:solidFill>
                  <a:schemeClr val="bg1"/>
                </a:solidFill>
              </a:rPr>
              <a:t>planet</a:t>
            </a:r>
            <a:r>
              <a:rPr lang="zh-CN" altLang="en-US" sz="2600" dirty="0">
                <a:solidFill>
                  <a:schemeClr val="bg1"/>
                </a:solidFill>
              </a:rPr>
              <a:t> </a:t>
            </a:r>
            <a:r>
              <a:rPr lang="en-US" altLang="zh-CN" sz="2600" dirty="0">
                <a:solidFill>
                  <a:schemeClr val="bg1"/>
                </a:solidFill>
              </a:rPr>
              <a:t>HD</a:t>
            </a:r>
            <a:r>
              <a:rPr lang="zh-CN" altLang="en-US" sz="2600" dirty="0">
                <a:solidFill>
                  <a:schemeClr val="bg1"/>
                </a:solidFill>
              </a:rPr>
              <a:t> </a:t>
            </a:r>
            <a:r>
              <a:rPr lang="en-US" altLang="zh-CN" sz="2600" dirty="0">
                <a:solidFill>
                  <a:schemeClr val="bg1"/>
                </a:solidFill>
              </a:rPr>
              <a:t>41004</a:t>
            </a:r>
            <a:r>
              <a:rPr lang="zh-CN" altLang="en-US" sz="2600" dirty="0">
                <a:solidFill>
                  <a:schemeClr val="bg1"/>
                </a:solidFill>
              </a:rPr>
              <a:t> </a:t>
            </a:r>
            <a:r>
              <a:rPr lang="en-US" altLang="zh-CN" sz="2600" dirty="0">
                <a:solidFill>
                  <a:schemeClr val="bg1"/>
                </a:solidFill>
              </a:rPr>
              <a:t>Ab</a:t>
            </a:r>
            <a:r>
              <a:rPr lang="zh-CN" altLang="en-US" sz="2600" dirty="0">
                <a:solidFill>
                  <a:schemeClr val="bg1"/>
                </a:solidFill>
              </a:rPr>
              <a:t> </a:t>
            </a:r>
            <a:r>
              <a:rPr lang="en-US" altLang="zh-CN" sz="2600" dirty="0">
                <a:solidFill>
                  <a:schemeClr val="bg1"/>
                </a:solidFill>
              </a:rPr>
              <a:t>can</a:t>
            </a:r>
            <a:r>
              <a:rPr lang="zh-CN" altLang="en-US" sz="2600" dirty="0">
                <a:solidFill>
                  <a:schemeClr val="bg1"/>
                </a:solidFill>
              </a:rPr>
              <a:t> </a:t>
            </a:r>
            <a:r>
              <a:rPr lang="en-US" altLang="zh-CN" sz="2600" dirty="0">
                <a:solidFill>
                  <a:schemeClr val="bg1"/>
                </a:solidFill>
              </a:rPr>
              <a:t>remain</a:t>
            </a:r>
            <a:r>
              <a:rPr lang="zh-CN" altLang="en-US" sz="2600" dirty="0">
                <a:solidFill>
                  <a:schemeClr val="bg1"/>
                </a:solidFill>
              </a:rPr>
              <a:t> </a:t>
            </a:r>
            <a:r>
              <a:rPr lang="en-US" altLang="zh-CN" sz="2600" dirty="0">
                <a:solidFill>
                  <a:schemeClr val="bg1"/>
                </a:solidFill>
                <a:highlight>
                  <a:srgbClr val="FF0000"/>
                </a:highlight>
              </a:rPr>
              <a:t>dynamically</a:t>
            </a:r>
            <a:r>
              <a:rPr lang="zh-CN" altLang="en-US" sz="2600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2600" dirty="0">
                <a:solidFill>
                  <a:schemeClr val="bg1"/>
                </a:solidFill>
                <a:highlight>
                  <a:srgbClr val="FF0000"/>
                </a:highlight>
              </a:rPr>
              <a:t>stable</a:t>
            </a:r>
            <a:r>
              <a:rPr lang="zh-CN" altLang="en-US" sz="2600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2600" dirty="0">
                <a:solidFill>
                  <a:schemeClr val="bg1"/>
                </a:solidFill>
                <a:highlight>
                  <a:srgbClr val="FF0000"/>
                </a:highlight>
              </a:rPr>
              <a:t>with</a:t>
            </a:r>
            <a:r>
              <a:rPr lang="zh-CN" altLang="en-US" sz="2600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2600" dirty="0">
                <a:solidFill>
                  <a:schemeClr val="bg1"/>
                </a:solidFill>
                <a:highlight>
                  <a:srgbClr val="FF0000"/>
                </a:highlight>
              </a:rPr>
              <a:t>a mutual</a:t>
            </a:r>
            <a:r>
              <a:rPr lang="zh-CN" altLang="en-US" sz="2600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2600" dirty="0">
                <a:solidFill>
                  <a:schemeClr val="bg1"/>
                </a:solidFill>
                <a:highlight>
                  <a:srgbClr val="FF0000"/>
                </a:highlight>
              </a:rPr>
              <a:t>inclination</a:t>
            </a:r>
            <a:r>
              <a:rPr lang="zh-CN" altLang="en-US" sz="2600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2600" dirty="0">
                <a:solidFill>
                  <a:schemeClr val="bg1"/>
                </a:solidFill>
                <a:highlight>
                  <a:srgbClr val="FF0000"/>
                </a:highlight>
              </a:rPr>
              <a:t>up</a:t>
            </a:r>
            <a:r>
              <a:rPr lang="zh-CN" altLang="en-US" sz="2600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2600" dirty="0">
                <a:solidFill>
                  <a:schemeClr val="bg1"/>
                </a:solidFill>
                <a:highlight>
                  <a:srgbClr val="FF0000"/>
                </a:highlight>
              </a:rPr>
              <a:t>to</a:t>
            </a:r>
            <a:r>
              <a:rPr lang="zh-CN" altLang="en-US" sz="2600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2600" dirty="0">
                <a:solidFill>
                  <a:schemeClr val="bg1"/>
                </a:solidFill>
                <a:highlight>
                  <a:srgbClr val="FF0000"/>
                </a:highlight>
              </a:rPr>
              <a:t>75</a:t>
            </a:r>
            <a:r>
              <a:rPr lang="zh-CN" altLang="en-US" sz="2600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2600" dirty="0">
                <a:solidFill>
                  <a:schemeClr val="bg1"/>
                </a:solidFill>
                <a:highlight>
                  <a:srgbClr val="FF0000"/>
                </a:highlight>
              </a:rPr>
              <a:t>deg.</a:t>
            </a:r>
            <a:r>
              <a:rPr lang="zh-CN" altLang="en-US" sz="2600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2600" dirty="0">
                <a:solidFill>
                  <a:schemeClr val="bg1"/>
                </a:solidFill>
              </a:rPr>
              <a:t>RV</a:t>
            </a:r>
            <a:r>
              <a:rPr lang="zh-CN" altLang="en-US" sz="2600" dirty="0">
                <a:solidFill>
                  <a:schemeClr val="bg1"/>
                </a:solidFill>
              </a:rPr>
              <a:t> </a:t>
            </a:r>
            <a:r>
              <a:rPr lang="en-US" altLang="zh-CN" sz="2600" dirty="0">
                <a:solidFill>
                  <a:schemeClr val="bg1"/>
                </a:solidFill>
              </a:rPr>
              <a:t>modeling</a:t>
            </a:r>
            <a:r>
              <a:rPr lang="zh-CN" altLang="en-US" sz="2600" dirty="0">
                <a:solidFill>
                  <a:schemeClr val="bg1"/>
                </a:solidFill>
              </a:rPr>
              <a:t> </a:t>
            </a:r>
            <a:r>
              <a:rPr lang="en-US" altLang="zh-CN" sz="2600" dirty="0">
                <a:solidFill>
                  <a:schemeClr val="bg1"/>
                </a:solidFill>
              </a:rPr>
              <a:t>fits</a:t>
            </a:r>
            <a:r>
              <a:rPr lang="zh-CN" altLang="en-US" sz="2600" dirty="0">
                <a:solidFill>
                  <a:schemeClr val="bg1"/>
                </a:solidFill>
              </a:rPr>
              <a:t> </a:t>
            </a:r>
            <a:r>
              <a:rPr lang="en-US" altLang="zh-CN" sz="2600" dirty="0">
                <a:solidFill>
                  <a:schemeClr val="bg1"/>
                </a:solidFill>
              </a:rPr>
              <a:t>the</a:t>
            </a:r>
            <a:r>
              <a:rPr lang="zh-CN" altLang="en-US" sz="2600" dirty="0">
                <a:solidFill>
                  <a:schemeClr val="bg1"/>
                </a:solidFill>
              </a:rPr>
              <a:t> </a:t>
            </a:r>
            <a:r>
              <a:rPr lang="en-US" altLang="zh-CN" sz="2600" dirty="0">
                <a:solidFill>
                  <a:schemeClr val="bg1"/>
                </a:solidFill>
              </a:rPr>
              <a:t>observation</a:t>
            </a:r>
            <a:r>
              <a:rPr lang="zh-CN" altLang="en-US" sz="2600" dirty="0">
                <a:solidFill>
                  <a:schemeClr val="bg1"/>
                </a:solidFill>
              </a:rPr>
              <a:t> </a:t>
            </a:r>
            <a:r>
              <a:rPr lang="en-US" altLang="zh-CN" sz="2600" dirty="0">
                <a:solidFill>
                  <a:schemeClr val="bg1"/>
                </a:solidFill>
              </a:rPr>
              <a:t>with</a:t>
            </a:r>
            <a:r>
              <a:rPr lang="zh-CN" altLang="en-US" sz="2600" dirty="0">
                <a:solidFill>
                  <a:schemeClr val="bg1"/>
                </a:solidFill>
              </a:rPr>
              <a:t> </a:t>
            </a:r>
            <a:r>
              <a:rPr lang="en-US" altLang="zh-CN" sz="2600" dirty="0">
                <a:solidFill>
                  <a:schemeClr val="bg1"/>
                </a:solidFill>
              </a:rPr>
              <a:t>compact</a:t>
            </a:r>
            <a:r>
              <a:rPr lang="zh-CN" altLang="en-US" sz="2600" dirty="0">
                <a:solidFill>
                  <a:schemeClr val="bg1"/>
                </a:solidFill>
              </a:rPr>
              <a:t> </a:t>
            </a:r>
            <a:r>
              <a:rPr lang="en-US" altLang="zh-CN" sz="2600" dirty="0">
                <a:solidFill>
                  <a:schemeClr val="bg1"/>
                </a:solidFill>
              </a:rPr>
              <a:t>and</a:t>
            </a:r>
            <a:r>
              <a:rPr lang="zh-CN" altLang="en-US" sz="2600" dirty="0">
                <a:solidFill>
                  <a:schemeClr val="bg1"/>
                </a:solidFill>
              </a:rPr>
              <a:t> </a:t>
            </a:r>
            <a:r>
              <a:rPr lang="en-US" altLang="zh-CN" sz="2600" dirty="0">
                <a:solidFill>
                  <a:schemeClr val="bg1"/>
                </a:solidFill>
              </a:rPr>
              <a:t>low</a:t>
            </a:r>
            <a:r>
              <a:rPr lang="zh-CN" altLang="en-US" sz="2600" dirty="0">
                <a:solidFill>
                  <a:schemeClr val="bg1"/>
                </a:solidFill>
              </a:rPr>
              <a:t> </a:t>
            </a:r>
            <a:r>
              <a:rPr lang="en-US" altLang="zh-CN" sz="2600" dirty="0">
                <a:solidFill>
                  <a:schemeClr val="bg1"/>
                </a:solidFill>
              </a:rPr>
              <a:t>to</a:t>
            </a:r>
            <a:r>
              <a:rPr lang="zh-CN" altLang="en-US" sz="2600" dirty="0">
                <a:solidFill>
                  <a:schemeClr val="bg1"/>
                </a:solidFill>
              </a:rPr>
              <a:t> </a:t>
            </a:r>
            <a:r>
              <a:rPr lang="en-US" altLang="zh-CN" sz="2600" dirty="0">
                <a:solidFill>
                  <a:schemeClr val="bg1"/>
                </a:solidFill>
              </a:rPr>
              <a:t>moderate</a:t>
            </a:r>
            <a:r>
              <a:rPr lang="zh-CN" altLang="en-US" sz="2600" dirty="0">
                <a:solidFill>
                  <a:schemeClr val="bg1"/>
                </a:solidFill>
              </a:rPr>
              <a:t> </a:t>
            </a:r>
            <a:r>
              <a:rPr lang="en-US" altLang="zh-CN" sz="2600" dirty="0">
                <a:solidFill>
                  <a:schemeClr val="bg1"/>
                </a:solidFill>
              </a:rPr>
              <a:t>binary</a:t>
            </a:r>
            <a:r>
              <a:rPr lang="zh-CN" altLang="en-US" sz="2600" dirty="0">
                <a:solidFill>
                  <a:schemeClr val="bg1"/>
                </a:solidFill>
              </a:rPr>
              <a:t> </a:t>
            </a:r>
            <a:r>
              <a:rPr lang="en-US" altLang="zh-CN" sz="2600" dirty="0">
                <a:solidFill>
                  <a:schemeClr val="bg1"/>
                </a:solidFill>
              </a:rPr>
              <a:t>configurations.</a:t>
            </a:r>
            <a:r>
              <a:rPr lang="zh-CN" altLang="en-US" sz="2600" dirty="0">
                <a:solidFill>
                  <a:schemeClr val="bg1"/>
                </a:solidFill>
              </a:rPr>
              <a:t> </a:t>
            </a:r>
            <a:r>
              <a:rPr lang="en-US" altLang="zh-CN" sz="2600" dirty="0">
                <a:solidFill>
                  <a:schemeClr val="bg1"/>
                </a:solidFill>
                <a:highlight>
                  <a:srgbClr val="FF0000"/>
                </a:highlight>
              </a:rPr>
              <a:t>Some</a:t>
            </a:r>
            <a:r>
              <a:rPr lang="zh-CN" altLang="en-US" sz="2600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2600" dirty="0">
                <a:solidFill>
                  <a:schemeClr val="bg1"/>
                </a:solidFill>
                <a:highlight>
                  <a:srgbClr val="FF0000"/>
                </a:highlight>
              </a:rPr>
              <a:t>S-type</a:t>
            </a:r>
            <a:r>
              <a:rPr lang="zh-CN" altLang="en-US" sz="2600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2600" dirty="0">
                <a:solidFill>
                  <a:schemeClr val="bg1"/>
                </a:solidFill>
                <a:highlight>
                  <a:srgbClr val="FF0000"/>
                </a:highlight>
              </a:rPr>
              <a:t>planets</a:t>
            </a:r>
            <a:r>
              <a:rPr lang="zh-CN" altLang="en-US" sz="2600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2600" dirty="0">
                <a:solidFill>
                  <a:schemeClr val="bg1"/>
                </a:solidFill>
                <a:highlight>
                  <a:srgbClr val="FF0000"/>
                </a:highlight>
              </a:rPr>
              <a:t>could</a:t>
            </a:r>
            <a:r>
              <a:rPr lang="zh-CN" altLang="en-US" sz="2600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2600" dirty="0">
                <a:solidFill>
                  <a:schemeClr val="bg1"/>
                </a:solidFill>
                <a:highlight>
                  <a:srgbClr val="FF0000"/>
                </a:highlight>
              </a:rPr>
              <a:t>remain</a:t>
            </a:r>
            <a:r>
              <a:rPr lang="zh-CN" altLang="en-US" sz="2600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2600" dirty="0">
                <a:solidFill>
                  <a:schemeClr val="bg1"/>
                </a:solidFill>
                <a:highlight>
                  <a:srgbClr val="FF0000"/>
                </a:highlight>
              </a:rPr>
              <a:t>stable</a:t>
            </a:r>
            <a:r>
              <a:rPr lang="zh-CN" altLang="en-US" sz="2600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2600" dirty="0">
                <a:solidFill>
                  <a:schemeClr val="bg1"/>
                </a:solidFill>
                <a:highlight>
                  <a:srgbClr val="FF0000"/>
                </a:highlight>
              </a:rPr>
              <a:t>in</a:t>
            </a:r>
            <a:r>
              <a:rPr lang="zh-CN" altLang="en-US" sz="2600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2600" dirty="0" err="1">
                <a:solidFill>
                  <a:schemeClr val="bg1"/>
                </a:solidFill>
                <a:highlight>
                  <a:srgbClr val="FF0000"/>
                </a:highlight>
              </a:rPr>
              <a:t>vZLK</a:t>
            </a:r>
            <a:r>
              <a:rPr lang="zh-CN" altLang="en-US" sz="2600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2600" dirty="0">
                <a:solidFill>
                  <a:schemeClr val="bg1"/>
                </a:solidFill>
                <a:highlight>
                  <a:srgbClr val="FF0000"/>
                </a:highlight>
              </a:rPr>
              <a:t>regions.</a:t>
            </a:r>
          </a:p>
          <a:p>
            <a:pPr>
              <a:lnSpc>
                <a:spcPct val="120000"/>
              </a:lnSpc>
            </a:pPr>
            <a:r>
              <a:rPr lang="en-US" altLang="zh-CN" sz="2600" dirty="0" err="1">
                <a:solidFill>
                  <a:schemeClr val="bg1"/>
                </a:solidFill>
              </a:rPr>
              <a:t>vZLK</a:t>
            </a:r>
            <a:r>
              <a:rPr lang="zh-CN" altLang="en-US" sz="2600" dirty="0">
                <a:solidFill>
                  <a:schemeClr val="bg1"/>
                </a:solidFill>
              </a:rPr>
              <a:t> </a:t>
            </a:r>
            <a:r>
              <a:rPr lang="en-US" altLang="zh-CN" sz="2600" dirty="0">
                <a:solidFill>
                  <a:schemeClr val="bg1"/>
                </a:solidFill>
              </a:rPr>
              <a:t>mechanism</a:t>
            </a:r>
            <a:r>
              <a:rPr lang="zh-CN" altLang="en-US" sz="2600" dirty="0">
                <a:solidFill>
                  <a:schemeClr val="bg1"/>
                </a:solidFill>
              </a:rPr>
              <a:t> </a:t>
            </a:r>
            <a:r>
              <a:rPr lang="en-US" altLang="zh-CN" sz="2600" dirty="0">
                <a:solidFill>
                  <a:schemeClr val="bg1"/>
                </a:solidFill>
              </a:rPr>
              <a:t>could</a:t>
            </a:r>
            <a:r>
              <a:rPr lang="zh-CN" altLang="en-US" sz="2600" dirty="0">
                <a:solidFill>
                  <a:schemeClr val="bg1"/>
                </a:solidFill>
              </a:rPr>
              <a:t> </a:t>
            </a:r>
            <a:r>
              <a:rPr lang="en-US" altLang="zh-CN" sz="2600" dirty="0">
                <a:solidFill>
                  <a:schemeClr val="bg1"/>
                </a:solidFill>
              </a:rPr>
              <a:t>produce</a:t>
            </a:r>
            <a:r>
              <a:rPr lang="zh-CN" altLang="en-US" sz="2600" dirty="0">
                <a:solidFill>
                  <a:schemeClr val="bg1"/>
                </a:solidFill>
              </a:rPr>
              <a:t> </a:t>
            </a:r>
            <a:r>
              <a:rPr lang="en-US" altLang="zh-CN" sz="2600" dirty="0">
                <a:solidFill>
                  <a:schemeClr val="bg1"/>
                </a:solidFill>
              </a:rPr>
              <a:t>RV</a:t>
            </a:r>
            <a:r>
              <a:rPr lang="zh-CN" altLang="en-US" sz="2600" dirty="0">
                <a:solidFill>
                  <a:schemeClr val="bg1"/>
                </a:solidFill>
              </a:rPr>
              <a:t> </a:t>
            </a:r>
            <a:r>
              <a:rPr lang="en-US" altLang="zh-CN" sz="2600" dirty="0">
                <a:solidFill>
                  <a:schemeClr val="bg1"/>
                </a:solidFill>
              </a:rPr>
              <a:t>signatures</a:t>
            </a:r>
            <a:r>
              <a:rPr lang="zh-CN" altLang="en-US" sz="2600" dirty="0">
                <a:solidFill>
                  <a:schemeClr val="bg1"/>
                </a:solidFill>
              </a:rPr>
              <a:t> </a:t>
            </a:r>
            <a:r>
              <a:rPr lang="en-US" altLang="zh-CN" sz="2600" dirty="0">
                <a:solidFill>
                  <a:schemeClr val="bg1"/>
                </a:solidFill>
              </a:rPr>
              <a:t>on</a:t>
            </a:r>
            <a:r>
              <a:rPr lang="zh-CN" altLang="en-US" sz="2600" dirty="0">
                <a:solidFill>
                  <a:schemeClr val="bg1"/>
                </a:solidFill>
              </a:rPr>
              <a:t> </a:t>
            </a:r>
            <a:r>
              <a:rPr lang="en-US" altLang="zh-CN" sz="2600" dirty="0">
                <a:solidFill>
                  <a:schemeClr val="bg1"/>
                </a:solidFill>
              </a:rPr>
              <a:t>the</a:t>
            </a:r>
            <a:r>
              <a:rPr lang="zh-CN" altLang="en-US" sz="2600" dirty="0">
                <a:solidFill>
                  <a:schemeClr val="bg1"/>
                </a:solidFill>
              </a:rPr>
              <a:t> </a:t>
            </a:r>
            <a:r>
              <a:rPr lang="en-US" altLang="zh-CN" sz="2600" dirty="0">
                <a:solidFill>
                  <a:schemeClr val="bg1"/>
                </a:solidFill>
              </a:rPr>
              <a:t>planetary</a:t>
            </a:r>
            <a:r>
              <a:rPr lang="zh-CN" altLang="en-US" sz="2600" dirty="0">
                <a:solidFill>
                  <a:schemeClr val="bg1"/>
                </a:solidFill>
              </a:rPr>
              <a:t> </a:t>
            </a:r>
            <a:r>
              <a:rPr lang="en-US" altLang="zh-CN" sz="2600" dirty="0">
                <a:solidFill>
                  <a:schemeClr val="bg1"/>
                </a:solidFill>
              </a:rPr>
              <a:t>signals.</a:t>
            </a:r>
            <a:r>
              <a:rPr lang="zh-CN" altLang="en-US" sz="2600" dirty="0">
                <a:solidFill>
                  <a:schemeClr val="bg1"/>
                </a:solidFill>
              </a:rPr>
              <a:t> </a:t>
            </a:r>
            <a:r>
              <a:rPr lang="en-US" altLang="zh-CN" sz="2600" dirty="0">
                <a:solidFill>
                  <a:schemeClr val="bg1"/>
                </a:solidFill>
                <a:highlight>
                  <a:srgbClr val="FF0000"/>
                </a:highlight>
              </a:rPr>
              <a:t>Our</a:t>
            </a:r>
            <a:r>
              <a:rPr lang="zh-CN" altLang="en-US" sz="2600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2600" dirty="0">
                <a:solidFill>
                  <a:schemeClr val="bg1"/>
                </a:solidFill>
                <a:highlight>
                  <a:srgbClr val="FF0000"/>
                </a:highlight>
              </a:rPr>
              <a:t>results</a:t>
            </a:r>
            <a:r>
              <a:rPr lang="zh-CN" altLang="en-US" sz="2600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2600" dirty="0">
                <a:solidFill>
                  <a:schemeClr val="bg1"/>
                </a:solidFill>
                <a:highlight>
                  <a:srgbClr val="FF0000"/>
                </a:highlight>
              </a:rPr>
              <a:t>show</a:t>
            </a:r>
            <a:r>
              <a:rPr lang="zh-CN" altLang="en-US" sz="2600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2600" dirty="0">
                <a:solidFill>
                  <a:schemeClr val="bg1"/>
                </a:solidFill>
                <a:highlight>
                  <a:srgbClr val="FF0000"/>
                </a:highlight>
              </a:rPr>
              <a:t>that the</a:t>
            </a:r>
            <a:r>
              <a:rPr lang="zh-CN" altLang="en-US" sz="2600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2600" dirty="0">
                <a:solidFill>
                  <a:schemeClr val="bg1"/>
                </a:solidFill>
                <a:highlight>
                  <a:srgbClr val="FF0000"/>
                </a:highlight>
              </a:rPr>
              <a:t>RV</a:t>
            </a:r>
            <a:r>
              <a:rPr lang="zh-CN" altLang="en-US" sz="2600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2600" dirty="0">
                <a:solidFill>
                  <a:schemeClr val="bg1"/>
                </a:solidFill>
                <a:highlight>
                  <a:srgbClr val="FF0000"/>
                </a:highlight>
              </a:rPr>
              <a:t>variation</a:t>
            </a:r>
            <a:r>
              <a:rPr lang="zh-CN" altLang="en-US" sz="2600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2600" dirty="0">
                <a:solidFill>
                  <a:schemeClr val="bg1"/>
                </a:solidFill>
                <a:highlight>
                  <a:srgbClr val="FF0000"/>
                </a:highlight>
              </a:rPr>
              <a:t>is</a:t>
            </a:r>
            <a:r>
              <a:rPr lang="zh-CN" altLang="en-US" sz="2600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2600" dirty="0">
                <a:solidFill>
                  <a:schemeClr val="bg1"/>
                </a:solidFill>
                <a:highlight>
                  <a:srgbClr val="FF0000"/>
                </a:highlight>
              </a:rPr>
              <a:t>most</a:t>
            </a:r>
            <a:r>
              <a:rPr lang="zh-CN" altLang="en-US" sz="2600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2600" dirty="0">
                <a:solidFill>
                  <a:schemeClr val="bg1"/>
                </a:solidFill>
                <a:highlight>
                  <a:srgbClr val="FF0000"/>
                </a:highlight>
              </a:rPr>
              <a:t>pronounced</a:t>
            </a:r>
            <a:r>
              <a:rPr lang="zh-CN" altLang="en-US" sz="2600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2600" dirty="0">
                <a:solidFill>
                  <a:schemeClr val="bg1"/>
                </a:solidFill>
                <a:highlight>
                  <a:srgbClr val="FF0000"/>
                </a:highlight>
              </a:rPr>
              <a:t>in</a:t>
            </a:r>
            <a:r>
              <a:rPr lang="zh-CN" altLang="en-US" sz="2600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2600" dirty="0">
                <a:solidFill>
                  <a:schemeClr val="bg1"/>
                </a:solidFill>
                <a:highlight>
                  <a:srgbClr val="FF0000"/>
                </a:highlight>
              </a:rPr>
              <a:t>a</a:t>
            </a:r>
            <a:r>
              <a:rPr lang="zh-CN" altLang="en-US" sz="2600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2600" dirty="0">
                <a:solidFill>
                  <a:schemeClr val="bg1"/>
                </a:solidFill>
                <a:highlight>
                  <a:srgbClr val="FF0000"/>
                </a:highlight>
              </a:rPr>
              <a:t>highly</a:t>
            </a:r>
            <a:r>
              <a:rPr lang="zh-CN" altLang="en-US" sz="2600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2600" dirty="0">
                <a:solidFill>
                  <a:schemeClr val="bg1"/>
                </a:solidFill>
                <a:highlight>
                  <a:srgbClr val="FF0000"/>
                </a:highlight>
              </a:rPr>
              <a:t>misaligned</a:t>
            </a:r>
            <a:r>
              <a:rPr lang="zh-CN" altLang="en-US" sz="2600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2600" dirty="0">
                <a:solidFill>
                  <a:schemeClr val="bg1"/>
                </a:solidFill>
                <a:highlight>
                  <a:srgbClr val="FF0000"/>
                </a:highlight>
              </a:rPr>
              <a:t>and</a:t>
            </a:r>
            <a:r>
              <a:rPr lang="zh-CN" altLang="en-US" sz="2600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2600" dirty="0">
                <a:solidFill>
                  <a:schemeClr val="bg1"/>
                </a:solidFill>
                <a:highlight>
                  <a:srgbClr val="FF0000"/>
                </a:highlight>
              </a:rPr>
              <a:t>eccentric</a:t>
            </a:r>
            <a:r>
              <a:rPr lang="zh-CN" altLang="en-US" sz="2600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2600" dirty="0">
                <a:solidFill>
                  <a:schemeClr val="bg1"/>
                </a:solidFill>
                <a:highlight>
                  <a:srgbClr val="FF0000"/>
                </a:highlight>
              </a:rPr>
              <a:t>compact</a:t>
            </a:r>
            <a:r>
              <a:rPr lang="zh-CN" altLang="en-US" sz="2600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2600" dirty="0">
                <a:solidFill>
                  <a:schemeClr val="bg1"/>
                </a:solidFill>
                <a:highlight>
                  <a:srgbClr val="FF0000"/>
                </a:highlight>
              </a:rPr>
              <a:t>system.</a:t>
            </a:r>
          </a:p>
          <a:p>
            <a:pPr>
              <a:lnSpc>
                <a:spcPct val="120000"/>
              </a:lnSpc>
            </a:pPr>
            <a:r>
              <a:rPr lang="en-US" altLang="zh-CN" sz="2600" dirty="0">
                <a:solidFill>
                  <a:schemeClr val="bg1"/>
                </a:solidFill>
                <a:highlight>
                  <a:srgbClr val="FF0000"/>
                </a:highlight>
              </a:rPr>
              <a:t>Future</a:t>
            </a:r>
            <a:r>
              <a:rPr lang="zh-CN" altLang="en-US" sz="2600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2600" dirty="0">
                <a:solidFill>
                  <a:schemeClr val="bg1"/>
                </a:solidFill>
                <a:highlight>
                  <a:srgbClr val="FF0000"/>
                </a:highlight>
              </a:rPr>
              <a:t>observations</a:t>
            </a:r>
            <a:r>
              <a:rPr lang="zh-CN" altLang="en-US" sz="2600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2600" dirty="0">
                <a:solidFill>
                  <a:schemeClr val="bg1"/>
                </a:solidFill>
                <a:highlight>
                  <a:srgbClr val="FF0000"/>
                </a:highlight>
              </a:rPr>
              <a:t>could</a:t>
            </a:r>
            <a:r>
              <a:rPr lang="zh-CN" altLang="en-US" sz="2600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2600" dirty="0">
                <a:solidFill>
                  <a:schemeClr val="bg1"/>
                </a:solidFill>
                <a:highlight>
                  <a:srgbClr val="FF0000"/>
                </a:highlight>
              </a:rPr>
              <a:t>differentiate</a:t>
            </a:r>
            <a:r>
              <a:rPr lang="zh-CN" altLang="en-US" sz="2600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2600" dirty="0">
                <a:solidFill>
                  <a:schemeClr val="bg1"/>
                </a:solidFill>
                <a:highlight>
                  <a:srgbClr val="FF0000"/>
                </a:highlight>
              </a:rPr>
              <a:t>between</a:t>
            </a:r>
            <a:r>
              <a:rPr lang="zh-CN" altLang="en-US" sz="2600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2600" dirty="0">
                <a:solidFill>
                  <a:schemeClr val="bg1"/>
                </a:solidFill>
                <a:highlight>
                  <a:srgbClr val="FF0000"/>
                </a:highlight>
              </a:rPr>
              <a:t>high</a:t>
            </a:r>
            <a:r>
              <a:rPr lang="zh-CN" altLang="en-US" sz="2600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2600" dirty="0">
                <a:solidFill>
                  <a:schemeClr val="bg1"/>
                </a:solidFill>
                <a:highlight>
                  <a:srgbClr val="FF0000"/>
                </a:highlight>
              </a:rPr>
              <a:t>and</a:t>
            </a:r>
            <a:r>
              <a:rPr lang="zh-CN" altLang="en-US" sz="2600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2600" dirty="0">
                <a:solidFill>
                  <a:schemeClr val="bg1"/>
                </a:solidFill>
                <a:highlight>
                  <a:srgbClr val="FF0000"/>
                </a:highlight>
              </a:rPr>
              <a:t>low</a:t>
            </a:r>
            <a:r>
              <a:rPr lang="zh-CN" altLang="en-US" sz="2600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2600" dirty="0">
                <a:solidFill>
                  <a:schemeClr val="bg1"/>
                </a:solidFill>
                <a:highlight>
                  <a:srgbClr val="FF0000"/>
                </a:highlight>
              </a:rPr>
              <a:t>mutual</a:t>
            </a:r>
            <a:r>
              <a:rPr lang="zh-CN" altLang="en-US" sz="2600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2600" dirty="0">
                <a:solidFill>
                  <a:schemeClr val="bg1"/>
                </a:solidFill>
                <a:highlight>
                  <a:srgbClr val="FF0000"/>
                </a:highlight>
              </a:rPr>
              <a:t>inclinations.</a:t>
            </a:r>
            <a:r>
              <a:rPr lang="zh-CN" altLang="en-US" sz="2600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altLang="zh-CN" sz="2600" dirty="0">
                <a:solidFill>
                  <a:schemeClr val="bg1"/>
                </a:solidFill>
              </a:rPr>
              <a:t>At</a:t>
            </a:r>
            <a:r>
              <a:rPr lang="zh-CN" altLang="en-US" sz="2600" dirty="0">
                <a:solidFill>
                  <a:schemeClr val="bg1"/>
                </a:solidFill>
              </a:rPr>
              <a:t> </a:t>
            </a:r>
            <a:r>
              <a:rPr lang="en-US" altLang="zh-CN" sz="2600" dirty="0">
                <a:solidFill>
                  <a:schemeClr val="bg1"/>
                </a:solidFill>
              </a:rPr>
              <a:t>high</a:t>
            </a:r>
            <a:r>
              <a:rPr lang="zh-CN" altLang="en-US" sz="2600" dirty="0">
                <a:solidFill>
                  <a:schemeClr val="bg1"/>
                </a:solidFill>
              </a:rPr>
              <a:t> </a:t>
            </a:r>
            <a:r>
              <a:rPr lang="en-US" altLang="zh-CN" sz="2600" dirty="0">
                <a:solidFill>
                  <a:schemeClr val="bg1"/>
                </a:solidFill>
              </a:rPr>
              <a:t>inclinations</a:t>
            </a:r>
            <a:r>
              <a:rPr lang="zh-CN" altLang="en-US" sz="2600" dirty="0">
                <a:solidFill>
                  <a:schemeClr val="bg1"/>
                </a:solidFill>
              </a:rPr>
              <a:t> </a:t>
            </a:r>
            <a:r>
              <a:rPr lang="en-US" altLang="zh-CN" sz="2600" dirty="0">
                <a:solidFill>
                  <a:schemeClr val="bg1"/>
                </a:solidFill>
              </a:rPr>
              <a:t>(e.g.,</a:t>
            </a:r>
            <a:r>
              <a:rPr lang="zh-CN" altLang="en-US" sz="2600" dirty="0">
                <a:solidFill>
                  <a:schemeClr val="bg1"/>
                </a:solidFill>
              </a:rPr>
              <a:t> </a:t>
            </a:r>
            <a:r>
              <a:rPr lang="en-US" altLang="zh-CN" sz="2600" dirty="0">
                <a:solidFill>
                  <a:schemeClr val="bg1"/>
                </a:solidFill>
              </a:rPr>
              <a:t>75deg),</a:t>
            </a:r>
            <a:r>
              <a:rPr lang="zh-CN" altLang="en-US" sz="2600" dirty="0">
                <a:solidFill>
                  <a:schemeClr val="bg1"/>
                </a:solidFill>
              </a:rPr>
              <a:t> </a:t>
            </a:r>
            <a:r>
              <a:rPr lang="en-US" altLang="zh-CN" sz="2600" dirty="0">
                <a:solidFill>
                  <a:schemeClr val="bg1"/>
                </a:solidFill>
              </a:rPr>
              <a:t>the</a:t>
            </a:r>
            <a:r>
              <a:rPr lang="zh-CN" altLang="en-US" sz="2600" dirty="0">
                <a:solidFill>
                  <a:schemeClr val="bg1"/>
                </a:solidFill>
              </a:rPr>
              <a:t> </a:t>
            </a:r>
            <a:r>
              <a:rPr lang="en-US" altLang="zh-CN" sz="2600" dirty="0">
                <a:solidFill>
                  <a:schemeClr val="bg1"/>
                </a:solidFill>
              </a:rPr>
              <a:t>RV</a:t>
            </a:r>
            <a:r>
              <a:rPr lang="zh-CN" altLang="en-US" sz="2600" dirty="0">
                <a:solidFill>
                  <a:schemeClr val="bg1"/>
                </a:solidFill>
              </a:rPr>
              <a:t> </a:t>
            </a:r>
            <a:r>
              <a:rPr lang="en-US" altLang="zh-CN" sz="2600" dirty="0">
                <a:solidFill>
                  <a:schemeClr val="bg1"/>
                </a:solidFill>
              </a:rPr>
              <a:t>drift</a:t>
            </a:r>
            <a:r>
              <a:rPr lang="zh-CN" altLang="en-US" sz="2600" dirty="0">
                <a:solidFill>
                  <a:schemeClr val="bg1"/>
                </a:solidFill>
              </a:rPr>
              <a:t> </a:t>
            </a:r>
            <a:r>
              <a:rPr lang="en-US" altLang="zh-CN" sz="2600" dirty="0">
                <a:solidFill>
                  <a:schemeClr val="bg1"/>
                </a:solidFill>
              </a:rPr>
              <a:t>could</a:t>
            </a:r>
            <a:r>
              <a:rPr lang="zh-CN" altLang="en-US" sz="2600" dirty="0">
                <a:solidFill>
                  <a:schemeClr val="bg1"/>
                </a:solidFill>
              </a:rPr>
              <a:t> </a:t>
            </a:r>
            <a:r>
              <a:rPr lang="en-US" altLang="zh-CN" sz="2600" dirty="0">
                <a:solidFill>
                  <a:schemeClr val="bg1"/>
                </a:solidFill>
              </a:rPr>
              <a:t>reach</a:t>
            </a:r>
            <a:r>
              <a:rPr lang="zh-CN" altLang="en-US" sz="2600" dirty="0">
                <a:solidFill>
                  <a:schemeClr val="bg1"/>
                </a:solidFill>
              </a:rPr>
              <a:t> </a:t>
            </a:r>
            <a:r>
              <a:rPr lang="en-US" altLang="zh-CN" sz="2600" dirty="0">
                <a:solidFill>
                  <a:schemeClr val="bg1"/>
                </a:solidFill>
              </a:rPr>
              <a:t>~</a:t>
            </a:r>
            <a:r>
              <a:rPr lang="zh-CN" altLang="en-US" sz="2600" dirty="0">
                <a:solidFill>
                  <a:schemeClr val="bg1"/>
                </a:solidFill>
              </a:rPr>
              <a:t> </a:t>
            </a:r>
            <a:r>
              <a:rPr lang="en-US" altLang="zh-CN" sz="2600" dirty="0">
                <a:solidFill>
                  <a:schemeClr val="bg1"/>
                </a:solidFill>
              </a:rPr>
              <a:t>5</a:t>
            </a:r>
            <a:r>
              <a:rPr lang="zh-CN" altLang="en-US" sz="2600" dirty="0">
                <a:solidFill>
                  <a:schemeClr val="bg1"/>
                </a:solidFill>
              </a:rPr>
              <a:t> </a:t>
            </a:r>
            <a:r>
              <a:rPr lang="en-US" altLang="zh-CN" sz="2600" dirty="0">
                <a:solidFill>
                  <a:schemeClr val="bg1"/>
                </a:solidFill>
              </a:rPr>
              <a:t>m/s</a:t>
            </a:r>
            <a:r>
              <a:rPr lang="zh-CN" altLang="en-US" sz="2600" dirty="0">
                <a:solidFill>
                  <a:schemeClr val="bg1"/>
                </a:solidFill>
              </a:rPr>
              <a:t> </a:t>
            </a:r>
            <a:r>
              <a:rPr lang="en-US" altLang="zh-CN" sz="2600" dirty="0">
                <a:solidFill>
                  <a:schemeClr val="bg1"/>
                </a:solidFill>
              </a:rPr>
              <a:t>per</a:t>
            </a:r>
            <a:r>
              <a:rPr lang="zh-CN" altLang="en-US" sz="2600" dirty="0">
                <a:solidFill>
                  <a:schemeClr val="bg1"/>
                </a:solidFill>
              </a:rPr>
              <a:t> </a:t>
            </a:r>
            <a:r>
              <a:rPr lang="en-US" altLang="zh-CN" sz="2600" dirty="0">
                <a:solidFill>
                  <a:schemeClr val="bg1"/>
                </a:solidFill>
              </a:rPr>
              <a:t>planetary</a:t>
            </a:r>
            <a:r>
              <a:rPr lang="zh-CN" altLang="en-US" sz="2600" dirty="0">
                <a:solidFill>
                  <a:schemeClr val="bg1"/>
                </a:solidFill>
              </a:rPr>
              <a:t> </a:t>
            </a:r>
            <a:r>
              <a:rPr lang="en-US" altLang="zh-CN" sz="2600" dirty="0">
                <a:solidFill>
                  <a:schemeClr val="bg1"/>
                </a:solidFill>
              </a:rPr>
              <a:t>orbit</a:t>
            </a:r>
            <a:r>
              <a:rPr lang="zh-CN" altLang="en-US" sz="2600" dirty="0">
                <a:solidFill>
                  <a:schemeClr val="bg1"/>
                </a:solidFill>
              </a:rPr>
              <a:t> </a:t>
            </a:r>
            <a:r>
              <a:rPr lang="en-US" altLang="zh-CN" sz="2600" dirty="0">
                <a:solidFill>
                  <a:schemeClr val="bg1"/>
                </a:solidFill>
              </a:rPr>
              <a:t>(</a:t>
            </a:r>
            <a:r>
              <a:rPr lang="zh-CN" altLang="en-US" sz="2600" dirty="0">
                <a:solidFill>
                  <a:schemeClr val="bg1"/>
                </a:solidFill>
              </a:rPr>
              <a:t> </a:t>
            </a:r>
            <a:r>
              <a:rPr lang="en-US" altLang="zh-CN" sz="2600" dirty="0">
                <a:solidFill>
                  <a:schemeClr val="bg1"/>
                </a:solidFill>
              </a:rPr>
              <a:t>~</a:t>
            </a:r>
            <a:r>
              <a:rPr lang="zh-CN" altLang="en-US" sz="2600" dirty="0">
                <a:solidFill>
                  <a:schemeClr val="bg1"/>
                </a:solidFill>
              </a:rPr>
              <a:t> </a:t>
            </a:r>
            <a:r>
              <a:rPr lang="en-US" altLang="zh-CN" sz="2600" dirty="0">
                <a:solidFill>
                  <a:schemeClr val="bg1"/>
                </a:solidFill>
              </a:rPr>
              <a:t>1.9</a:t>
            </a:r>
            <a:r>
              <a:rPr lang="zh-CN" altLang="en-US" sz="2600" dirty="0">
                <a:solidFill>
                  <a:schemeClr val="bg1"/>
                </a:solidFill>
              </a:rPr>
              <a:t> </a:t>
            </a:r>
            <a:r>
              <a:rPr lang="en-US" altLang="zh-CN" sz="2600" dirty="0">
                <a:solidFill>
                  <a:schemeClr val="bg1"/>
                </a:solidFill>
              </a:rPr>
              <a:t>m/s/year).</a:t>
            </a:r>
            <a:r>
              <a:rPr lang="zh-CN" altLang="en-US" sz="2600" dirty="0">
                <a:solidFill>
                  <a:schemeClr val="bg1"/>
                </a:solidFill>
              </a:rPr>
              <a:t> </a:t>
            </a:r>
            <a:r>
              <a:rPr lang="en-US" altLang="zh-CN" sz="2600" dirty="0">
                <a:solidFill>
                  <a:schemeClr val="bg1"/>
                </a:solidFill>
              </a:rPr>
              <a:t>Low</a:t>
            </a:r>
            <a:r>
              <a:rPr lang="zh-CN" altLang="en-US" sz="2600" dirty="0">
                <a:solidFill>
                  <a:schemeClr val="bg1"/>
                </a:solidFill>
              </a:rPr>
              <a:t> </a:t>
            </a:r>
            <a:r>
              <a:rPr lang="en-US" altLang="zh-CN" sz="2600" dirty="0">
                <a:solidFill>
                  <a:schemeClr val="bg1"/>
                </a:solidFill>
              </a:rPr>
              <a:t>inclinations</a:t>
            </a:r>
            <a:r>
              <a:rPr lang="zh-CN" altLang="en-US" sz="2600" dirty="0">
                <a:solidFill>
                  <a:schemeClr val="bg1"/>
                </a:solidFill>
              </a:rPr>
              <a:t> </a:t>
            </a:r>
            <a:r>
              <a:rPr lang="en-US" altLang="zh-CN" sz="2600" dirty="0">
                <a:solidFill>
                  <a:schemeClr val="bg1"/>
                </a:solidFill>
              </a:rPr>
              <a:t>exhibit</a:t>
            </a:r>
            <a:r>
              <a:rPr lang="zh-CN" altLang="en-US" sz="2600" dirty="0">
                <a:solidFill>
                  <a:schemeClr val="bg1"/>
                </a:solidFill>
              </a:rPr>
              <a:t> </a:t>
            </a:r>
            <a:r>
              <a:rPr lang="en-US" altLang="zh-CN" sz="2600" dirty="0">
                <a:solidFill>
                  <a:schemeClr val="bg1"/>
                </a:solidFill>
              </a:rPr>
              <a:t>minimal</a:t>
            </a:r>
            <a:r>
              <a:rPr lang="zh-CN" altLang="en-US" sz="2600" dirty="0">
                <a:solidFill>
                  <a:schemeClr val="bg1"/>
                </a:solidFill>
              </a:rPr>
              <a:t> </a:t>
            </a:r>
            <a:r>
              <a:rPr lang="en-US" altLang="zh-CN" sz="2600" dirty="0">
                <a:solidFill>
                  <a:schemeClr val="bg1"/>
                </a:solidFill>
              </a:rPr>
              <a:t>secular</a:t>
            </a:r>
            <a:r>
              <a:rPr lang="zh-CN" altLang="en-US" sz="2600" dirty="0">
                <a:solidFill>
                  <a:schemeClr val="bg1"/>
                </a:solidFill>
              </a:rPr>
              <a:t> </a:t>
            </a:r>
            <a:r>
              <a:rPr lang="en-US" altLang="zh-CN" sz="2600" dirty="0">
                <a:solidFill>
                  <a:schemeClr val="bg1"/>
                </a:solidFill>
              </a:rPr>
              <a:t>modulation,</a:t>
            </a:r>
            <a:r>
              <a:rPr lang="zh-CN" altLang="en-US" sz="2600" dirty="0">
                <a:solidFill>
                  <a:schemeClr val="bg1"/>
                </a:solidFill>
              </a:rPr>
              <a:t> </a:t>
            </a:r>
            <a:r>
              <a:rPr lang="en-US" altLang="zh-CN" sz="2600" dirty="0">
                <a:solidFill>
                  <a:schemeClr val="bg1"/>
                </a:solidFill>
              </a:rPr>
              <a:t>need</a:t>
            </a:r>
            <a:r>
              <a:rPr lang="zh-CN" altLang="en-US" sz="2600" dirty="0">
                <a:solidFill>
                  <a:schemeClr val="bg1"/>
                </a:solidFill>
              </a:rPr>
              <a:t> </a:t>
            </a:r>
            <a:r>
              <a:rPr lang="en-US" altLang="zh-CN" sz="2600" dirty="0">
                <a:solidFill>
                  <a:schemeClr val="bg1"/>
                </a:solidFill>
              </a:rPr>
              <a:t>more</a:t>
            </a:r>
            <a:r>
              <a:rPr lang="zh-CN" altLang="en-US" sz="2600" dirty="0">
                <a:solidFill>
                  <a:schemeClr val="bg1"/>
                </a:solidFill>
              </a:rPr>
              <a:t> </a:t>
            </a:r>
            <a:r>
              <a:rPr lang="en-US" altLang="zh-CN" sz="2600" dirty="0">
                <a:solidFill>
                  <a:schemeClr val="bg1"/>
                </a:solidFill>
              </a:rPr>
              <a:t>efforts</a:t>
            </a:r>
            <a:r>
              <a:rPr lang="zh-CN" altLang="en-US" sz="2600" dirty="0">
                <a:solidFill>
                  <a:schemeClr val="bg1"/>
                </a:solidFill>
              </a:rPr>
              <a:t> </a:t>
            </a:r>
            <a:r>
              <a:rPr lang="en-US" altLang="zh-CN" sz="2600" dirty="0">
                <a:solidFill>
                  <a:schemeClr val="bg1"/>
                </a:solidFill>
              </a:rPr>
              <a:t>to</a:t>
            </a:r>
            <a:r>
              <a:rPr lang="zh-CN" altLang="en-US" sz="2600" dirty="0">
                <a:solidFill>
                  <a:schemeClr val="bg1"/>
                </a:solidFill>
              </a:rPr>
              <a:t> </a:t>
            </a:r>
            <a:r>
              <a:rPr lang="en-US" altLang="zh-CN" sz="2600" dirty="0">
                <a:solidFill>
                  <a:schemeClr val="bg1"/>
                </a:solidFill>
              </a:rPr>
              <a:t>constrain</a:t>
            </a:r>
            <a:r>
              <a:rPr lang="zh-CN" altLang="en-US" sz="2600" dirty="0">
                <a:solidFill>
                  <a:schemeClr val="bg1"/>
                </a:solidFill>
              </a:rPr>
              <a:t> </a:t>
            </a:r>
            <a:r>
              <a:rPr lang="en-US" altLang="zh-CN" sz="2600" dirty="0">
                <a:solidFill>
                  <a:schemeClr val="bg1"/>
                </a:solidFill>
              </a:rPr>
              <a:t>the</a:t>
            </a:r>
            <a:r>
              <a:rPr lang="zh-CN" altLang="en-US" sz="2600" dirty="0">
                <a:solidFill>
                  <a:schemeClr val="bg1"/>
                </a:solidFill>
              </a:rPr>
              <a:t> </a:t>
            </a:r>
            <a:r>
              <a:rPr lang="en-US" altLang="zh-CN" sz="2600" dirty="0">
                <a:solidFill>
                  <a:schemeClr val="bg1"/>
                </a:solidFill>
              </a:rPr>
              <a:t>mass-inclination</a:t>
            </a:r>
            <a:r>
              <a:rPr lang="zh-CN" altLang="en-US" sz="2600" dirty="0">
                <a:solidFill>
                  <a:schemeClr val="bg1"/>
                </a:solidFill>
              </a:rPr>
              <a:t> </a:t>
            </a:r>
            <a:r>
              <a:rPr lang="en-US" altLang="zh-CN" sz="2600" dirty="0">
                <a:solidFill>
                  <a:schemeClr val="bg1"/>
                </a:solidFill>
              </a:rPr>
              <a:t>degeneracy.</a:t>
            </a:r>
            <a:endParaRPr lang="en-CN" sz="2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73529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FE708-DC40-DCA1-1A21-74519DC82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DF0A2-7F25-C55A-53C5-E89BFC50C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</a:rPr>
              <a:t>Appendix</a:t>
            </a:r>
            <a:endParaRPr lang="en-CN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729BE-63E9-C8D6-9079-FF00DCDB65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07868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9646</TotalTime>
  <Words>3684</Words>
  <Application>Microsoft Macintosh PowerPoint</Application>
  <PresentationFormat>Widescreen</PresentationFormat>
  <Paragraphs>207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Arial Hebrew</vt:lpstr>
      <vt:lpstr>Calibri</vt:lpstr>
      <vt:lpstr>Calibri Light</vt:lpstr>
      <vt:lpstr>Cambria Math</vt:lpstr>
      <vt:lpstr>Office Theme</vt:lpstr>
      <vt:lpstr>Breaking the mass-inclination degeneracy of radial velocity measurements via monitoring von Zeipel-Lidov-Kozai cycles: implications in the HD 41004 system</vt:lpstr>
      <vt:lpstr>Contents</vt:lpstr>
      <vt:lpstr>The planets in the binary systems</vt:lpstr>
      <vt:lpstr>The planets in the binary systems</vt:lpstr>
      <vt:lpstr>Von Zeipel-Kozai-Lidov (vZLK) mechanism</vt:lpstr>
      <vt:lpstr>Implications in the HD 41004 system</vt:lpstr>
      <vt:lpstr>Stability - Can the system be misaligned and stable?</vt:lpstr>
      <vt:lpstr>Observation -  Can the misaligned configuration fit the radial velocity data?</vt:lpstr>
      <vt:lpstr>From simulations, we know:</vt:lpstr>
      <vt:lpstr>Radial Velocity Measurements</vt:lpstr>
      <vt:lpstr>vZLK-induced planetary RV signatures</vt:lpstr>
      <vt:lpstr>vZLK-induced planetary RV signatures</vt:lpstr>
      <vt:lpstr>Observational Prospects for Dynamical Signatures</vt:lpstr>
      <vt:lpstr>Impacts of GR and tidal effects</vt:lpstr>
      <vt:lpstr>Take-home conclusions</vt:lpstr>
      <vt:lpstr>Appendix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至臻 秦</dc:creator>
  <cp:lastModifiedBy>至臻 秦</cp:lastModifiedBy>
  <cp:revision>164</cp:revision>
  <dcterms:created xsi:type="dcterms:W3CDTF">2025-06-28T13:48:01Z</dcterms:created>
  <dcterms:modified xsi:type="dcterms:W3CDTF">2025-07-06T06:16:02Z</dcterms:modified>
</cp:coreProperties>
</file>